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3037592-Fundamentals-of-ISO-14001-Environmental-Management-System-EM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ertiarycourses.com.sg/wsq-fundamentals-of-iso-14001-environmental-management-system-ems.html" TargetMode="External"/><Relationship Id="rId3" Type="http://schemas.openxmlformats.org/officeDocument/2006/relationships/hyperlink" Target="https://www.iso.org/standard/14001" TargetMode="External"/><Relationship Id="rId4" Type="http://schemas.openxmlformats.org/officeDocument/2006/relationships/hyperlink" Target="https://www.iso.org/news/2026/04/iso-14001-2026-published" TargetMode="External"/><Relationship Id="rId5" Type="http://schemas.openxmlformats.org/officeDocument/2006/relationships/hyperlink" Target="https://committee.iso.org/cms/live/live/en/sites/isoorg/contents/news/insights/Climate/iso-14001-2026-what%27s-changing.html" TargetMode="Externa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roupsiteppd.bsigroup.com/en-US/products-and-services/standards-services/iso-14001-key-changes-and-guidance/" TargetMode="External"/><Relationship Id="rId3" Type="http://schemas.openxmlformats.org/officeDocument/2006/relationships/hyperlink" Target="https://blog.rrc.co.uk/2026/07/29/a-guide-to-iso-14001-certification-preparation-requirements-staying-compliant/" TargetMode="External"/><Relationship Id="rId4" Type="http://schemas.openxmlformats.org/officeDocument/2006/relationships/hyperlink" Target="https://www.taxtmi.com/article/detailed?id=17161" TargetMode="External"/><Relationship Id="rId5" Type="http://schemas.openxmlformats.org/officeDocument/2006/relationships/hyperlink" Target="https://www.complaion.com/resources/guides/iso-14001-environmental-management-system" TargetMode="Externa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cmep-online.org/iso-14001-environmental-management/" TargetMode="External"/><Relationship Id="rId3" Type="http://schemas.openxmlformats.org/officeDocument/2006/relationships/hyperlink" Target="https://impactbuying.com/iso-14001-2/" TargetMode="External"/><Relationship Id="rId4" Type="http://schemas.openxmlformats.org/officeDocument/2006/relationships/hyperlink" Target="https://www.ctoframework.com/product/requirements/standards/ISO14001" TargetMode="External"/><Relationship Id="rId5" Type="http://schemas.openxmlformats.org/officeDocument/2006/relationships/hyperlink" Target="https://presencis.com/regulations/iso-14001/article-6.1/" TargetMode="Externa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andlandpackaging.co.uk/how-does-iso-14001-environmental-management-system-work/" TargetMode="External"/><Relationship Id="rId3" Type="http://schemas.openxmlformats.org/officeDocument/2006/relationships/hyperlink" Target="https://civac.de/en/news/building-an-iso-14001-environmental-management-system" TargetMode="External"/><Relationship Id="rId4" Type="http://schemas.openxmlformats.org/officeDocument/2006/relationships/hyperlink" Target="https://leadity.de/en/unkategorisiert/iso-14001-requirements/" TargetMode="External"/><Relationship Id="rId5" Type="http://schemas.openxmlformats.org/officeDocument/2006/relationships/hyperlink" Target="https://www.nea.gov.sg/corporate-functions/resources/legislation-international-law/legislation" TargetMode="Externa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1.pn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6473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201168"/>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56832"/>
            <a:ext cx="12191695" cy="20116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rtiary-infotech-logo.png"/>
          <p:cNvPicPr>
            <a:picLocks noChangeAspect="1"/>
          </p:cNvPicPr>
          <p:nvPr/>
        </p:nvPicPr>
        <p:blipFill>
          <a:blip r:embed="rId3"/>
          <a:stretch>
            <a:fillRect/>
          </a:stretch>
        </p:blipFill>
        <p:spPr>
          <a:xfrm>
            <a:off x="658368" y="475488"/>
            <a:ext cx="749808" cy="749808"/>
          </a:xfrm>
          <a:prstGeom prst="rect">
            <a:avLst/>
          </a:prstGeom>
        </p:spPr>
      </p:pic>
      <p:sp>
        <p:nvSpPr>
          <p:cNvPr id="8" name="TextBox 7"/>
          <p:cNvSpPr txBox="1"/>
          <p:nvPr/>
        </p:nvSpPr>
        <p:spPr>
          <a:xfrm>
            <a:off x="658368" y="1481328"/>
            <a:ext cx="5440680" cy="347472"/>
          </a:xfrm>
          <a:prstGeom prst="rect">
            <a:avLst/>
          </a:prstGeom>
          <a:noFill/>
        </p:spPr>
        <p:txBody>
          <a:bodyPr wrap="square" anchor="t" lIns="45720" rIns="45720">
            <a:spAutoFit/>
          </a:bodyPr>
          <a:lstStyle/>
          <a:p>
            <a:pPr algn="l">
              <a:spcAft>
                <a:spcPts val="400"/>
              </a:spcAft>
            </a:pPr>
            <a:r>
              <a:rPr sz="1300" b="1">
                <a:solidFill>
                  <a:srgbClr val="16854A"/>
                </a:solidFill>
                <a:latin typeface="Arial"/>
              </a:rPr>
              <a:t>WSQ COURSE SLIDES</a:t>
            </a:r>
          </a:p>
        </p:txBody>
      </p:sp>
      <p:sp>
        <p:nvSpPr>
          <p:cNvPr id="9" name="TextBox 8"/>
          <p:cNvSpPr txBox="1"/>
          <p:nvPr/>
        </p:nvSpPr>
        <p:spPr>
          <a:xfrm>
            <a:off x="658368" y="1847088"/>
            <a:ext cx="5440680" cy="2057400"/>
          </a:xfrm>
          <a:prstGeom prst="rect">
            <a:avLst/>
          </a:prstGeom>
          <a:noFill/>
        </p:spPr>
        <p:txBody>
          <a:bodyPr wrap="square" anchor="ctr" lIns="45720" rIns="45720">
            <a:spAutoFit/>
          </a:bodyPr>
          <a:lstStyle/>
          <a:p>
            <a:pPr algn="l">
              <a:spcAft>
                <a:spcPts val="400"/>
              </a:spcAft>
            </a:pPr>
            <a:r>
              <a:rPr sz="3000" b="1">
                <a:solidFill>
                  <a:srgbClr val="161B26"/>
                </a:solidFill>
                <a:latin typeface="Arial"/>
              </a:rPr>
              <a:t>Fundamentals of ISO 14001 Environmental Management System (EMS)</a:t>
            </a:r>
          </a:p>
        </p:txBody>
      </p:sp>
      <p:sp>
        <p:nvSpPr>
          <p:cNvPr id="10" name="Rectangle 9"/>
          <p:cNvSpPr/>
          <p:nvPr/>
        </p:nvSpPr>
        <p:spPr>
          <a:xfrm>
            <a:off x="676656" y="4041648"/>
            <a:ext cx="2148840" cy="54864"/>
          </a:xfrm>
          <a:prstGeom prst="rect">
            <a:avLst/>
          </a:prstGeom>
          <a:solidFill>
            <a:srgbClr val="0F9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315968"/>
            <a:ext cx="5440680" cy="932688"/>
          </a:xfrm>
          <a:prstGeom prst="rect">
            <a:avLst/>
          </a:prstGeom>
          <a:noFill/>
        </p:spPr>
        <p:txBody>
          <a:bodyPr wrap="square" anchor="t" lIns="45720" rIns="45720">
            <a:spAutoFit/>
          </a:bodyPr>
          <a:lstStyle/>
          <a:p>
            <a:pPr algn="l">
              <a:spcAft>
                <a:spcPts val="700"/>
              </a:spcAft>
            </a:pPr>
            <a:r>
              <a:rPr sz="1600" b="0">
                <a:solidFill>
                  <a:srgbClr val="5B6372"/>
                </a:solidFill>
                <a:latin typeface="Arial"/>
              </a:rPr>
              <a:t>WSQ Course Code: TGS-2023037592</a:t>
            </a:r>
          </a:p>
          <a:p>
            <a:pPr algn="l">
              <a:spcAft>
                <a:spcPts val="700"/>
              </a:spcAft>
            </a:pPr>
            <a:r>
              <a:rPr sz="1350" b="0">
                <a:solidFill>
                  <a:srgbClr val="5B6372"/>
                </a:solidFill>
                <a:latin typeface="Arial"/>
              </a:rPr>
              <a:t>Tertiary Infotech Academy Pte Ltd  |  UEN: 201200696W</a:t>
            </a:r>
          </a:p>
        </p:txBody>
      </p:sp>
      <p:sp>
        <p:nvSpPr>
          <p:cNvPr id="12" name="TextBox 11"/>
          <p:cNvSpPr txBox="1"/>
          <p:nvPr/>
        </p:nvSpPr>
        <p:spPr>
          <a:xfrm>
            <a:off x="658368" y="5486400"/>
            <a:ext cx="5440680" cy="347472"/>
          </a:xfrm>
          <a:prstGeom prst="rect">
            <a:avLst/>
          </a:prstGeom>
          <a:noFill/>
        </p:spPr>
        <p:txBody>
          <a:bodyPr wrap="square" anchor="t" lIns="45720" rIns="45720">
            <a:spAutoFit/>
          </a:bodyPr>
          <a:lstStyle/>
          <a:p>
            <a:pPr algn="l">
              <a:spcAft>
                <a:spcPts val="400"/>
              </a:spcAft>
            </a:pPr>
            <a:r>
              <a:rPr sz="1200" b="0">
                <a:solidFill>
                  <a:srgbClr val="5B6372"/>
                </a:solidFill>
                <a:latin typeface="Arial"/>
              </a:rPr>
              <a:t>Version v8.0  |  20 August 2026</a:t>
            </a:r>
          </a:p>
        </p:txBody>
      </p:sp>
      <p:sp>
        <p:nvSpPr>
          <p:cNvPr id="13" name="TextBox 12"/>
          <p:cNvSpPr txBox="1"/>
          <p:nvPr/>
        </p:nvSpPr>
        <p:spPr>
          <a:xfrm>
            <a:off x="658368" y="6144768"/>
            <a:ext cx="5440680" cy="256032"/>
          </a:xfrm>
          <a:prstGeom prst="rect">
            <a:avLst/>
          </a:prstGeom>
          <a:noFill/>
        </p:spPr>
        <p:txBody>
          <a:bodyPr wrap="square" anchor="t" lIns="45720" rIns="45720">
            <a:spAutoFit/>
          </a:bodyPr>
          <a:lstStyle/>
          <a:p>
            <a:pPr algn="l">
              <a:spcAft>
                <a:spcPts val="400"/>
              </a:spcAft>
            </a:pPr>
            <a:r>
              <a:rPr sz="900" b="0">
                <a:solidFill>
                  <a:srgbClr val="5B6372"/>
                </a:solidFill>
                <a:latin typeface="Arial"/>
              </a:rPr>
              <a:t>© 2026 Tertiary Infotech Academy Pte Ltd</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267712"/>
            <a:ext cx="109728" cy="182880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 y="2148840"/>
            <a:ext cx="9875520" cy="384048"/>
          </a:xfrm>
          <a:prstGeom prst="rect">
            <a:avLst/>
          </a:prstGeom>
          <a:noFill/>
        </p:spPr>
        <p:txBody>
          <a:bodyPr wrap="square" anchor="t" lIns="45720" rIns="45720">
            <a:spAutoFit/>
          </a:bodyPr>
          <a:lstStyle/>
          <a:p>
            <a:pPr algn="l">
              <a:spcAft>
                <a:spcPts val="400"/>
              </a:spcAft>
            </a:pPr>
            <a:r>
              <a:rPr sz="1500" b="1">
                <a:solidFill>
                  <a:srgbClr val="16854A"/>
                </a:solidFill>
                <a:latin typeface="Arial"/>
              </a:rPr>
              <a:t>COURSE ADMINISTRATION</a:t>
            </a:r>
          </a:p>
        </p:txBody>
      </p:sp>
      <p:sp>
        <p:nvSpPr>
          <p:cNvPr id="6" name="TextBox 5"/>
          <p:cNvSpPr txBox="1"/>
          <p:nvPr/>
        </p:nvSpPr>
        <p:spPr>
          <a:xfrm>
            <a:off x="1161288" y="2587752"/>
            <a:ext cx="9875520" cy="1325880"/>
          </a:xfrm>
          <a:prstGeom prst="rect">
            <a:avLst/>
          </a:prstGeom>
          <a:noFill/>
        </p:spPr>
        <p:txBody>
          <a:bodyPr wrap="square" anchor="ctr" lIns="45720" rIns="45720">
            <a:spAutoFit/>
          </a:bodyPr>
          <a:lstStyle/>
          <a:p>
            <a:pPr algn="l">
              <a:spcAft>
                <a:spcPts val="400"/>
              </a:spcAft>
            </a:pPr>
            <a:r>
              <a:rPr sz="3900" b="1">
                <a:solidFill>
                  <a:srgbClr val="161B26"/>
                </a:solidFill>
                <a:latin typeface="Arial"/>
              </a:rPr>
              <a:t>Welcome and course orientation</a:t>
            </a:r>
          </a:p>
        </p:txBody>
      </p:sp>
      <p:sp>
        <p:nvSpPr>
          <p:cNvPr id="7" name="TextBox 6"/>
          <p:cNvSpPr txBox="1"/>
          <p:nvPr/>
        </p:nvSpPr>
        <p:spPr>
          <a:xfrm>
            <a:off x="1170432" y="4096512"/>
            <a:ext cx="9875520" cy="731520"/>
          </a:xfrm>
          <a:prstGeom prst="rect">
            <a:avLst/>
          </a:prstGeom>
          <a:noFill/>
        </p:spPr>
        <p:txBody>
          <a:bodyPr wrap="square" anchor="t" lIns="45720" rIns="45720">
            <a:spAutoFit/>
          </a:bodyPr>
          <a:lstStyle/>
          <a:p>
            <a:pPr algn="l">
              <a:spcAft>
                <a:spcPts val="400"/>
              </a:spcAft>
            </a:pPr>
            <a:r>
              <a:rPr sz="1600" b="0">
                <a:solidFill>
                  <a:srgbClr val="5B6372"/>
                </a:solidFill>
                <a:latin typeface="Arial"/>
              </a:rPr>
              <a:t>Two days | 16 hours | beginner level</a:t>
            </a:r>
          </a:p>
        </p:txBody>
      </p:sp>
      <p:sp>
        <p:nvSpPr>
          <p:cNvPr id="8" name="TextBox 7"/>
          <p:cNvSpPr txBox="1"/>
          <p:nvPr/>
        </p:nvSpPr>
        <p:spPr>
          <a:xfrm>
            <a:off x="9464040" y="502920"/>
            <a:ext cx="2103120" cy="1234440"/>
          </a:xfrm>
          <a:prstGeom prst="rect">
            <a:avLst/>
          </a:prstGeom>
          <a:noFill/>
        </p:spPr>
        <p:txBody>
          <a:bodyPr wrap="square" anchor="t" lIns="45720" rIns="45720">
            <a:spAutoFit/>
          </a:bodyPr>
          <a:lstStyle/>
          <a:p>
            <a:pPr algn="r">
              <a:spcAft>
                <a:spcPts val="400"/>
              </a:spcAft>
            </a:pPr>
            <a:r>
              <a:rPr sz="6800" b="1">
                <a:solidFill>
                  <a:srgbClr val="E2E8F0"/>
                </a:solidFill>
                <a:latin typeface="Arial"/>
              </a:rPr>
              <a:t/>
            </a:r>
          </a:p>
        </p:txBody>
      </p:sp>
      <p:sp>
        <p:nvSpPr>
          <p:cNvPr id="9" name="TextBox 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0" name="TextBox 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1" name="TextBox 1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TRAQOM | SSG DIGITAL ATTENDANCE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Digital Attendance (Mandatory)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17395"/>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17395"/>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1828800"/>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Complete AM, PM and Assessment digital attendance for this WSQ-funded course.</a:t>
            </a:r>
          </a:p>
        </p:txBody>
      </p:sp>
      <p:sp>
        <p:nvSpPr>
          <p:cNvPr id="12" name="Rounded Rectangle 11"/>
          <p:cNvSpPr/>
          <p:nvPr/>
        </p:nvSpPr>
        <p:spPr>
          <a:xfrm>
            <a:off x="777240" y="2910078"/>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10078"/>
            <a:ext cx="82296" cy="96240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44393"/>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44393"/>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955798"/>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Use the SSG digital-attendance QR code shown by the trainer or administrator.</a:t>
            </a:r>
          </a:p>
        </p:txBody>
      </p:sp>
      <p:sp>
        <p:nvSpPr>
          <p:cNvPr id="17" name="Rounded Rectangle 16"/>
          <p:cNvSpPr/>
          <p:nvPr/>
        </p:nvSpPr>
        <p:spPr>
          <a:xfrm>
            <a:off x="777240" y="4037076"/>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1391"/>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1391"/>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4082796"/>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Scan with your mobile phone and confirm the submission before leaving the page.</a:t>
            </a:r>
          </a:p>
        </p:txBody>
      </p:sp>
      <p:sp>
        <p:nvSpPr>
          <p:cNvPr id="22" name="Rounded Rectangle 21"/>
          <p:cNvSpPr/>
          <p:nvPr/>
        </p:nvSpPr>
        <p:spPr>
          <a:xfrm>
            <a:off x="777240" y="5164074"/>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64074"/>
            <a:ext cx="82296" cy="96240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 y="5398389"/>
            <a:ext cx="493776" cy="49377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 y="5398389"/>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5209794"/>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At least 75% attendance is required for assessment and funding eligibility.</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NAMED TRAINER</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About the Trainer</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246120"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246120" cy="109728"/>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8488" y="2286000"/>
            <a:ext cx="1572768" cy="1572768"/>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8488" y="2286000"/>
            <a:ext cx="1572768" cy="1572768"/>
          </a:xfrm>
          <a:prstGeom prst="rect">
            <a:avLst/>
          </a:prstGeom>
          <a:noFill/>
        </p:spPr>
        <p:txBody>
          <a:bodyPr wrap="square" anchor="ctr" lIns="45720" rIns="45720">
            <a:spAutoFit/>
          </a:bodyPr>
          <a:lstStyle/>
          <a:p>
            <a:pPr algn="ctr">
              <a:spcAft>
                <a:spcPts val="400"/>
              </a:spcAft>
            </a:pPr>
            <a:r>
              <a:rPr sz="4000" b="1">
                <a:solidFill>
                  <a:srgbClr val="FFFFFF"/>
                </a:solidFill>
                <a:latin typeface="Arial"/>
              </a:rPr>
              <a:t>AA</a:t>
            </a:r>
          </a:p>
        </p:txBody>
      </p:sp>
      <p:sp>
        <p:nvSpPr>
          <p:cNvPr id="11" name="TextBox 10"/>
          <p:cNvSpPr txBox="1"/>
          <p:nvPr/>
        </p:nvSpPr>
        <p:spPr>
          <a:xfrm>
            <a:off x="960120" y="4096512"/>
            <a:ext cx="2880360" cy="566928"/>
          </a:xfrm>
          <a:prstGeom prst="rect">
            <a:avLst/>
          </a:prstGeom>
          <a:noFill/>
        </p:spPr>
        <p:txBody>
          <a:bodyPr wrap="square" anchor="t" lIns="45720" rIns="45720">
            <a:spAutoFit/>
          </a:bodyPr>
          <a:lstStyle/>
          <a:p>
            <a:pPr algn="ctr">
              <a:spcAft>
                <a:spcPts val="400"/>
              </a:spcAft>
            </a:pPr>
            <a:r>
              <a:rPr sz="2000" b="1">
                <a:solidFill>
                  <a:srgbClr val="161B26"/>
                </a:solidFill>
                <a:latin typeface="Arial"/>
              </a:rPr>
              <a:t>Dr Alfred Ang</a:t>
            </a:r>
          </a:p>
        </p:txBody>
      </p:sp>
      <p:sp>
        <p:nvSpPr>
          <p:cNvPr id="12" name="TextBox 11"/>
          <p:cNvSpPr txBox="1"/>
          <p:nvPr/>
        </p:nvSpPr>
        <p:spPr>
          <a:xfrm>
            <a:off x="960120" y="4727448"/>
            <a:ext cx="2880360" cy="1051560"/>
          </a:xfrm>
          <a:prstGeom prst="rect">
            <a:avLst/>
          </a:prstGeom>
          <a:noFill/>
        </p:spPr>
        <p:txBody>
          <a:bodyPr wrap="square" anchor="t" lIns="45720" rIns="45720">
            <a:spAutoFit/>
          </a:bodyPr>
          <a:lstStyle/>
          <a:p>
            <a:pPr algn="ctr">
              <a:spcAft>
                <a:spcPts val="400"/>
              </a:spcAft>
            </a:pPr>
            <a:r>
              <a:rPr sz="1300" b="0">
                <a:solidFill>
                  <a:srgbClr val="5B6372"/>
                </a:solidFill>
                <a:latin typeface="Arial"/>
              </a:rPr>
              <a:t>Principal Trainer | Tertiary Infotech Academy</a:t>
            </a:r>
          </a:p>
        </p:txBody>
      </p:sp>
      <p:sp>
        <p:nvSpPr>
          <p:cNvPr id="13" name="Rounded Rectangle 12"/>
          <p:cNvSpPr/>
          <p:nvPr/>
        </p:nvSpPr>
        <p:spPr>
          <a:xfrm>
            <a:off x="4389120" y="1783080"/>
            <a:ext cx="7059168" cy="976121"/>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783080"/>
            <a:ext cx="82296" cy="97612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819656"/>
            <a:ext cx="6473952" cy="902969"/>
          </a:xfrm>
          <a:prstGeom prst="rect">
            <a:avLst/>
          </a:prstGeom>
          <a:noFill/>
        </p:spPr>
        <p:txBody>
          <a:bodyPr wrap="square" anchor="ctr" lIns="45720" rIns="45720">
            <a:spAutoFit/>
          </a:bodyPr>
          <a:lstStyle/>
          <a:p>
            <a:pPr algn="l">
              <a:spcAft>
                <a:spcPts val="200"/>
              </a:spcAft>
            </a:pPr>
            <a:r>
              <a:rPr sz="1050" b="1">
                <a:solidFill>
                  <a:srgbClr val="1F6FEB"/>
                </a:solidFill>
                <a:latin typeface="Arial"/>
              </a:rPr>
              <a:t>ROLE</a:t>
            </a:r>
          </a:p>
          <a:p>
            <a:pPr algn="l">
              <a:spcAft>
                <a:spcPts val="200"/>
              </a:spcAft>
            </a:pPr>
            <a:r>
              <a:rPr sz="1320" b="0">
                <a:solidFill>
                  <a:srgbClr val="161B26"/>
                </a:solidFill>
                <a:latin typeface="Arial"/>
              </a:rPr>
              <a:t>Principal Trainer and course developer</a:t>
            </a:r>
          </a:p>
        </p:txBody>
      </p:sp>
      <p:sp>
        <p:nvSpPr>
          <p:cNvPr id="16" name="Rounded Rectangle 15"/>
          <p:cNvSpPr/>
          <p:nvPr/>
        </p:nvSpPr>
        <p:spPr>
          <a:xfrm>
            <a:off x="4389120" y="2905506"/>
            <a:ext cx="7059168" cy="976121"/>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0" y="2905506"/>
            <a:ext cx="82296" cy="976121"/>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2942082"/>
            <a:ext cx="6473952" cy="902969"/>
          </a:xfrm>
          <a:prstGeom prst="rect">
            <a:avLst/>
          </a:prstGeom>
          <a:noFill/>
        </p:spPr>
        <p:txBody>
          <a:bodyPr wrap="square" anchor="ctr" lIns="45720" rIns="45720">
            <a:spAutoFit/>
          </a:bodyPr>
          <a:lstStyle/>
          <a:p>
            <a:pPr algn="l">
              <a:spcAft>
                <a:spcPts val="200"/>
              </a:spcAft>
            </a:pPr>
            <a:r>
              <a:rPr sz="1050" b="1">
                <a:solidFill>
                  <a:srgbClr val="0F9D8A"/>
                </a:solidFill>
                <a:latin typeface="Arial"/>
              </a:rPr>
              <a:t>EXPERTISE</a:t>
            </a:r>
          </a:p>
          <a:p>
            <a:pPr algn="l">
              <a:spcAft>
                <a:spcPts val="200"/>
              </a:spcAft>
            </a:pPr>
            <a:r>
              <a:rPr sz="1320" b="0">
                <a:solidFill>
                  <a:srgbClr val="161B26"/>
                </a:solidFill>
                <a:latin typeface="Arial"/>
              </a:rPr>
              <a:t>Management systems, process improvement and applied technology</a:t>
            </a:r>
          </a:p>
        </p:txBody>
      </p:sp>
      <p:sp>
        <p:nvSpPr>
          <p:cNvPr id="19" name="Rounded Rectangle 18"/>
          <p:cNvSpPr/>
          <p:nvPr/>
        </p:nvSpPr>
        <p:spPr>
          <a:xfrm>
            <a:off x="4389120" y="4027931"/>
            <a:ext cx="7059168" cy="976121"/>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9120" y="4027931"/>
            <a:ext cx="82296" cy="97612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4064507"/>
            <a:ext cx="6473952" cy="902969"/>
          </a:xfrm>
          <a:prstGeom prst="rect">
            <a:avLst/>
          </a:prstGeom>
          <a:noFill/>
        </p:spPr>
        <p:txBody>
          <a:bodyPr wrap="square" anchor="ctr" lIns="45720" rIns="45720">
            <a:spAutoFit/>
          </a:bodyPr>
          <a:lstStyle/>
          <a:p>
            <a:pPr algn="l">
              <a:spcAft>
                <a:spcPts val="200"/>
              </a:spcAft>
            </a:pPr>
            <a:r>
              <a:rPr sz="1050" b="1">
                <a:solidFill>
                  <a:srgbClr val="7C3AED"/>
                </a:solidFill>
                <a:latin typeface="Arial"/>
              </a:rPr>
              <a:t>DELIVERS</a:t>
            </a:r>
          </a:p>
          <a:p>
            <a:pPr algn="l">
              <a:spcAft>
                <a:spcPts val="200"/>
              </a:spcAft>
            </a:pPr>
            <a:r>
              <a:rPr sz="1320" b="0">
                <a:solidFill>
                  <a:srgbClr val="161B26"/>
                </a:solidFill>
                <a:latin typeface="Arial"/>
              </a:rPr>
              <a:t>WSQ professional and technical programmes</a:t>
            </a:r>
          </a:p>
        </p:txBody>
      </p:sp>
      <p:sp>
        <p:nvSpPr>
          <p:cNvPr id="22" name="Rounded Rectangle 21"/>
          <p:cNvSpPr/>
          <p:nvPr/>
        </p:nvSpPr>
        <p:spPr>
          <a:xfrm>
            <a:off x="4389120" y="5150357"/>
            <a:ext cx="7059168" cy="976121"/>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5150357"/>
            <a:ext cx="82296" cy="97612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63440" y="5186933"/>
            <a:ext cx="6473952" cy="902969"/>
          </a:xfrm>
          <a:prstGeom prst="rect">
            <a:avLst/>
          </a:prstGeom>
          <a:noFill/>
        </p:spPr>
        <p:txBody>
          <a:bodyPr wrap="square" anchor="ctr" lIns="45720" rIns="45720">
            <a:spAutoFit/>
          </a:bodyPr>
          <a:lstStyle/>
          <a:p>
            <a:pPr algn="l">
              <a:spcAft>
                <a:spcPts val="200"/>
              </a:spcAft>
            </a:pPr>
            <a:r>
              <a:rPr sz="1050" b="1">
                <a:solidFill>
                  <a:srgbClr val="D97706"/>
                </a:solidFill>
                <a:latin typeface="Arial"/>
              </a:rPr>
              <a:t>FOUNDER</a:t>
            </a:r>
          </a:p>
          <a:p>
            <a:pPr algn="l">
              <a:spcAft>
                <a:spcPts val="200"/>
              </a:spcAft>
            </a:pPr>
            <a:r>
              <a:rPr sz="1320" b="0">
                <a:solidFill>
                  <a:srgbClr val="161B26"/>
                </a:solidFill>
                <a:latin typeface="Arial"/>
              </a:rPr>
              <a:t>Tertiary Infotech / Tertiary Courses</a:t>
            </a:r>
          </a:p>
        </p:txBody>
      </p:sp>
      <p:sp>
        <p:nvSpPr>
          <p:cNvPr id="25" name="TextBox 24"/>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6" name="TextBox 25"/>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7" name="TextBox 26"/>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LEARNER INTRODUCTION</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Let's know each other</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17395"/>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17395"/>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1828800"/>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Name, organisation and role</a:t>
            </a:r>
          </a:p>
        </p:txBody>
      </p:sp>
      <p:sp>
        <p:nvSpPr>
          <p:cNvPr id="12" name="Rounded Rectangle 11"/>
          <p:cNvSpPr/>
          <p:nvPr/>
        </p:nvSpPr>
        <p:spPr>
          <a:xfrm>
            <a:off x="777240" y="2910078"/>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10078"/>
            <a:ext cx="82296" cy="96240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44393"/>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44393"/>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955798"/>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One environmental interaction in your work</a:t>
            </a:r>
          </a:p>
        </p:txBody>
      </p:sp>
      <p:sp>
        <p:nvSpPr>
          <p:cNvPr id="17" name="Rounded Rectangle 16"/>
          <p:cNvSpPr/>
          <p:nvPr/>
        </p:nvSpPr>
        <p:spPr>
          <a:xfrm>
            <a:off x="777240" y="4037076"/>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1391"/>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1391"/>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4082796"/>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A recurring environmental risk or data gap</a:t>
            </a:r>
          </a:p>
        </p:txBody>
      </p:sp>
      <p:sp>
        <p:nvSpPr>
          <p:cNvPr id="22" name="Rounded Rectangle 21"/>
          <p:cNvSpPr/>
          <p:nvPr/>
        </p:nvSpPr>
        <p:spPr>
          <a:xfrm>
            <a:off x="777240" y="5164074"/>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64074"/>
            <a:ext cx="82296" cy="96240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 y="5398389"/>
            <a:ext cx="493776" cy="49377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 y="5398389"/>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5209794"/>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What useful course success would look like</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HOUSEKEEPING</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Ground rules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16865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Be present</a:t>
            </a:r>
          </a:p>
          <a:p>
            <a:pPr algn="l">
              <a:spcAft>
                <a:spcPts val="300"/>
              </a:spcAft>
            </a:pPr>
            <a:r>
              <a:rPr sz="1220" b="0">
                <a:solidFill>
                  <a:srgbClr val="5B6372"/>
                </a:solidFill>
                <a:latin typeface="Arial"/>
              </a:rPr>
              <a:t>Return on time and complete digital attendance.</a:t>
            </a:r>
          </a:p>
        </p:txBody>
      </p:sp>
      <p:sp>
        <p:nvSpPr>
          <p:cNvPr id="12" name="Rounded Rectangle 11"/>
          <p:cNvSpPr/>
          <p:nvPr/>
        </p:nvSpPr>
        <p:spPr>
          <a:xfrm>
            <a:off x="6231636"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68652"/>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Participate</a:t>
            </a:r>
          </a:p>
          <a:p>
            <a:pPr algn="l">
              <a:spcAft>
                <a:spcPts val="300"/>
              </a:spcAft>
            </a:pPr>
            <a:r>
              <a:rPr sz="1220" b="0">
                <a:solidFill>
                  <a:srgbClr val="5B6372"/>
                </a:solidFill>
                <a:latin typeface="Arial"/>
              </a:rPr>
              <a:t>Ask, challenge and contribute evidence.</a:t>
            </a:r>
          </a:p>
        </p:txBody>
      </p:sp>
      <p:sp>
        <p:nvSpPr>
          <p:cNvPr id="17" name="Rounded Rectangle 16"/>
          <p:cNvSpPr/>
          <p:nvPr/>
        </p:nvSpPr>
        <p:spPr>
          <a:xfrm>
            <a:off x="777240"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4032"/>
            <a:ext cx="82296" cy="13014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68960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Respect</a:t>
            </a:r>
          </a:p>
          <a:p>
            <a:pPr algn="l">
              <a:spcAft>
                <a:spcPts val="300"/>
              </a:spcAft>
            </a:pPr>
            <a:r>
              <a:rPr sz="1220" b="0">
                <a:solidFill>
                  <a:srgbClr val="5B6372"/>
                </a:solidFill>
                <a:latin typeface="Arial"/>
              </a:rPr>
              <a:t>One conversation at a time; disagree professionally.</a:t>
            </a:r>
          </a:p>
        </p:txBody>
      </p:sp>
      <p:sp>
        <p:nvSpPr>
          <p:cNvPr id="22" name="Rounded Rectangle 21"/>
          <p:cNvSpPr/>
          <p:nvPr/>
        </p:nvSpPr>
        <p:spPr>
          <a:xfrm>
            <a:off x="6231636"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04032"/>
            <a:ext cx="82296" cy="13014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689604"/>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Protect information</a:t>
            </a:r>
          </a:p>
          <a:p>
            <a:pPr algn="l">
              <a:spcAft>
                <a:spcPts val="300"/>
              </a:spcAft>
            </a:pPr>
            <a:r>
              <a:rPr sz="1220" b="0">
                <a:solidFill>
                  <a:srgbClr val="5B6372"/>
                </a:solidFill>
                <a:latin typeface="Arial"/>
              </a:rPr>
              <a:t>Use fictional or sanitised workplace data.</a:t>
            </a:r>
          </a:p>
        </p:txBody>
      </p:sp>
      <p:sp>
        <p:nvSpPr>
          <p:cNvPr id="27" name="Rounded Rectangle 26"/>
          <p:cNvSpPr/>
          <p:nvPr/>
        </p:nvSpPr>
        <p:spPr>
          <a:xfrm>
            <a:off x="777240"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4984"/>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521055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737360"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Stay evidence-led</a:t>
            </a:r>
          </a:p>
          <a:p>
            <a:pPr algn="l">
              <a:spcAft>
                <a:spcPts val="300"/>
              </a:spcAft>
            </a:pPr>
            <a:r>
              <a:rPr sz="1220" b="0">
                <a:solidFill>
                  <a:srgbClr val="5B6372"/>
                </a:solidFill>
                <a:latin typeface="Arial"/>
              </a:rPr>
              <a:t>Label assumptions and missing data.</a:t>
            </a:r>
          </a:p>
        </p:txBody>
      </p:sp>
      <p:sp>
        <p:nvSpPr>
          <p:cNvPr id="32" name="Rounded Rectangle 31"/>
          <p:cNvSpPr/>
          <p:nvPr/>
        </p:nvSpPr>
        <p:spPr>
          <a:xfrm>
            <a:off x="6231636"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24984"/>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10556"/>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191756"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Work safely</a:t>
            </a:r>
          </a:p>
          <a:p>
            <a:pPr algn="l">
              <a:spcAft>
                <a:spcPts val="300"/>
              </a:spcAft>
            </a:pPr>
            <a:r>
              <a:rPr sz="1220" b="0">
                <a:solidFill>
                  <a:srgbClr val="5B6372"/>
                </a:solidFill>
                <a:latin typeface="Arial"/>
              </a:rPr>
              <a:t>Activities are tabletop analysis, not live chemical handling.</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TWO-DAY JOURNEY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Course roadmap</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1012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80"/>
            <a:ext cx="2880360" cy="603504"/>
          </a:xfrm>
          <a:prstGeom prst="rect">
            <a:avLst/>
          </a:prstGeom>
          <a:noFill/>
        </p:spPr>
        <p:txBody>
          <a:bodyPr wrap="square" anchor="ctr" lIns="45720" rIns="45720">
            <a:spAutoFit/>
          </a:bodyPr>
          <a:lstStyle/>
          <a:p>
            <a:pPr algn="l">
              <a:spcAft>
                <a:spcPts val="400"/>
              </a:spcAft>
            </a:pPr>
            <a:r>
              <a:rPr sz="1800" b="1">
                <a:solidFill>
                  <a:srgbClr val="1F6FEB"/>
                </a:solidFill>
                <a:latin typeface="Arial"/>
              </a:rPr>
              <a:t>Day 1 - Plan</a:t>
            </a:r>
          </a:p>
        </p:txBody>
      </p:sp>
      <p:sp>
        <p:nvSpPr>
          <p:cNvPr id="10" name="Oval 9"/>
          <p:cNvSpPr/>
          <p:nvPr/>
        </p:nvSpPr>
        <p:spPr>
          <a:xfrm>
            <a:off x="1005840" y="2788920"/>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EMS foundations and 2026 status</a:t>
            </a:r>
          </a:p>
        </p:txBody>
      </p:sp>
      <p:sp>
        <p:nvSpPr>
          <p:cNvPr id="12" name="Oval 11"/>
          <p:cNvSpPr/>
          <p:nvPr/>
        </p:nvSpPr>
        <p:spPr>
          <a:xfrm>
            <a:off x="1005840" y="3511296"/>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Context, leadership and aspects</a:t>
            </a:r>
          </a:p>
        </p:txBody>
      </p:sp>
      <p:sp>
        <p:nvSpPr>
          <p:cNvPr id="14" name="Oval 13"/>
          <p:cNvSpPr/>
          <p:nvPr/>
        </p:nvSpPr>
        <p:spPr>
          <a:xfrm>
            <a:off x="1005840" y="4233672"/>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Planning, support and controls</a:t>
            </a:r>
          </a:p>
        </p:txBody>
      </p:sp>
      <p:sp>
        <p:nvSpPr>
          <p:cNvPr id="16" name="Rounded Rectangle 15"/>
          <p:cNvSpPr/>
          <p:nvPr/>
        </p:nvSpPr>
        <p:spPr>
          <a:xfrm>
            <a:off x="4553712"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3712" y="1783080"/>
            <a:ext cx="3310128"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011680"/>
            <a:ext cx="2880360" cy="603504"/>
          </a:xfrm>
          <a:prstGeom prst="rect">
            <a:avLst/>
          </a:prstGeom>
          <a:noFill/>
        </p:spPr>
        <p:txBody>
          <a:bodyPr wrap="square" anchor="ctr" lIns="45720" rIns="45720">
            <a:spAutoFit/>
          </a:bodyPr>
          <a:lstStyle/>
          <a:p>
            <a:pPr algn="l">
              <a:spcAft>
                <a:spcPts val="400"/>
              </a:spcAft>
            </a:pPr>
            <a:r>
              <a:rPr sz="1800" b="1">
                <a:solidFill>
                  <a:srgbClr val="0F9D8A"/>
                </a:solidFill>
                <a:latin typeface="Arial"/>
              </a:rPr>
              <a:t>Day 2 - Check</a:t>
            </a:r>
          </a:p>
        </p:txBody>
      </p:sp>
      <p:sp>
        <p:nvSpPr>
          <p:cNvPr id="19" name="Oval 18"/>
          <p:cNvSpPr/>
          <p:nvPr/>
        </p:nvSpPr>
        <p:spPr>
          <a:xfrm>
            <a:off x="4782312" y="2788920"/>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2352"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Emergency readiness</a:t>
            </a:r>
          </a:p>
        </p:txBody>
      </p:sp>
      <p:sp>
        <p:nvSpPr>
          <p:cNvPr id="21" name="Oval 20"/>
          <p:cNvSpPr/>
          <p:nvPr/>
        </p:nvSpPr>
        <p:spPr>
          <a:xfrm>
            <a:off x="4782312" y="3511296"/>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02352"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Performance and compliance</a:t>
            </a:r>
          </a:p>
        </p:txBody>
      </p:sp>
      <p:sp>
        <p:nvSpPr>
          <p:cNvPr id="23" name="Oval 22"/>
          <p:cNvSpPr/>
          <p:nvPr/>
        </p:nvSpPr>
        <p:spPr>
          <a:xfrm>
            <a:off x="4782312" y="4233672"/>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2352"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Internal audit and review</a:t>
            </a:r>
          </a:p>
        </p:txBody>
      </p:sp>
      <p:sp>
        <p:nvSpPr>
          <p:cNvPr id="25" name="Rounded Rectangle 24"/>
          <p:cNvSpPr/>
          <p:nvPr/>
        </p:nvSpPr>
        <p:spPr>
          <a:xfrm>
            <a:off x="8330183"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30183" y="1783080"/>
            <a:ext cx="331012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39" y="2011680"/>
            <a:ext cx="2880360" cy="603504"/>
          </a:xfrm>
          <a:prstGeom prst="rect">
            <a:avLst/>
          </a:prstGeom>
          <a:noFill/>
        </p:spPr>
        <p:txBody>
          <a:bodyPr wrap="square" anchor="ctr" lIns="45720" rIns="45720">
            <a:spAutoFit/>
          </a:bodyPr>
          <a:lstStyle/>
          <a:p>
            <a:pPr algn="l">
              <a:spcAft>
                <a:spcPts val="400"/>
              </a:spcAft>
            </a:pPr>
            <a:r>
              <a:rPr sz="1800" b="1">
                <a:solidFill>
                  <a:srgbClr val="7C3AED"/>
                </a:solidFill>
                <a:latin typeface="Arial"/>
              </a:rPr>
              <a:t>Close - Act</a:t>
            </a:r>
          </a:p>
        </p:txBody>
      </p:sp>
      <p:sp>
        <p:nvSpPr>
          <p:cNvPr id="28" name="Oval 27"/>
          <p:cNvSpPr/>
          <p:nvPr/>
        </p:nvSpPr>
        <p:spPr>
          <a:xfrm>
            <a:off x="8558783" y="27889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78823"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Corrective action</a:t>
            </a:r>
          </a:p>
        </p:txBody>
      </p:sp>
      <p:sp>
        <p:nvSpPr>
          <p:cNvPr id="30" name="Oval 29"/>
          <p:cNvSpPr/>
          <p:nvPr/>
        </p:nvSpPr>
        <p:spPr>
          <a:xfrm>
            <a:off x="8558783" y="35112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3"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Continual improvement</a:t>
            </a:r>
          </a:p>
        </p:txBody>
      </p:sp>
      <p:sp>
        <p:nvSpPr>
          <p:cNvPr id="32" name="Oval 31"/>
          <p:cNvSpPr/>
          <p:nvPr/>
        </p:nvSpPr>
        <p:spPr>
          <a:xfrm>
            <a:off x="8558783" y="4233672"/>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78823"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2026 transition plan</a:t>
            </a:r>
          </a:p>
        </p:txBody>
      </p:sp>
      <p:sp>
        <p:nvSpPr>
          <p:cNvPr id="34" name="TextBox 3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5" name="TextBox 3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SCHEDULE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Lesson plan: Day 1</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Morning</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9:00-9:30 | Administration and outcomes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9:30-10:30 | EMS, ISO family and PDCA</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10:30-10:40 | Tea break</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10:40-1:00 | Context, aspects and Activities 1-2</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Afternoon</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1:00-1:45 | Lunch</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1:45-3:30 | Planning and compliance</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3:30-3:40 | Tea break</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3:40-6:00 | Objectives, controls and Activities 3-4</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SCHEDULE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Lesson plan: Day 2</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Morning</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9:00-10:20 | Operation and emergency readiness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10:20-10:30 | Tea break</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10:30-12:30 | Activities 5-6</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12:30-1:15 | Lunch</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Afternoon</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1:15-3:00 | Evaluation, audit and Activity 7</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3:00-3:10 | Tea break</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3:10-4:00 | Improvement and Activity 8</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4:00-6:00 | WA then Case Study</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BY THE END OF THIS COURSE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Learning outcomes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LO1</a:t>
            </a:r>
          </a:p>
          <a:p>
            <a:pPr algn="l">
              <a:spcAft>
                <a:spcPts val="300"/>
              </a:spcAft>
            </a:pPr>
            <a:r>
              <a:rPr sz="1220" b="0">
                <a:solidFill>
                  <a:srgbClr val="5B6372"/>
                </a:solidFill>
                <a:latin typeface="Arial"/>
              </a:rPr>
              <a:t>Identify environmental hazards and assess risks within the workplace context using an ISO 14001 EMS.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LO2</a:t>
            </a:r>
          </a:p>
          <a:p>
            <a:pPr algn="l">
              <a:spcAft>
                <a:spcPts val="300"/>
              </a:spcAft>
            </a:pPr>
            <a:r>
              <a:rPr sz="1220" b="0">
                <a:solidFill>
                  <a:srgbClr val="5B6372"/>
                </a:solidFill>
                <a:latin typeface="Arial"/>
              </a:rPr>
              <a:t>Determine actions for environmental accidents and report unsafe conditions or acts to relevant authorities.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LO3</a:t>
            </a:r>
          </a:p>
          <a:p>
            <a:pPr algn="l">
              <a:spcAft>
                <a:spcPts val="300"/>
              </a:spcAft>
            </a:pPr>
            <a:r>
              <a:rPr sz="1220" b="0">
                <a:solidFill>
                  <a:srgbClr val="5B6372"/>
                </a:solidFill>
                <a:latin typeface="Arial"/>
              </a:rPr>
              <a:t>Evaluate environmental hazards and oversee ISO 14001 EMS-related training and assessment activities.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LO4</a:t>
            </a:r>
          </a:p>
          <a:p>
            <a:pPr algn="l">
              <a:spcAft>
                <a:spcPts val="300"/>
              </a:spcAft>
            </a:pPr>
            <a:r>
              <a:rPr sz="1220" b="0">
                <a:solidFill>
                  <a:srgbClr val="5B6372"/>
                </a:solidFill>
                <a:latin typeface="Arial"/>
              </a:rPr>
              <a:t>Enhance the intended outcomes of environmental management through ISO 14001 EMS continual improvement.</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TSC KNOWLEDGE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Knowledge alignment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K1-K3</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K1: Purpose, benefits, structure and PDCA logic of an ISO 14001 environmental management system</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K2: Organisation context, interested parties, EMS scope, leadership, environmental policy and responsibilities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K3: Environmental hazards, aspects, impacts, significance, risks and opportunities, and compliance obligations</a:t>
            </a:r>
          </a:p>
        </p:txBody>
      </p:sp>
      <p:sp>
        <p:nvSpPr>
          <p:cNvPr id="19" name="Rounded Rectangle 18"/>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K4-K6</a:t>
            </a:r>
          </a:p>
        </p:txBody>
      </p:sp>
      <p:sp>
        <p:nvSpPr>
          <p:cNvPr id="22" name="Oval 21"/>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4" name="TextBox 23"/>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K4: Objectives, support, competence, communication, documented information, life-cycle perspective and operational control</a:t>
            </a:r>
          </a:p>
        </p:txBody>
      </p:sp>
      <p:sp>
        <p:nvSpPr>
          <p:cNvPr id="25" name="Oval 24"/>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27" name="TextBox 26"/>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K5: Monitoring, measurement, analysis, compliance evaluation, internal audit and management review</a:t>
            </a:r>
          </a:p>
        </p:txBody>
      </p:sp>
      <p:sp>
        <p:nvSpPr>
          <p:cNvPr id="28" name="Oval 27"/>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0" name="TextBox 29"/>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K6: Emergency response, nonconformity, corrective action, continual improvement and the ISO 14001:2026 changes</a:t>
            </a:r>
          </a:p>
        </p:txBody>
      </p:sp>
      <p:sp>
        <p:nvSpPr>
          <p:cNvPr id="31" name="TextBox 3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2" name="TextBox 3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3" name="TextBox 3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TSC ABILITIES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Abilities practised through activities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A1-A4</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A1: Identify environmental hazards and environmental aspects from workplace evidence</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A2: Assess environmental impacts, significance, risks and opportunities using defined criteria</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A3: Determine proportionate actions for environmental incidents and emergency situations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A4: Escalate and report environmental unsafe conditions, acts and compliance concerns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A5-A8</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A5: Evaluate environmental hazards, operational controls and environmental performance evidence</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A6: Plan and oversee EMS competence, awareness, training and evaluation activities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A7: Identify and prioritise opportunities to improve EMS performance and intended outcomes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A8: Document corrective action, effectiveness review and continual improvement according to organisational procedures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ASSESSMENT BRIEFING</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Briefing for Assessment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10652760" cy="7370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1904695"/>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904695"/>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1828800"/>
            <a:ext cx="9372600" cy="6455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Individual and open book: course slides, Learner Guide and approved activity materials only.</a:t>
            </a:r>
          </a:p>
        </p:txBody>
      </p:sp>
      <p:sp>
        <p:nvSpPr>
          <p:cNvPr id="12" name="Rounded Rectangle 11"/>
          <p:cNvSpPr/>
          <p:nvPr/>
        </p:nvSpPr>
        <p:spPr>
          <a:xfrm>
            <a:off x="777240" y="2684678"/>
            <a:ext cx="10652760" cy="7370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84678"/>
            <a:ext cx="82296" cy="73700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2806293"/>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2806293"/>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730398"/>
            <a:ext cx="9372600" cy="6455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Place phones and other materials under the table; do not photograph or record scripts.</a:t>
            </a:r>
          </a:p>
        </p:txBody>
      </p:sp>
      <p:sp>
        <p:nvSpPr>
          <p:cNvPr id="17" name="Rounded Rectangle 16"/>
          <p:cNvSpPr/>
          <p:nvPr/>
        </p:nvSpPr>
        <p:spPr>
          <a:xfrm>
            <a:off x="777240" y="3586276"/>
            <a:ext cx="10652760" cy="7370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3707891"/>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3707891"/>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3631996"/>
            <a:ext cx="9372600" cy="6455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No discussion; answer in your own words using black or blue pen for hard-copy papers.</a:t>
            </a:r>
          </a:p>
        </p:txBody>
      </p:sp>
      <p:sp>
        <p:nvSpPr>
          <p:cNvPr id="22" name="Rounded Rectangle 21"/>
          <p:cNvSpPr/>
          <p:nvPr/>
        </p:nvSpPr>
        <p:spPr>
          <a:xfrm>
            <a:off x="777240" y="4487874"/>
            <a:ext cx="10652760" cy="7370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487874"/>
            <a:ext cx="82296" cy="73700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 y="4609489"/>
            <a:ext cx="493776" cy="49377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 y="4609489"/>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4533594"/>
            <a:ext cx="9372600" cy="6455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No correction fluid or tape; submit the completed paper on the LMS when instructed.</a:t>
            </a:r>
          </a:p>
        </p:txBody>
      </p:sp>
      <p:sp>
        <p:nvSpPr>
          <p:cNvPr id="27" name="Rounded Rectangle 26"/>
          <p:cNvSpPr/>
          <p:nvPr/>
        </p:nvSpPr>
        <p:spPr>
          <a:xfrm>
            <a:off x="777240" y="5389472"/>
            <a:ext cx="10652760" cy="7370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4128" y="5511087"/>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4128" y="5511087"/>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5</a:t>
            </a:r>
          </a:p>
        </p:txBody>
      </p:sp>
      <p:sp>
        <p:nvSpPr>
          <p:cNvPr id="31" name="TextBox 30"/>
          <p:cNvSpPr txBox="1"/>
          <p:nvPr/>
        </p:nvSpPr>
        <p:spPr>
          <a:xfrm>
            <a:off x="1700784" y="5435192"/>
            <a:ext cx="9372600" cy="6455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Re-assessment and appeal routes are available under the assessment policy.</a:t>
            </a:r>
          </a:p>
        </p:txBody>
      </p:sp>
      <p:sp>
        <p:nvSpPr>
          <p:cNvPr id="32" name="TextBox 31"/>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3" name="TextBox 32"/>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4" name="TextBox 33"/>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FINAL ASSESSMENT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Assessment and funding</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1012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80"/>
            <a:ext cx="2880360" cy="603504"/>
          </a:xfrm>
          <a:prstGeom prst="rect">
            <a:avLst/>
          </a:prstGeom>
          <a:noFill/>
        </p:spPr>
        <p:txBody>
          <a:bodyPr wrap="square" anchor="ctr" lIns="45720" rIns="45720">
            <a:spAutoFit/>
          </a:bodyPr>
          <a:lstStyle/>
          <a:p>
            <a:pPr algn="l">
              <a:spcAft>
                <a:spcPts val="400"/>
              </a:spcAft>
            </a:pPr>
            <a:r>
              <a:rPr sz="1800" b="1">
                <a:solidFill>
                  <a:srgbClr val="1F6FEB"/>
                </a:solidFill>
                <a:latin typeface="Arial"/>
              </a:rPr>
              <a:t>Written Assessment</a:t>
            </a:r>
          </a:p>
        </p:txBody>
      </p:sp>
      <p:sp>
        <p:nvSpPr>
          <p:cNvPr id="10" name="Oval 9"/>
          <p:cNvSpPr/>
          <p:nvPr/>
        </p:nvSpPr>
        <p:spPr>
          <a:xfrm>
            <a:off x="1005840" y="2788920"/>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6 open-ended SAQs</a:t>
            </a:r>
          </a:p>
        </p:txBody>
      </p:sp>
      <p:sp>
        <p:nvSpPr>
          <p:cNvPr id="12" name="Oval 11"/>
          <p:cNvSpPr/>
          <p:nvPr/>
        </p:nvSpPr>
        <p:spPr>
          <a:xfrm>
            <a:off x="1005840" y="3511296"/>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K1-K6</a:t>
            </a:r>
          </a:p>
        </p:txBody>
      </p:sp>
      <p:sp>
        <p:nvSpPr>
          <p:cNvPr id="14" name="Oval 13"/>
          <p:cNvSpPr/>
          <p:nvPr/>
        </p:nvSpPr>
        <p:spPr>
          <a:xfrm>
            <a:off x="1005840" y="4233672"/>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1 hour | open book</a:t>
            </a:r>
          </a:p>
        </p:txBody>
      </p:sp>
      <p:sp>
        <p:nvSpPr>
          <p:cNvPr id="16" name="Rounded Rectangle 15"/>
          <p:cNvSpPr/>
          <p:nvPr/>
        </p:nvSpPr>
        <p:spPr>
          <a:xfrm>
            <a:off x="4553712"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3712" y="1783080"/>
            <a:ext cx="3310128"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011680"/>
            <a:ext cx="2880360" cy="603504"/>
          </a:xfrm>
          <a:prstGeom prst="rect">
            <a:avLst/>
          </a:prstGeom>
          <a:noFill/>
        </p:spPr>
        <p:txBody>
          <a:bodyPr wrap="square" anchor="ctr" lIns="45720" rIns="45720">
            <a:spAutoFit/>
          </a:bodyPr>
          <a:lstStyle/>
          <a:p>
            <a:pPr algn="l">
              <a:spcAft>
                <a:spcPts val="400"/>
              </a:spcAft>
            </a:pPr>
            <a:r>
              <a:rPr sz="1800" b="1">
                <a:solidFill>
                  <a:srgbClr val="0F9D8A"/>
                </a:solidFill>
                <a:latin typeface="Arial"/>
              </a:rPr>
              <a:t>Case Study</a:t>
            </a:r>
          </a:p>
        </p:txBody>
      </p:sp>
      <p:sp>
        <p:nvSpPr>
          <p:cNvPr id="19" name="Oval 18"/>
          <p:cNvSpPr/>
          <p:nvPr/>
        </p:nvSpPr>
        <p:spPr>
          <a:xfrm>
            <a:off x="4782312" y="2788920"/>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2352"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4 scenario questions</a:t>
            </a:r>
          </a:p>
        </p:txBody>
      </p:sp>
      <p:sp>
        <p:nvSpPr>
          <p:cNvPr id="21" name="Oval 20"/>
          <p:cNvSpPr/>
          <p:nvPr/>
        </p:nvSpPr>
        <p:spPr>
          <a:xfrm>
            <a:off x="4782312" y="3511296"/>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02352"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A1-A8</a:t>
            </a:r>
          </a:p>
        </p:txBody>
      </p:sp>
      <p:sp>
        <p:nvSpPr>
          <p:cNvPr id="23" name="Oval 22"/>
          <p:cNvSpPr/>
          <p:nvPr/>
        </p:nvSpPr>
        <p:spPr>
          <a:xfrm>
            <a:off x="4782312" y="4233672"/>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2352"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1 hour | open book</a:t>
            </a:r>
          </a:p>
        </p:txBody>
      </p:sp>
      <p:sp>
        <p:nvSpPr>
          <p:cNvPr id="25" name="Rounded Rectangle 24"/>
          <p:cNvSpPr/>
          <p:nvPr/>
        </p:nvSpPr>
        <p:spPr>
          <a:xfrm>
            <a:off x="8330183"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30183" y="1783080"/>
            <a:ext cx="331012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39" y="2011680"/>
            <a:ext cx="2880360" cy="603504"/>
          </a:xfrm>
          <a:prstGeom prst="rect">
            <a:avLst/>
          </a:prstGeom>
          <a:noFill/>
        </p:spPr>
        <p:txBody>
          <a:bodyPr wrap="square" anchor="ctr" lIns="45720" rIns="45720">
            <a:spAutoFit/>
          </a:bodyPr>
          <a:lstStyle/>
          <a:p>
            <a:pPr algn="l">
              <a:spcAft>
                <a:spcPts val="400"/>
              </a:spcAft>
            </a:pPr>
            <a:r>
              <a:rPr sz="1800" b="1">
                <a:solidFill>
                  <a:srgbClr val="7C3AED"/>
                </a:solidFill>
                <a:latin typeface="Arial"/>
              </a:rPr>
              <a:t>Competency</a:t>
            </a:r>
          </a:p>
        </p:txBody>
      </p:sp>
      <p:sp>
        <p:nvSpPr>
          <p:cNvPr id="28" name="Oval 27"/>
          <p:cNvSpPr/>
          <p:nvPr/>
        </p:nvSpPr>
        <p:spPr>
          <a:xfrm>
            <a:off x="8558783" y="27889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78823"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Competent in both instruments</a:t>
            </a:r>
          </a:p>
        </p:txBody>
      </p:sp>
      <p:sp>
        <p:nvSpPr>
          <p:cNvPr id="30" name="Oval 29"/>
          <p:cNvSpPr/>
          <p:nvPr/>
        </p:nvSpPr>
        <p:spPr>
          <a:xfrm>
            <a:off x="8558783" y="35112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3"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At least 75% attendance</a:t>
            </a:r>
          </a:p>
        </p:txBody>
      </p:sp>
      <p:sp>
        <p:nvSpPr>
          <p:cNvPr id="32" name="Oval 31"/>
          <p:cNvSpPr/>
          <p:nvPr/>
        </p:nvSpPr>
        <p:spPr>
          <a:xfrm>
            <a:off x="8558783" y="4233672"/>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78823"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Funding criteria apply</a:t>
            </a:r>
          </a:p>
        </p:txBody>
      </p:sp>
      <p:sp>
        <p:nvSpPr>
          <p:cNvPr id="34" name="TextBox 3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5" name="TextBox 3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ON ASSESSMENT DAY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Assessment flow</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TRAQOM digital attendance</a:t>
            </a:r>
          </a:p>
        </p:txBody>
      </p:sp>
      <p:cxnSp>
        <p:nvCxnSpPr>
          <p:cNvPr id="12" name="Connector 11"/>
          <p:cNvCxnSpPr/>
          <p:nvPr/>
        </p:nvCxnSpPr>
        <p:spPr>
          <a:xfrm>
            <a:off x="2730398"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Assessment digital attendance</a:t>
            </a:r>
          </a:p>
        </p:txBody>
      </p:sp>
      <p:cxnSp>
        <p:nvCxnSpPr>
          <p:cNvPr id="18" name="Connector 17"/>
          <p:cNvCxnSpPr/>
          <p:nvPr/>
        </p:nvCxnSpPr>
        <p:spPr>
          <a:xfrm>
            <a:off x="4912156"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Sit WA then Case Study</a:t>
            </a:r>
          </a:p>
        </p:txBody>
      </p:sp>
      <p:cxnSp>
        <p:nvCxnSpPr>
          <p:cNvPr id="24" name="Connector 23"/>
          <p:cNvCxnSpPr/>
          <p:nvPr/>
        </p:nvCxnSpPr>
        <p:spPr>
          <a:xfrm>
            <a:off x="7093914"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Submit answers on the LMS</a:t>
            </a:r>
          </a:p>
        </p:txBody>
      </p:sp>
      <p:cxnSp>
        <p:nvCxnSpPr>
          <p:cNvPr id="30" name="Connector 29"/>
          <p:cNvCxnSpPr/>
          <p:nvPr/>
        </p:nvCxnSpPr>
        <p:spPr>
          <a:xfrm>
            <a:off x="9275672"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Sign Assessment Summary Record</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LEARNER MATERIALS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Access the course activities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Option A - Git clone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Clone the repository to keep the folder structure.</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Use the activity README/PDF and workbook together.</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Keep your completed evidence in a separate working copy.</a:t>
            </a:r>
          </a:p>
        </p:txBody>
      </p:sp>
      <p:sp>
        <p:nvSpPr>
          <p:cNvPr id="19" name="Rounded Rectangle 18"/>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Option B - Download ZIP</a:t>
            </a:r>
          </a:p>
        </p:txBody>
      </p:sp>
      <p:sp>
        <p:nvSpPr>
          <p:cNvPr id="22" name="Oval 21"/>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4" name="TextBox 23"/>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Open the repository in a browser.</a:t>
            </a:r>
          </a:p>
        </p:txBody>
      </p:sp>
      <p:sp>
        <p:nvSpPr>
          <p:cNvPr id="25" name="Oval 24"/>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27" name="TextBox 26"/>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Choose Code, then Download ZIP.</a:t>
            </a:r>
          </a:p>
        </p:txBody>
      </p:sp>
      <p:sp>
        <p:nvSpPr>
          <p:cNvPr id="28" name="Oval 27"/>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0" name="TextBox 29"/>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Extract the ZIP before opening Excel workbooks.</a:t>
            </a:r>
          </a:p>
        </p:txBody>
      </p:sp>
      <p:sp>
        <p:nvSpPr>
          <p:cNvPr id="31" name="TextBox 3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2" name="TextBox 3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3" name="TextBox 3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16</a:t>
            </a:r>
          </a:p>
        </p:txBody>
      </p:sp>
      <p:sp>
        <p:nvSpPr>
          <p:cNvPr id="34" name="TextBox 33"/>
          <p:cNvSpPr txBox="1"/>
          <p:nvPr/>
        </p:nvSpPr>
        <p:spPr>
          <a:xfrm>
            <a:off x="3886200" y="5650992"/>
            <a:ext cx="4434840" cy="420624"/>
          </a:xfrm>
          <a:prstGeom prst="rect">
            <a:avLst/>
          </a:prstGeom>
          <a:noFill/>
        </p:spPr>
        <p:txBody>
          <a:bodyPr wrap="square" anchor="t" lIns="45720" rIns="45720">
            <a:spAutoFit/>
          </a:bodyPr>
          <a:lstStyle/>
          <a:p>
            <a:pPr algn="ctr">
              <a:spcAft>
                <a:spcPts val="400"/>
              </a:spcAft>
            </a:pPr>
            <a:r>
              <a:rPr sz="1400" b="1">
                <a:solidFill>
                  <a:srgbClr val="1F6FEB"/>
                </a:solidFill>
                <a:latin typeface="Arial"/>
                <a:hlinkClick r:id="rId2"/>
              </a:rPr>
              <a:t>Open public GitHub courseware →</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267712"/>
            <a:ext cx="109728" cy="182880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 y="2148840"/>
            <a:ext cx="9875520" cy="384048"/>
          </a:xfrm>
          <a:prstGeom prst="rect">
            <a:avLst/>
          </a:prstGeom>
          <a:noFill/>
        </p:spPr>
        <p:txBody>
          <a:bodyPr wrap="square" anchor="t" lIns="45720" rIns="45720">
            <a:spAutoFit/>
          </a:bodyPr>
          <a:lstStyle/>
          <a:p>
            <a:pPr algn="l">
              <a:spcAft>
                <a:spcPts val="400"/>
              </a:spcAft>
            </a:pPr>
            <a:r>
              <a:rPr sz="1500" b="1">
                <a:solidFill>
                  <a:srgbClr val="16854A"/>
                </a:solidFill>
                <a:latin typeface="Arial"/>
              </a:rPr>
              <a:t>FOUNDATIONS</a:t>
            </a:r>
          </a:p>
        </p:txBody>
      </p:sp>
      <p:sp>
        <p:nvSpPr>
          <p:cNvPr id="6" name="TextBox 5"/>
          <p:cNvSpPr txBox="1"/>
          <p:nvPr/>
        </p:nvSpPr>
        <p:spPr>
          <a:xfrm>
            <a:off x="1161288" y="2587752"/>
            <a:ext cx="9875520" cy="1325880"/>
          </a:xfrm>
          <a:prstGeom prst="rect">
            <a:avLst/>
          </a:prstGeom>
          <a:noFill/>
        </p:spPr>
        <p:txBody>
          <a:bodyPr wrap="square" anchor="ctr" lIns="45720" rIns="45720">
            <a:spAutoFit/>
          </a:bodyPr>
          <a:lstStyle/>
          <a:p>
            <a:pPr algn="l">
              <a:spcAft>
                <a:spcPts val="400"/>
              </a:spcAft>
            </a:pPr>
            <a:r>
              <a:rPr sz="3900" b="1">
                <a:solidFill>
                  <a:srgbClr val="161B26"/>
                </a:solidFill>
                <a:latin typeface="Arial"/>
              </a:rPr>
              <a:t>Environmental management that changes real outcomes</a:t>
            </a:r>
          </a:p>
        </p:txBody>
      </p:sp>
      <p:sp>
        <p:nvSpPr>
          <p:cNvPr id="7" name="TextBox 6"/>
          <p:cNvSpPr txBox="1"/>
          <p:nvPr/>
        </p:nvSpPr>
        <p:spPr>
          <a:xfrm>
            <a:off x="1170432" y="4096512"/>
            <a:ext cx="9875520" cy="731520"/>
          </a:xfrm>
          <a:prstGeom prst="rect">
            <a:avLst/>
          </a:prstGeom>
          <a:noFill/>
        </p:spPr>
        <p:txBody>
          <a:bodyPr wrap="square" anchor="t" lIns="45720" rIns="45720">
            <a:spAutoFit/>
          </a:bodyPr>
          <a:lstStyle/>
          <a:p>
            <a:pPr algn="l">
              <a:spcAft>
                <a:spcPts val="400"/>
              </a:spcAft>
            </a:pPr>
            <a:r>
              <a:rPr sz="1600" b="0">
                <a:solidFill>
                  <a:srgbClr val="5B6372"/>
                </a:solidFill>
                <a:latin typeface="Arial"/>
              </a:rPr>
              <a:t>ISO 14001:2026 | EMS purpose | PDCA | evidence | certification</a:t>
            </a:r>
          </a:p>
        </p:txBody>
      </p:sp>
      <p:sp>
        <p:nvSpPr>
          <p:cNvPr id="8" name="TextBox 7"/>
          <p:cNvSpPr txBox="1"/>
          <p:nvPr/>
        </p:nvSpPr>
        <p:spPr>
          <a:xfrm>
            <a:off x="9464040" y="502920"/>
            <a:ext cx="2103120" cy="1234440"/>
          </a:xfrm>
          <a:prstGeom prst="rect">
            <a:avLst/>
          </a:prstGeom>
          <a:noFill/>
        </p:spPr>
        <p:txBody>
          <a:bodyPr wrap="square" anchor="t" lIns="45720" rIns="45720">
            <a:spAutoFit/>
          </a:bodyPr>
          <a:lstStyle/>
          <a:p>
            <a:pPr algn="r">
              <a:spcAft>
                <a:spcPts val="400"/>
              </a:spcAft>
            </a:pPr>
            <a:r>
              <a:rPr sz="6800" b="1">
                <a:solidFill>
                  <a:srgbClr val="E2E8F0"/>
                </a:solidFill>
                <a:latin typeface="Arial"/>
              </a:rPr>
              <a:t>F</a:t>
            </a:r>
          </a:p>
        </p:txBody>
      </p:sp>
      <p:sp>
        <p:nvSpPr>
          <p:cNvPr id="9" name="TextBox 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0" name="TextBox 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1" name="TextBox 1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17</a:t>
            </a:r>
          </a:p>
        </p:txBody>
      </p:sp>
    </p:spTree>
  </p:cSld>
  <p:clrMapOvr>
    <a:masterClrMapping/>
  </p:clrMapOvr>
  <p:transition spd="med" advClick="1">
    <p:push dir="l"/>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828800"/>
            <a:ext cx="10241280" cy="365760"/>
          </a:xfrm>
          <a:prstGeom prst="rect">
            <a:avLst/>
          </a:prstGeom>
          <a:noFill/>
        </p:spPr>
        <p:txBody>
          <a:bodyPr wrap="square" anchor="t" lIns="45720" rIns="45720">
            <a:spAutoFit/>
          </a:bodyPr>
          <a:lstStyle/>
          <a:p>
            <a:pPr algn="l">
              <a:spcAft>
                <a:spcPts val="400"/>
              </a:spcAft>
            </a:pPr>
            <a:r>
              <a:rPr sz="1400" b="1">
                <a:solidFill>
                  <a:srgbClr val="16854A"/>
                </a:solidFill>
                <a:latin typeface="Arial"/>
              </a:rPr>
              <a:t>ENVIRONMENTAL MANAGEMENT</a:t>
            </a:r>
          </a:p>
        </p:txBody>
      </p:sp>
      <p:sp>
        <p:nvSpPr>
          <p:cNvPr id="5" name="TextBox 4"/>
          <p:cNvSpPr txBox="1"/>
          <p:nvPr/>
        </p:nvSpPr>
        <p:spPr>
          <a:xfrm>
            <a:off x="960120" y="2359152"/>
            <a:ext cx="10241280" cy="1874519"/>
          </a:xfrm>
          <a:prstGeom prst="rect">
            <a:avLst/>
          </a:prstGeom>
          <a:noFill/>
        </p:spPr>
        <p:txBody>
          <a:bodyPr wrap="square" anchor="ctr" lIns="45720" rIns="45720">
            <a:spAutoFit/>
          </a:bodyPr>
          <a:lstStyle/>
          <a:p>
            <a:pPr algn="l">
              <a:spcAft>
                <a:spcPts val="400"/>
              </a:spcAft>
            </a:pPr>
            <a:r>
              <a:rPr sz="3700" b="1">
                <a:solidFill>
                  <a:srgbClr val="161B26"/>
                </a:solidFill>
                <a:latin typeface="Arial"/>
              </a:rPr>
              <a:t>An EMS is not a green binder.</a:t>
            </a:r>
          </a:p>
        </p:txBody>
      </p:sp>
      <p:sp>
        <p:nvSpPr>
          <p:cNvPr id="6" name="TextBox 5"/>
          <p:cNvSpPr txBox="1"/>
          <p:nvPr/>
        </p:nvSpPr>
        <p:spPr>
          <a:xfrm>
            <a:off x="969264" y="4498848"/>
            <a:ext cx="10149840" cy="914400"/>
          </a:xfrm>
          <a:prstGeom prst="rect">
            <a:avLst/>
          </a:prstGeom>
          <a:noFill/>
        </p:spPr>
        <p:txBody>
          <a:bodyPr wrap="square" anchor="t" lIns="45720" rIns="45720">
            <a:spAutoFit/>
          </a:bodyPr>
          <a:lstStyle/>
          <a:p>
            <a:pPr algn="l">
              <a:spcAft>
                <a:spcPts val="400"/>
              </a:spcAft>
            </a:pPr>
            <a:r>
              <a:rPr sz="1800" b="0">
                <a:solidFill>
                  <a:srgbClr val="5B6372"/>
                </a:solidFill>
                <a:latin typeface="Arial"/>
              </a:rPr>
              <a:t>It is how the organisation identifies interactions, controls risks, meets obligations and improves environmental performance.</a:t>
            </a:r>
          </a:p>
        </p:txBody>
      </p:sp>
      <p:sp>
        <p:nvSpPr>
          <p:cNvPr id="7" name="TextBox 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8" name="TextBox 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9" name="TextBox 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FAMILY OVERVIEW</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The ISO 14000 family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1012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80"/>
            <a:ext cx="2880360" cy="603504"/>
          </a:xfrm>
          <a:prstGeom prst="rect">
            <a:avLst/>
          </a:prstGeom>
          <a:noFill/>
        </p:spPr>
        <p:txBody>
          <a:bodyPr wrap="square" anchor="ctr" lIns="45720" rIns="45720">
            <a:spAutoFit/>
          </a:bodyPr>
          <a:lstStyle/>
          <a:p>
            <a:pPr algn="l">
              <a:spcAft>
                <a:spcPts val="400"/>
              </a:spcAft>
            </a:pPr>
            <a:r>
              <a:rPr sz="1800" b="1">
                <a:solidFill>
                  <a:srgbClr val="1F6FEB"/>
                </a:solidFill>
                <a:latin typeface="Arial"/>
              </a:rPr>
              <a:t>EMS</a:t>
            </a:r>
          </a:p>
        </p:txBody>
      </p:sp>
      <p:sp>
        <p:nvSpPr>
          <p:cNvPr id="10" name="Oval 9"/>
          <p:cNvSpPr/>
          <p:nvPr/>
        </p:nvSpPr>
        <p:spPr>
          <a:xfrm>
            <a:off x="1005840" y="2788920"/>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14001 requirements</a:t>
            </a:r>
          </a:p>
        </p:txBody>
      </p:sp>
      <p:sp>
        <p:nvSpPr>
          <p:cNvPr id="12" name="Oval 11"/>
          <p:cNvSpPr/>
          <p:nvPr/>
        </p:nvSpPr>
        <p:spPr>
          <a:xfrm>
            <a:off x="1005840" y="3511296"/>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14004 guidance</a:t>
            </a:r>
          </a:p>
        </p:txBody>
      </p:sp>
      <p:sp>
        <p:nvSpPr>
          <p:cNvPr id="14" name="Oval 13"/>
          <p:cNvSpPr/>
          <p:nvPr/>
        </p:nvSpPr>
        <p:spPr>
          <a:xfrm>
            <a:off x="1005840" y="4233672"/>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14005 phased implementation</a:t>
            </a:r>
          </a:p>
        </p:txBody>
      </p:sp>
      <p:sp>
        <p:nvSpPr>
          <p:cNvPr id="16" name="Rounded Rectangle 15"/>
          <p:cNvSpPr/>
          <p:nvPr/>
        </p:nvSpPr>
        <p:spPr>
          <a:xfrm>
            <a:off x="4553712"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3712" y="1783080"/>
            <a:ext cx="3310128"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011680"/>
            <a:ext cx="2880360" cy="603504"/>
          </a:xfrm>
          <a:prstGeom prst="rect">
            <a:avLst/>
          </a:prstGeom>
          <a:noFill/>
        </p:spPr>
        <p:txBody>
          <a:bodyPr wrap="square" anchor="ctr" lIns="45720" rIns="45720">
            <a:spAutoFit/>
          </a:bodyPr>
          <a:lstStyle/>
          <a:p>
            <a:pPr algn="l">
              <a:spcAft>
                <a:spcPts val="400"/>
              </a:spcAft>
            </a:pPr>
            <a:r>
              <a:rPr sz="1800" b="1">
                <a:solidFill>
                  <a:srgbClr val="0F9D8A"/>
                </a:solidFill>
                <a:latin typeface="Arial"/>
              </a:rPr>
              <a:t>Performance and claims</a:t>
            </a:r>
          </a:p>
        </p:txBody>
      </p:sp>
      <p:sp>
        <p:nvSpPr>
          <p:cNvPr id="19" name="Oval 18"/>
          <p:cNvSpPr/>
          <p:nvPr/>
        </p:nvSpPr>
        <p:spPr>
          <a:xfrm>
            <a:off x="4782312" y="2788920"/>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2352"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14031 evaluation</a:t>
            </a:r>
          </a:p>
        </p:txBody>
      </p:sp>
      <p:sp>
        <p:nvSpPr>
          <p:cNvPr id="21" name="Oval 20"/>
          <p:cNvSpPr/>
          <p:nvPr/>
        </p:nvSpPr>
        <p:spPr>
          <a:xfrm>
            <a:off x="4782312" y="3511296"/>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02352"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14020 series labels</a:t>
            </a:r>
          </a:p>
        </p:txBody>
      </p:sp>
      <p:sp>
        <p:nvSpPr>
          <p:cNvPr id="23" name="Oval 22"/>
          <p:cNvSpPr/>
          <p:nvPr/>
        </p:nvSpPr>
        <p:spPr>
          <a:xfrm>
            <a:off x="4782312" y="4233672"/>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2352"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14064 series GHG</a:t>
            </a:r>
          </a:p>
        </p:txBody>
      </p:sp>
      <p:sp>
        <p:nvSpPr>
          <p:cNvPr id="25" name="Rounded Rectangle 24"/>
          <p:cNvSpPr/>
          <p:nvPr/>
        </p:nvSpPr>
        <p:spPr>
          <a:xfrm>
            <a:off x="8330183"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30183" y="1783080"/>
            <a:ext cx="331012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39" y="2011680"/>
            <a:ext cx="2880360" cy="603504"/>
          </a:xfrm>
          <a:prstGeom prst="rect">
            <a:avLst/>
          </a:prstGeom>
          <a:noFill/>
        </p:spPr>
        <p:txBody>
          <a:bodyPr wrap="square" anchor="ctr" lIns="45720" rIns="45720">
            <a:spAutoFit/>
          </a:bodyPr>
          <a:lstStyle/>
          <a:p>
            <a:pPr algn="l">
              <a:spcAft>
                <a:spcPts val="400"/>
              </a:spcAft>
            </a:pPr>
            <a:r>
              <a:rPr sz="1800" b="1">
                <a:solidFill>
                  <a:srgbClr val="7C3AED"/>
                </a:solidFill>
                <a:latin typeface="Arial"/>
              </a:rPr>
              <a:t>Life cycle and footprints</a:t>
            </a:r>
          </a:p>
        </p:txBody>
      </p:sp>
      <p:sp>
        <p:nvSpPr>
          <p:cNvPr id="28" name="Oval 27"/>
          <p:cNvSpPr/>
          <p:nvPr/>
        </p:nvSpPr>
        <p:spPr>
          <a:xfrm>
            <a:off x="8558783" y="27889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78823"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14040/14044 LCA</a:t>
            </a:r>
          </a:p>
        </p:txBody>
      </p:sp>
      <p:sp>
        <p:nvSpPr>
          <p:cNvPr id="30" name="Oval 29"/>
          <p:cNvSpPr/>
          <p:nvPr/>
        </p:nvSpPr>
        <p:spPr>
          <a:xfrm>
            <a:off x="8558783" y="35112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3"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14046 water footprint</a:t>
            </a:r>
          </a:p>
        </p:txBody>
      </p:sp>
      <p:sp>
        <p:nvSpPr>
          <p:cNvPr id="32" name="Oval 31"/>
          <p:cNvSpPr/>
          <p:nvPr/>
        </p:nvSpPr>
        <p:spPr>
          <a:xfrm>
            <a:off x="8558783" y="4233672"/>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78823"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14067 product carbon footprint</a:t>
            </a:r>
          </a:p>
        </p:txBody>
      </p:sp>
      <p:sp>
        <p:nvSpPr>
          <p:cNvPr id="34" name="TextBox 3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5" name="TextBox 3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CURRENT EDITION</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Current standard status - 20 August 2026</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17395"/>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17395"/>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1828800"/>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ISO 14001:2026, Environmental management systems - Requirements with guidance for use</a:t>
            </a:r>
          </a:p>
        </p:txBody>
      </p:sp>
      <p:sp>
        <p:nvSpPr>
          <p:cNvPr id="12" name="Rounded Rectangle 11"/>
          <p:cNvSpPr/>
          <p:nvPr/>
        </p:nvSpPr>
        <p:spPr>
          <a:xfrm>
            <a:off x="777240" y="2910078"/>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10078"/>
            <a:ext cx="82296" cy="96240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44393"/>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44393"/>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955798"/>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Edition 4 was published on 15 April 2026.</a:t>
            </a:r>
          </a:p>
        </p:txBody>
      </p:sp>
      <p:sp>
        <p:nvSpPr>
          <p:cNvPr id="17" name="Rounded Rectangle 16"/>
          <p:cNvSpPr/>
          <p:nvPr/>
        </p:nvSpPr>
        <p:spPr>
          <a:xfrm>
            <a:off x="777240" y="4037076"/>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1391"/>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1391"/>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4082796"/>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ISO 14001:2015 and ISO 14001:2015/Amd 1:2024 are withdrawn; their climate considerations are incorporated into the current edition.</a:t>
            </a:r>
          </a:p>
        </p:txBody>
      </p:sp>
      <p:sp>
        <p:nvSpPr>
          <p:cNvPr id="22" name="Rounded Rectangle 21"/>
          <p:cNvSpPr/>
          <p:nvPr/>
        </p:nvSpPr>
        <p:spPr>
          <a:xfrm>
            <a:off x="777240" y="5164074"/>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64074"/>
            <a:ext cx="82296" cy="96240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 y="5398389"/>
            <a:ext cx="493776" cy="49377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 y="5398389"/>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5209794"/>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Existing certified organisations should confirm transition arrangements with their accredited certification body and manage the gap review as controlled change.</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2026 EDITION</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What ISO 14001:2026 sharpens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16865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Environmental conditions</a:t>
            </a:r>
          </a:p>
          <a:p>
            <a:pPr algn="l">
              <a:spcAft>
                <a:spcPts val="300"/>
              </a:spcAft>
            </a:pPr>
            <a:r>
              <a:rPr sz="1220" b="0">
                <a:solidFill>
                  <a:srgbClr val="5B6372"/>
                </a:solidFill>
                <a:latin typeface="Arial"/>
              </a:rPr>
              <a:t>More explicit attention to pollution, resources, climate, biodiversity and ecosystem health.</a:t>
            </a:r>
          </a:p>
        </p:txBody>
      </p:sp>
      <p:sp>
        <p:nvSpPr>
          <p:cNvPr id="12" name="Rounded Rectangle 11"/>
          <p:cNvSpPr/>
          <p:nvPr/>
        </p:nvSpPr>
        <p:spPr>
          <a:xfrm>
            <a:off x="6231636"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68652"/>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Leadership</a:t>
            </a:r>
          </a:p>
          <a:p>
            <a:pPr algn="l">
              <a:spcAft>
                <a:spcPts val="300"/>
              </a:spcAft>
            </a:pPr>
            <a:r>
              <a:rPr sz="1220" b="0">
                <a:solidFill>
                  <a:srgbClr val="5B6372"/>
                </a:solidFill>
                <a:latin typeface="Arial"/>
              </a:rPr>
              <a:t>Stronger accountability and support for all relevant roles.</a:t>
            </a:r>
          </a:p>
        </p:txBody>
      </p:sp>
      <p:sp>
        <p:nvSpPr>
          <p:cNvPr id="17" name="Rounded Rectangle 16"/>
          <p:cNvSpPr/>
          <p:nvPr/>
        </p:nvSpPr>
        <p:spPr>
          <a:xfrm>
            <a:off x="777240"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4032"/>
            <a:ext cx="82296" cy="13014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68960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Life-cycle scope</a:t>
            </a:r>
          </a:p>
          <a:p>
            <a:pPr algn="l">
              <a:spcAft>
                <a:spcPts val="300"/>
              </a:spcAft>
            </a:pPr>
            <a:r>
              <a:rPr sz="1220" b="0">
                <a:solidFill>
                  <a:srgbClr val="5B6372"/>
                </a:solidFill>
                <a:latin typeface="Arial"/>
              </a:rPr>
              <a:t>Life-cycle perspective is clearer when setting scope and managing the value chain.</a:t>
            </a:r>
          </a:p>
        </p:txBody>
      </p:sp>
      <p:sp>
        <p:nvSpPr>
          <p:cNvPr id="22" name="Rounded Rectangle 21"/>
          <p:cNvSpPr/>
          <p:nvPr/>
        </p:nvSpPr>
        <p:spPr>
          <a:xfrm>
            <a:off x="6231636"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04032"/>
            <a:ext cx="82296" cy="13014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689604"/>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Planned change</a:t>
            </a:r>
          </a:p>
          <a:p>
            <a:pPr algn="l">
              <a:spcAft>
                <a:spcPts val="300"/>
              </a:spcAft>
            </a:pPr>
            <a:r>
              <a:rPr sz="1220" b="0">
                <a:solidFill>
                  <a:srgbClr val="5B6372"/>
                </a:solidFill>
                <a:latin typeface="Arial"/>
              </a:rPr>
              <a:t>New Clause 6.3 formalises planning and managing EMS-affecting changes.</a:t>
            </a:r>
          </a:p>
        </p:txBody>
      </p:sp>
      <p:sp>
        <p:nvSpPr>
          <p:cNvPr id="27" name="Rounded Rectangle 26"/>
          <p:cNvSpPr/>
          <p:nvPr/>
        </p:nvSpPr>
        <p:spPr>
          <a:xfrm>
            <a:off x="777240"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4984"/>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521055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737360"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Emergencies</a:t>
            </a:r>
          </a:p>
          <a:p>
            <a:pPr algn="l">
              <a:spcAft>
                <a:spcPts val="300"/>
              </a:spcAft>
            </a:pPr>
            <a:r>
              <a:rPr sz="1220" b="0">
                <a:solidFill>
                  <a:srgbClr val="5B6372"/>
                </a:solidFill>
                <a:latin typeface="Arial"/>
              </a:rPr>
              <a:t>Consider all identified potential emergency situations.</a:t>
            </a:r>
          </a:p>
        </p:txBody>
      </p:sp>
      <p:sp>
        <p:nvSpPr>
          <p:cNvPr id="32" name="Rounded Rectangle 31"/>
          <p:cNvSpPr/>
          <p:nvPr/>
        </p:nvSpPr>
        <p:spPr>
          <a:xfrm>
            <a:off x="6231636"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24984"/>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10556"/>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191756"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Governance</a:t>
            </a:r>
          </a:p>
          <a:p>
            <a:pPr algn="l">
              <a:spcAft>
                <a:spcPts val="300"/>
              </a:spcAft>
            </a:pPr>
            <a:r>
              <a:rPr sz="1220" b="0">
                <a:solidFill>
                  <a:srgbClr val="5B6372"/>
                </a:solidFill>
                <a:latin typeface="Arial"/>
              </a:rPr>
              <a:t>Clearer audit objectives, review results and measurable outcomes.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SYSTEM THINKING</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Environmental management: three linked lenses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1012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80"/>
            <a:ext cx="2880360" cy="603504"/>
          </a:xfrm>
          <a:prstGeom prst="rect">
            <a:avLst/>
          </a:prstGeom>
          <a:noFill/>
        </p:spPr>
        <p:txBody>
          <a:bodyPr wrap="square" anchor="ctr" lIns="45720" rIns="45720">
            <a:spAutoFit/>
          </a:bodyPr>
          <a:lstStyle/>
          <a:p>
            <a:pPr algn="l">
              <a:spcAft>
                <a:spcPts val="400"/>
              </a:spcAft>
            </a:pPr>
            <a:r>
              <a:rPr sz="1800" b="1">
                <a:solidFill>
                  <a:srgbClr val="1F6FEB"/>
                </a:solidFill>
                <a:latin typeface="Arial"/>
              </a:rPr>
              <a:t>Inside-out impacts</a:t>
            </a:r>
          </a:p>
        </p:txBody>
      </p:sp>
      <p:sp>
        <p:nvSpPr>
          <p:cNvPr id="10" name="Oval 9"/>
          <p:cNvSpPr/>
          <p:nvPr/>
        </p:nvSpPr>
        <p:spPr>
          <a:xfrm>
            <a:off x="1005840" y="2788920"/>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How activities affect air, water, land</a:t>
            </a:r>
          </a:p>
        </p:txBody>
      </p:sp>
      <p:sp>
        <p:nvSpPr>
          <p:cNvPr id="12" name="Oval 11"/>
          <p:cNvSpPr/>
          <p:nvPr/>
        </p:nvSpPr>
        <p:spPr>
          <a:xfrm>
            <a:off x="1005840" y="3511296"/>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Resources, climate and biodiversity</a:t>
            </a:r>
          </a:p>
        </p:txBody>
      </p:sp>
      <p:sp>
        <p:nvSpPr>
          <p:cNvPr id="14" name="Oval 13"/>
          <p:cNvSpPr/>
          <p:nvPr/>
        </p:nvSpPr>
        <p:spPr>
          <a:xfrm>
            <a:off x="1005840" y="4233672"/>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Normal, abnormal and emergency</a:t>
            </a:r>
          </a:p>
        </p:txBody>
      </p:sp>
      <p:sp>
        <p:nvSpPr>
          <p:cNvPr id="16" name="Rounded Rectangle 15"/>
          <p:cNvSpPr/>
          <p:nvPr/>
        </p:nvSpPr>
        <p:spPr>
          <a:xfrm>
            <a:off x="4553712"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3712" y="1783080"/>
            <a:ext cx="3310128"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011680"/>
            <a:ext cx="2880360" cy="603504"/>
          </a:xfrm>
          <a:prstGeom prst="rect">
            <a:avLst/>
          </a:prstGeom>
          <a:noFill/>
        </p:spPr>
        <p:txBody>
          <a:bodyPr wrap="square" anchor="ctr" lIns="45720" rIns="45720">
            <a:spAutoFit/>
          </a:bodyPr>
          <a:lstStyle/>
          <a:p>
            <a:pPr algn="l">
              <a:spcAft>
                <a:spcPts val="400"/>
              </a:spcAft>
            </a:pPr>
            <a:r>
              <a:rPr sz="1800" b="1">
                <a:solidFill>
                  <a:srgbClr val="0F9D8A"/>
                </a:solidFill>
                <a:latin typeface="Arial"/>
              </a:rPr>
              <a:t>Outside-in conditions</a:t>
            </a:r>
          </a:p>
        </p:txBody>
      </p:sp>
      <p:sp>
        <p:nvSpPr>
          <p:cNvPr id="19" name="Oval 18"/>
          <p:cNvSpPr/>
          <p:nvPr/>
        </p:nvSpPr>
        <p:spPr>
          <a:xfrm>
            <a:off x="4782312" y="2788920"/>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2352"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Climate and resource constraints</a:t>
            </a:r>
          </a:p>
        </p:txBody>
      </p:sp>
      <p:sp>
        <p:nvSpPr>
          <p:cNvPr id="21" name="Oval 20"/>
          <p:cNvSpPr/>
          <p:nvPr/>
        </p:nvSpPr>
        <p:spPr>
          <a:xfrm>
            <a:off x="4782312" y="3511296"/>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02352"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Ecosystem and pollution conditions</a:t>
            </a:r>
          </a:p>
        </p:txBody>
      </p:sp>
      <p:sp>
        <p:nvSpPr>
          <p:cNvPr id="23" name="Oval 22"/>
          <p:cNvSpPr/>
          <p:nvPr/>
        </p:nvSpPr>
        <p:spPr>
          <a:xfrm>
            <a:off x="4782312" y="4233672"/>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2352"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How they affect EMS outcomes</a:t>
            </a:r>
          </a:p>
        </p:txBody>
      </p:sp>
      <p:sp>
        <p:nvSpPr>
          <p:cNvPr id="25" name="Rounded Rectangle 24"/>
          <p:cNvSpPr/>
          <p:nvPr/>
        </p:nvSpPr>
        <p:spPr>
          <a:xfrm>
            <a:off x="8330183"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30183" y="1783080"/>
            <a:ext cx="331012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39" y="2011680"/>
            <a:ext cx="2880360" cy="603504"/>
          </a:xfrm>
          <a:prstGeom prst="rect">
            <a:avLst/>
          </a:prstGeom>
          <a:noFill/>
        </p:spPr>
        <p:txBody>
          <a:bodyPr wrap="square" anchor="ctr" lIns="45720" rIns="45720">
            <a:spAutoFit/>
          </a:bodyPr>
          <a:lstStyle/>
          <a:p>
            <a:pPr algn="l">
              <a:spcAft>
                <a:spcPts val="400"/>
              </a:spcAft>
            </a:pPr>
            <a:r>
              <a:rPr sz="1800" b="1">
                <a:solidFill>
                  <a:srgbClr val="7C3AED"/>
                </a:solidFill>
                <a:latin typeface="Arial"/>
              </a:rPr>
              <a:t>Management-system response</a:t>
            </a:r>
          </a:p>
        </p:txBody>
      </p:sp>
      <p:sp>
        <p:nvSpPr>
          <p:cNvPr id="28" name="Oval 27"/>
          <p:cNvSpPr/>
          <p:nvPr/>
        </p:nvSpPr>
        <p:spPr>
          <a:xfrm>
            <a:off x="8558783" y="27889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78823"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Governance and obligations</a:t>
            </a:r>
          </a:p>
        </p:txBody>
      </p:sp>
      <p:sp>
        <p:nvSpPr>
          <p:cNvPr id="30" name="Oval 29"/>
          <p:cNvSpPr/>
          <p:nvPr/>
        </p:nvSpPr>
        <p:spPr>
          <a:xfrm>
            <a:off x="8558783" y="35112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3"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Controls, competence and evidence</a:t>
            </a:r>
          </a:p>
        </p:txBody>
      </p:sp>
      <p:sp>
        <p:nvSpPr>
          <p:cNvPr id="32" name="Oval 31"/>
          <p:cNvSpPr/>
          <p:nvPr/>
        </p:nvSpPr>
        <p:spPr>
          <a:xfrm>
            <a:off x="8558783" y="4233672"/>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78823"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Evaluation and improvement</a:t>
            </a:r>
          </a:p>
        </p:txBody>
      </p:sp>
      <p:sp>
        <p:nvSpPr>
          <p:cNvPr id="34" name="TextBox 3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5" name="TextBox 3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CORE VOCABULARY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Aspect, impact and environmental hazard</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Aspect and impact</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Aspect: an element that can interact with the environment</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Impact: the resulting adverse or beneficial environmental change</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Example: electricity use -&gt; resource use and GHG emissions</a:t>
            </a:r>
          </a:p>
        </p:txBody>
      </p:sp>
      <p:sp>
        <p:nvSpPr>
          <p:cNvPr id="19" name="Rounded Rectangle 18"/>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Hazard and risk</a:t>
            </a:r>
          </a:p>
        </p:txBody>
      </p:sp>
      <p:sp>
        <p:nvSpPr>
          <p:cNvPr id="22" name="Oval 21"/>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4" name="TextBox 23"/>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Hazard/source: inherent potential to cause harm</a:t>
            </a:r>
          </a:p>
        </p:txBody>
      </p:sp>
      <p:sp>
        <p:nvSpPr>
          <p:cNvPr id="25" name="Oval 24"/>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27" name="TextBox 26"/>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Risk considers uncertainty, pathways, likelihood and consequence</a:t>
            </a:r>
          </a:p>
        </p:txBody>
      </p:sp>
      <p:sp>
        <p:nvSpPr>
          <p:cNvPr id="28" name="Oval 27"/>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0" name="TextBox 29"/>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Do not label every hazard as a significant aspect without criteria</a:t>
            </a:r>
          </a:p>
        </p:txBody>
      </p:sp>
      <p:sp>
        <p:nvSpPr>
          <p:cNvPr id="31" name="TextBox 3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2" name="TextBox 3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3" name="TextBox 3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PROCESS APPROACH</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PDCA: the operating rhythm of an EMS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926080" y="2468880"/>
            <a:ext cx="2331720" cy="1298448"/>
          </a:xfrm>
          <a:prstGeom prst="ellipse">
            <a:avLst/>
          </a:prstGeom>
          <a:solidFill>
            <a:srgbClr val="F5F8FC"/>
          </a:solidFill>
          <a:ln>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26080" y="2578608"/>
            <a:ext cx="2331720" cy="384048"/>
          </a:xfrm>
          <a:prstGeom prst="rect">
            <a:avLst/>
          </a:prstGeom>
          <a:noFill/>
        </p:spPr>
        <p:txBody>
          <a:bodyPr wrap="square" anchor="t" lIns="45720" rIns="45720">
            <a:spAutoFit/>
          </a:bodyPr>
          <a:lstStyle/>
          <a:p>
            <a:pPr algn="ctr">
              <a:spcAft>
                <a:spcPts val="400"/>
              </a:spcAft>
            </a:pPr>
            <a:r>
              <a:rPr sz="1800" b="1">
                <a:solidFill>
                  <a:srgbClr val="1F6FEB"/>
                </a:solidFill>
                <a:latin typeface="Arial"/>
              </a:rPr>
              <a:t>PLAN</a:t>
            </a:r>
          </a:p>
        </p:txBody>
      </p:sp>
      <p:sp>
        <p:nvSpPr>
          <p:cNvPr id="9" name="TextBox 8"/>
          <p:cNvSpPr txBox="1"/>
          <p:nvPr/>
        </p:nvSpPr>
        <p:spPr>
          <a:xfrm>
            <a:off x="3090672" y="2990088"/>
            <a:ext cx="2011680" cy="603504"/>
          </a:xfrm>
          <a:prstGeom prst="rect">
            <a:avLst/>
          </a:prstGeom>
          <a:noFill/>
        </p:spPr>
        <p:txBody>
          <a:bodyPr wrap="square" anchor="ctr" lIns="45720" rIns="45720">
            <a:spAutoFit/>
          </a:bodyPr>
          <a:lstStyle/>
          <a:p>
            <a:pPr algn="ctr">
              <a:spcAft>
                <a:spcPts val="400"/>
              </a:spcAft>
            </a:pPr>
            <a:r>
              <a:rPr sz="1150" b="0">
                <a:solidFill>
                  <a:srgbClr val="161B26"/>
                </a:solidFill>
                <a:latin typeface="Arial"/>
              </a:rPr>
              <a:t>Context, objectives, risks and controls</a:t>
            </a:r>
          </a:p>
        </p:txBody>
      </p:sp>
      <p:sp>
        <p:nvSpPr>
          <p:cNvPr id="10" name="Oval 9"/>
          <p:cNvSpPr/>
          <p:nvPr/>
        </p:nvSpPr>
        <p:spPr>
          <a:xfrm>
            <a:off x="6400800" y="2468880"/>
            <a:ext cx="2331720" cy="1298448"/>
          </a:xfrm>
          <a:prstGeom prst="ellipse">
            <a:avLst/>
          </a:prstGeom>
          <a:solidFill>
            <a:srgbClr val="F5F8FC"/>
          </a:solidFill>
          <a:ln>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2578608"/>
            <a:ext cx="2331720" cy="384048"/>
          </a:xfrm>
          <a:prstGeom prst="rect">
            <a:avLst/>
          </a:prstGeom>
          <a:noFill/>
        </p:spPr>
        <p:txBody>
          <a:bodyPr wrap="square" anchor="t" lIns="45720" rIns="45720">
            <a:spAutoFit/>
          </a:bodyPr>
          <a:lstStyle/>
          <a:p>
            <a:pPr algn="ctr">
              <a:spcAft>
                <a:spcPts val="400"/>
              </a:spcAft>
            </a:pPr>
            <a:r>
              <a:rPr sz="1800" b="1">
                <a:solidFill>
                  <a:srgbClr val="0F9D8A"/>
                </a:solidFill>
                <a:latin typeface="Arial"/>
              </a:rPr>
              <a:t>DO</a:t>
            </a:r>
          </a:p>
        </p:txBody>
      </p:sp>
      <p:sp>
        <p:nvSpPr>
          <p:cNvPr id="12" name="TextBox 11"/>
          <p:cNvSpPr txBox="1"/>
          <p:nvPr/>
        </p:nvSpPr>
        <p:spPr>
          <a:xfrm>
            <a:off x="6565392" y="2990088"/>
            <a:ext cx="2011680" cy="603504"/>
          </a:xfrm>
          <a:prstGeom prst="rect">
            <a:avLst/>
          </a:prstGeom>
          <a:noFill/>
        </p:spPr>
        <p:txBody>
          <a:bodyPr wrap="square" anchor="ctr" lIns="45720" rIns="45720">
            <a:spAutoFit/>
          </a:bodyPr>
          <a:lstStyle/>
          <a:p>
            <a:pPr algn="ctr">
              <a:spcAft>
                <a:spcPts val="400"/>
              </a:spcAft>
            </a:pPr>
            <a:r>
              <a:rPr sz="1150" b="0">
                <a:solidFill>
                  <a:srgbClr val="161B26"/>
                </a:solidFill>
                <a:latin typeface="Arial"/>
              </a:rPr>
              <a:t>Resources, operation and documented methods</a:t>
            </a:r>
          </a:p>
        </p:txBody>
      </p:sp>
      <p:sp>
        <p:nvSpPr>
          <p:cNvPr id="13" name="Oval 12"/>
          <p:cNvSpPr/>
          <p:nvPr/>
        </p:nvSpPr>
        <p:spPr>
          <a:xfrm>
            <a:off x="6400800" y="4663440"/>
            <a:ext cx="2331720" cy="1298448"/>
          </a:xfrm>
          <a:prstGeom prst="ellipse">
            <a:avLst/>
          </a:prstGeom>
          <a:solidFill>
            <a:srgbClr val="F5F8FC"/>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4773168"/>
            <a:ext cx="2331720" cy="384048"/>
          </a:xfrm>
          <a:prstGeom prst="rect">
            <a:avLst/>
          </a:prstGeom>
          <a:noFill/>
        </p:spPr>
        <p:txBody>
          <a:bodyPr wrap="square" anchor="t" lIns="45720" rIns="45720">
            <a:spAutoFit/>
          </a:bodyPr>
          <a:lstStyle/>
          <a:p>
            <a:pPr algn="ctr">
              <a:spcAft>
                <a:spcPts val="400"/>
              </a:spcAft>
            </a:pPr>
            <a:r>
              <a:rPr sz="1800" b="1">
                <a:solidFill>
                  <a:srgbClr val="7C3AED"/>
                </a:solidFill>
                <a:latin typeface="Arial"/>
              </a:rPr>
              <a:t>CHECK</a:t>
            </a:r>
          </a:p>
        </p:txBody>
      </p:sp>
      <p:sp>
        <p:nvSpPr>
          <p:cNvPr id="15" name="TextBox 14"/>
          <p:cNvSpPr txBox="1"/>
          <p:nvPr/>
        </p:nvSpPr>
        <p:spPr>
          <a:xfrm>
            <a:off x="6565392" y="5184648"/>
            <a:ext cx="2011680" cy="603504"/>
          </a:xfrm>
          <a:prstGeom prst="rect">
            <a:avLst/>
          </a:prstGeom>
          <a:noFill/>
        </p:spPr>
        <p:txBody>
          <a:bodyPr wrap="square" anchor="ctr" lIns="45720" rIns="45720">
            <a:spAutoFit/>
          </a:bodyPr>
          <a:lstStyle/>
          <a:p>
            <a:pPr algn="ctr">
              <a:spcAft>
                <a:spcPts val="400"/>
              </a:spcAft>
            </a:pPr>
            <a:r>
              <a:rPr sz="1150" b="0">
                <a:solidFill>
                  <a:srgbClr val="161B26"/>
                </a:solidFill>
                <a:latin typeface="Arial"/>
              </a:rPr>
              <a:t>Monitor, audit, analyse and review</a:t>
            </a:r>
          </a:p>
        </p:txBody>
      </p:sp>
      <p:sp>
        <p:nvSpPr>
          <p:cNvPr id="16" name="Oval 15"/>
          <p:cNvSpPr/>
          <p:nvPr/>
        </p:nvSpPr>
        <p:spPr>
          <a:xfrm>
            <a:off x="2926080" y="4663440"/>
            <a:ext cx="2331720" cy="1298448"/>
          </a:xfrm>
          <a:prstGeom prst="ellipse">
            <a:avLst/>
          </a:prstGeom>
          <a:solidFill>
            <a:srgbClr val="F5F8FC"/>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0" y="4773168"/>
            <a:ext cx="2331720" cy="384048"/>
          </a:xfrm>
          <a:prstGeom prst="rect">
            <a:avLst/>
          </a:prstGeom>
          <a:noFill/>
        </p:spPr>
        <p:txBody>
          <a:bodyPr wrap="square" anchor="t" lIns="45720" rIns="45720">
            <a:spAutoFit/>
          </a:bodyPr>
          <a:lstStyle/>
          <a:p>
            <a:pPr algn="ctr">
              <a:spcAft>
                <a:spcPts val="400"/>
              </a:spcAft>
            </a:pPr>
            <a:r>
              <a:rPr sz="1800" b="1">
                <a:solidFill>
                  <a:srgbClr val="D97706"/>
                </a:solidFill>
                <a:latin typeface="Arial"/>
              </a:rPr>
              <a:t>ACT</a:t>
            </a:r>
          </a:p>
        </p:txBody>
      </p:sp>
      <p:sp>
        <p:nvSpPr>
          <p:cNvPr id="18" name="TextBox 17"/>
          <p:cNvSpPr txBox="1"/>
          <p:nvPr/>
        </p:nvSpPr>
        <p:spPr>
          <a:xfrm>
            <a:off x="3090672" y="5184648"/>
            <a:ext cx="2011680" cy="603504"/>
          </a:xfrm>
          <a:prstGeom prst="rect">
            <a:avLst/>
          </a:prstGeom>
          <a:noFill/>
        </p:spPr>
        <p:txBody>
          <a:bodyPr wrap="square" anchor="ctr" lIns="45720" rIns="45720">
            <a:spAutoFit/>
          </a:bodyPr>
          <a:lstStyle/>
          <a:p>
            <a:pPr algn="ctr">
              <a:spcAft>
                <a:spcPts val="400"/>
              </a:spcAft>
            </a:pPr>
            <a:r>
              <a:rPr sz="1150" b="0">
                <a:solidFill>
                  <a:srgbClr val="161B26"/>
                </a:solidFill>
                <a:latin typeface="Arial"/>
              </a:rPr>
              <a:t>Correct, improve, standardise and learn</a:t>
            </a:r>
          </a:p>
        </p:txBody>
      </p:sp>
      <p:sp>
        <p:nvSpPr>
          <p:cNvPr id="19" name="TextBox 18"/>
          <p:cNvSpPr txBox="1"/>
          <p:nvPr/>
        </p:nvSpPr>
        <p:spPr>
          <a:xfrm>
            <a:off x="5321808" y="2852928"/>
            <a:ext cx="457200" cy="457200"/>
          </a:xfrm>
          <a:prstGeom prst="rect">
            <a:avLst/>
          </a:prstGeom>
          <a:noFill/>
        </p:spPr>
        <p:txBody>
          <a:bodyPr wrap="square" anchor="t" lIns="45720" rIns="45720">
            <a:spAutoFit/>
          </a:bodyPr>
          <a:lstStyle/>
          <a:p>
            <a:pPr algn="ctr">
              <a:spcAft>
                <a:spcPts val="400"/>
              </a:spcAft>
            </a:pPr>
            <a:r>
              <a:rPr sz="1900" b="1">
                <a:solidFill>
                  <a:srgbClr val="1F6FEB"/>
                </a:solidFill>
                <a:latin typeface="Arial"/>
              </a:rPr>
              <a:t>▶</a:t>
            </a:r>
          </a:p>
        </p:txBody>
      </p:sp>
      <p:sp>
        <p:nvSpPr>
          <p:cNvPr id="20" name="TextBox 19"/>
          <p:cNvSpPr txBox="1"/>
          <p:nvPr/>
        </p:nvSpPr>
        <p:spPr>
          <a:xfrm>
            <a:off x="7114032" y="3913632"/>
            <a:ext cx="457200" cy="457200"/>
          </a:xfrm>
          <a:prstGeom prst="rect">
            <a:avLst/>
          </a:prstGeom>
          <a:noFill/>
        </p:spPr>
        <p:txBody>
          <a:bodyPr wrap="square" anchor="t" lIns="45720" rIns="45720">
            <a:spAutoFit/>
          </a:bodyPr>
          <a:lstStyle/>
          <a:p>
            <a:pPr algn="ctr">
              <a:spcAft>
                <a:spcPts val="400"/>
              </a:spcAft>
            </a:pPr>
            <a:r>
              <a:rPr sz="1900" b="1">
                <a:solidFill>
                  <a:srgbClr val="1F6FEB"/>
                </a:solidFill>
                <a:latin typeface="Arial"/>
              </a:rPr>
              <a:t>▼</a:t>
            </a:r>
          </a:p>
        </p:txBody>
      </p:sp>
      <p:sp>
        <p:nvSpPr>
          <p:cNvPr id="21" name="TextBox 20"/>
          <p:cNvSpPr txBox="1"/>
          <p:nvPr/>
        </p:nvSpPr>
        <p:spPr>
          <a:xfrm>
            <a:off x="5321808" y="5074920"/>
            <a:ext cx="457200" cy="457200"/>
          </a:xfrm>
          <a:prstGeom prst="rect">
            <a:avLst/>
          </a:prstGeom>
          <a:noFill/>
        </p:spPr>
        <p:txBody>
          <a:bodyPr wrap="square" anchor="t" lIns="45720" rIns="45720">
            <a:spAutoFit/>
          </a:bodyPr>
          <a:lstStyle/>
          <a:p>
            <a:pPr algn="ctr">
              <a:spcAft>
                <a:spcPts val="400"/>
              </a:spcAft>
            </a:pPr>
            <a:r>
              <a:rPr sz="1900" b="1">
                <a:solidFill>
                  <a:srgbClr val="1F6FEB"/>
                </a:solidFill>
                <a:latin typeface="Arial"/>
              </a:rPr>
              <a:t>◀</a:t>
            </a:r>
          </a:p>
        </p:txBody>
      </p:sp>
      <p:sp>
        <p:nvSpPr>
          <p:cNvPr id="22" name="TextBox 21"/>
          <p:cNvSpPr txBox="1"/>
          <p:nvPr/>
        </p:nvSpPr>
        <p:spPr>
          <a:xfrm>
            <a:off x="2514600" y="3913632"/>
            <a:ext cx="457200" cy="457200"/>
          </a:xfrm>
          <a:prstGeom prst="rect">
            <a:avLst/>
          </a:prstGeom>
          <a:noFill/>
        </p:spPr>
        <p:txBody>
          <a:bodyPr wrap="square" anchor="t" lIns="45720" rIns="45720">
            <a:spAutoFit/>
          </a:bodyPr>
          <a:lstStyle/>
          <a:p>
            <a:pPr algn="ctr">
              <a:spcAft>
                <a:spcPts val="400"/>
              </a:spcAft>
            </a:pPr>
            <a:r>
              <a:rPr sz="1900" b="1">
                <a:solidFill>
                  <a:srgbClr val="1F6FEB"/>
                </a:solidFill>
                <a:latin typeface="Arial"/>
              </a:rPr>
              <a:t>▲</a:t>
            </a:r>
          </a:p>
        </p:txBody>
      </p:sp>
      <p:sp>
        <p:nvSpPr>
          <p:cNvPr id="23" name="TextBox 22"/>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4" name="TextBox 23"/>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5" name="TextBox 24"/>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CLAUSES 4-10</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ISO 14001:2026 structure: context to improvement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30236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30236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80951"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8095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06462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4 Context</a:t>
            </a:r>
          </a:p>
        </p:txBody>
      </p:sp>
      <p:cxnSp>
        <p:nvCxnSpPr>
          <p:cNvPr id="12" name="Connector 11"/>
          <p:cNvCxnSpPr/>
          <p:nvPr/>
        </p:nvCxnSpPr>
        <p:spPr>
          <a:xfrm>
            <a:off x="2107038"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335638" y="2194560"/>
            <a:ext cx="130236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5638" y="2194560"/>
            <a:ext cx="130236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63934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934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2454510" y="3502152"/>
            <a:ext cx="106462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5 Leadership</a:t>
            </a:r>
          </a:p>
        </p:txBody>
      </p:sp>
      <p:cxnSp>
        <p:nvCxnSpPr>
          <p:cNvPr id="18" name="Connector 17"/>
          <p:cNvCxnSpPr/>
          <p:nvPr/>
        </p:nvCxnSpPr>
        <p:spPr>
          <a:xfrm>
            <a:off x="3665436"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894036" y="2194560"/>
            <a:ext cx="130236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94036" y="2194560"/>
            <a:ext cx="130236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197747"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977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4012908" y="3502152"/>
            <a:ext cx="106462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6 Planning</a:t>
            </a:r>
          </a:p>
        </p:txBody>
      </p:sp>
      <p:cxnSp>
        <p:nvCxnSpPr>
          <p:cNvPr id="24" name="Connector 23"/>
          <p:cNvCxnSpPr/>
          <p:nvPr/>
        </p:nvCxnSpPr>
        <p:spPr>
          <a:xfrm>
            <a:off x="5223834"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452434" y="2194560"/>
            <a:ext cx="130236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52434" y="2194560"/>
            <a:ext cx="130236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75614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5614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5571306" y="3502152"/>
            <a:ext cx="106462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7 Support</a:t>
            </a:r>
          </a:p>
        </p:txBody>
      </p:sp>
      <p:cxnSp>
        <p:nvCxnSpPr>
          <p:cNvPr id="30" name="Connector 29"/>
          <p:cNvCxnSpPr/>
          <p:nvPr/>
        </p:nvCxnSpPr>
        <p:spPr>
          <a:xfrm>
            <a:off x="6782232"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010832" y="2194560"/>
            <a:ext cx="130236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010832" y="2194560"/>
            <a:ext cx="130236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14543"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454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7129704" y="3502152"/>
            <a:ext cx="106462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8 Operation</a:t>
            </a:r>
          </a:p>
        </p:txBody>
      </p:sp>
      <p:cxnSp>
        <p:nvCxnSpPr>
          <p:cNvPr id="36" name="Connector 35"/>
          <p:cNvCxnSpPr/>
          <p:nvPr/>
        </p:nvCxnSpPr>
        <p:spPr>
          <a:xfrm>
            <a:off x="8340630"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569230" y="2194560"/>
            <a:ext cx="130236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69230" y="2194560"/>
            <a:ext cx="130236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872941"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7294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6</a:t>
            </a:r>
          </a:p>
        </p:txBody>
      </p:sp>
      <p:sp>
        <p:nvSpPr>
          <p:cNvPr id="41" name="TextBox 40"/>
          <p:cNvSpPr txBox="1"/>
          <p:nvPr/>
        </p:nvSpPr>
        <p:spPr>
          <a:xfrm>
            <a:off x="8688102" y="3502152"/>
            <a:ext cx="106462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9 Evaluate</a:t>
            </a:r>
          </a:p>
        </p:txBody>
      </p:sp>
      <p:cxnSp>
        <p:nvCxnSpPr>
          <p:cNvPr id="42" name="Connector 41"/>
          <p:cNvCxnSpPr/>
          <p:nvPr/>
        </p:nvCxnSpPr>
        <p:spPr>
          <a:xfrm>
            <a:off x="9899028"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10127628" y="2194560"/>
            <a:ext cx="130236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127628" y="2194560"/>
            <a:ext cx="130236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431339"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3133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7</a:t>
            </a:r>
          </a:p>
        </p:txBody>
      </p:sp>
      <p:sp>
        <p:nvSpPr>
          <p:cNvPr id="47" name="TextBox 46"/>
          <p:cNvSpPr txBox="1"/>
          <p:nvPr/>
        </p:nvSpPr>
        <p:spPr>
          <a:xfrm>
            <a:off x="10246500" y="3502152"/>
            <a:ext cx="106462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10 Improve</a:t>
            </a:r>
          </a:p>
        </p:txBody>
      </p:sp>
      <p:sp>
        <p:nvSpPr>
          <p:cNvPr id="48" name="TextBox 47"/>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49" name="TextBox 48"/>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50" name="TextBox 49"/>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BOUNDARIES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EMS and sustainability reporting answer different questions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What the EMS does</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EMS controls processes and environmental performance</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ISO 14001 certification audits a management system</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Evidence supports disciplined decisions and claims</a:t>
            </a:r>
          </a:p>
        </p:txBody>
      </p:sp>
      <p:sp>
        <p:nvSpPr>
          <p:cNvPr id="19" name="Rounded Rectangle 18"/>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What it does not prove</a:t>
            </a:r>
          </a:p>
        </p:txBody>
      </p:sp>
      <p:sp>
        <p:nvSpPr>
          <p:cNvPr id="22" name="Oval 21"/>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4" name="TextBox 23"/>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 sustainability report communicates selected disclosures</a:t>
            </a:r>
          </a:p>
        </p:txBody>
      </p:sp>
      <p:sp>
        <p:nvSpPr>
          <p:cNvPr id="25" name="Oval 24"/>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27" name="TextBox 26"/>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 carbon inventory answers a narrower measurement question</a:t>
            </a:r>
          </a:p>
        </p:txBody>
      </p:sp>
      <p:sp>
        <p:nvSpPr>
          <p:cNvPr id="28" name="Oval 27"/>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0" name="TextBox 29"/>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Certification does not certify every product or legal status</a:t>
            </a:r>
          </a:p>
        </p:txBody>
      </p:sp>
      <p:sp>
        <p:nvSpPr>
          <p:cNvPr id="31" name="TextBox 3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2" name="TextBox 3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3" name="TextBox 3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BENEFITS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Why organisations use ISO 14001</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1012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80"/>
            <a:ext cx="2880360" cy="603504"/>
          </a:xfrm>
          <a:prstGeom prst="rect">
            <a:avLst/>
          </a:prstGeom>
          <a:noFill/>
        </p:spPr>
        <p:txBody>
          <a:bodyPr wrap="square" anchor="ctr" lIns="45720" rIns="45720">
            <a:spAutoFit/>
          </a:bodyPr>
          <a:lstStyle/>
          <a:p>
            <a:pPr algn="l">
              <a:spcAft>
                <a:spcPts val="400"/>
              </a:spcAft>
            </a:pPr>
            <a:r>
              <a:rPr sz="1800" b="1">
                <a:solidFill>
                  <a:srgbClr val="1F6FEB"/>
                </a:solidFill>
                <a:latin typeface="Arial"/>
              </a:rPr>
              <a:t>Environmental value</a:t>
            </a:r>
          </a:p>
        </p:txBody>
      </p:sp>
      <p:sp>
        <p:nvSpPr>
          <p:cNvPr id="10" name="Oval 9"/>
          <p:cNvSpPr/>
          <p:nvPr/>
        </p:nvSpPr>
        <p:spPr>
          <a:xfrm>
            <a:off x="1005840" y="2788920"/>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Prevent pollution and incidents</a:t>
            </a:r>
          </a:p>
        </p:txBody>
      </p:sp>
      <p:sp>
        <p:nvSpPr>
          <p:cNvPr id="12" name="Oval 11"/>
          <p:cNvSpPr/>
          <p:nvPr/>
        </p:nvSpPr>
        <p:spPr>
          <a:xfrm>
            <a:off x="1005840" y="3511296"/>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Improve resource efficiency</a:t>
            </a:r>
          </a:p>
        </p:txBody>
      </p:sp>
      <p:sp>
        <p:nvSpPr>
          <p:cNvPr id="14" name="Oval 13"/>
          <p:cNvSpPr/>
          <p:nvPr/>
        </p:nvSpPr>
        <p:spPr>
          <a:xfrm>
            <a:off x="1005840" y="4233672"/>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Address climate and biodiversity</a:t>
            </a:r>
          </a:p>
        </p:txBody>
      </p:sp>
      <p:sp>
        <p:nvSpPr>
          <p:cNvPr id="16" name="Rounded Rectangle 15"/>
          <p:cNvSpPr/>
          <p:nvPr/>
        </p:nvSpPr>
        <p:spPr>
          <a:xfrm>
            <a:off x="4553712"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3712" y="1783080"/>
            <a:ext cx="3310128"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011680"/>
            <a:ext cx="2880360" cy="603504"/>
          </a:xfrm>
          <a:prstGeom prst="rect">
            <a:avLst/>
          </a:prstGeom>
          <a:noFill/>
        </p:spPr>
        <p:txBody>
          <a:bodyPr wrap="square" anchor="ctr" lIns="45720" rIns="45720">
            <a:spAutoFit/>
          </a:bodyPr>
          <a:lstStyle/>
          <a:p>
            <a:pPr algn="l">
              <a:spcAft>
                <a:spcPts val="400"/>
              </a:spcAft>
            </a:pPr>
            <a:r>
              <a:rPr sz="1800" b="1">
                <a:solidFill>
                  <a:srgbClr val="0F9D8A"/>
                </a:solidFill>
                <a:latin typeface="Arial"/>
              </a:rPr>
              <a:t>Operational value</a:t>
            </a:r>
          </a:p>
        </p:txBody>
      </p:sp>
      <p:sp>
        <p:nvSpPr>
          <p:cNvPr id="19" name="Oval 18"/>
          <p:cNvSpPr/>
          <p:nvPr/>
        </p:nvSpPr>
        <p:spPr>
          <a:xfrm>
            <a:off x="4782312" y="2788920"/>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2352"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Clarify controls and ownership</a:t>
            </a:r>
          </a:p>
        </p:txBody>
      </p:sp>
      <p:sp>
        <p:nvSpPr>
          <p:cNvPr id="21" name="Oval 20"/>
          <p:cNvSpPr/>
          <p:nvPr/>
        </p:nvSpPr>
        <p:spPr>
          <a:xfrm>
            <a:off x="4782312" y="3511296"/>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02352"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Reduce waste and disruption</a:t>
            </a:r>
          </a:p>
        </p:txBody>
      </p:sp>
      <p:sp>
        <p:nvSpPr>
          <p:cNvPr id="23" name="Oval 22"/>
          <p:cNvSpPr/>
          <p:nvPr/>
        </p:nvSpPr>
        <p:spPr>
          <a:xfrm>
            <a:off x="4782312" y="4233672"/>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2352"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Improve supplier oversight</a:t>
            </a:r>
          </a:p>
        </p:txBody>
      </p:sp>
      <p:sp>
        <p:nvSpPr>
          <p:cNvPr id="25" name="Rounded Rectangle 24"/>
          <p:cNvSpPr/>
          <p:nvPr/>
        </p:nvSpPr>
        <p:spPr>
          <a:xfrm>
            <a:off x="8330183"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30183" y="1783080"/>
            <a:ext cx="331012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39" y="2011680"/>
            <a:ext cx="2880360" cy="603504"/>
          </a:xfrm>
          <a:prstGeom prst="rect">
            <a:avLst/>
          </a:prstGeom>
          <a:noFill/>
        </p:spPr>
        <p:txBody>
          <a:bodyPr wrap="square" anchor="ctr" lIns="45720" rIns="45720">
            <a:spAutoFit/>
          </a:bodyPr>
          <a:lstStyle/>
          <a:p>
            <a:pPr algn="l">
              <a:spcAft>
                <a:spcPts val="400"/>
              </a:spcAft>
            </a:pPr>
            <a:r>
              <a:rPr sz="1800" b="1">
                <a:solidFill>
                  <a:srgbClr val="7C3AED"/>
                </a:solidFill>
                <a:latin typeface="Arial"/>
              </a:rPr>
              <a:t>Trust and access</a:t>
            </a:r>
          </a:p>
        </p:txBody>
      </p:sp>
      <p:sp>
        <p:nvSpPr>
          <p:cNvPr id="28" name="Oval 27"/>
          <p:cNvSpPr/>
          <p:nvPr/>
        </p:nvSpPr>
        <p:spPr>
          <a:xfrm>
            <a:off x="8558783" y="27889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78823"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Support obligations and tenders</a:t>
            </a:r>
          </a:p>
        </p:txBody>
      </p:sp>
      <p:sp>
        <p:nvSpPr>
          <p:cNvPr id="30" name="Oval 29"/>
          <p:cNvSpPr/>
          <p:nvPr/>
        </p:nvSpPr>
        <p:spPr>
          <a:xfrm>
            <a:off x="8558783" y="35112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3"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Strengthen stakeholder confidence</a:t>
            </a:r>
          </a:p>
        </p:txBody>
      </p:sp>
      <p:sp>
        <p:nvSpPr>
          <p:cNvPr id="32" name="Oval 31"/>
          <p:cNvSpPr/>
          <p:nvPr/>
        </p:nvSpPr>
        <p:spPr>
          <a:xfrm>
            <a:off x="8558783" y="4233672"/>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78823"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Provide auditable evidence</a:t>
            </a:r>
          </a:p>
        </p:txBody>
      </p:sp>
      <p:sp>
        <p:nvSpPr>
          <p:cNvPr id="34" name="TextBox 3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5" name="TextBox 3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CERTIFICATION</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Certification: what it is and is not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1012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80"/>
            <a:ext cx="2880360" cy="603504"/>
          </a:xfrm>
          <a:prstGeom prst="rect">
            <a:avLst/>
          </a:prstGeom>
          <a:noFill/>
        </p:spPr>
        <p:txBody>
          <a:bodyPr wrap="square" anchor="ctr" lIns="45720" rIns="45720">
            <a:spAutoFit/>
          </a:bodyPr>
          <a:lstStyle/>
          <a:p>
            <a:pPr algn="l">
              <a:spcAft>
                <a:spcPts val="400"/>
              </a:spcAft>
            </a:pPr>
            <a:r>
              <a:rPr sz="1800" b="1">
                <a:solidFill>
                  <a:srgbClr val="1F6FEB"/>
                </a:solidFill>
                <a:latin typeface="Arial"/>
              </a:rPr>
              <a:t>Voluntary framework</a:t>
            </a:r>
          </a:p>
        </p:txBody>
      </p:sp>
      <p:sp>
        <p:nvSpPr>
          <p:cNvPr id="10" name="Oval 9"/>
          <p:cNvSpPr/>
          <p:nvPr/>
        </p:nvSpPr>
        <p:spPr>
          <a:xfrm>
            <a:off x="1005840" y="2788920"/>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does not require certification</a:t>
            </a:r>
          </a:p>
        </p:txBody>
      </p:sp>
      <p:sp>
        <p:nvSpPr>
          <p:cNvPr id="12" name="Oval 11"/>
          <p:cNvSpPr/>
          <p:nvPr/>
        </p:nvSpPr>
        <p:spPr>
          <a:xfrm>
            <a:off x="1005840" y="3511296"/>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Customers/tenders may require it</a:t>
            </a:r>
          </a:p>
        </p:txBody>
      </p:sp>
      <p:sp>
        <p:nvSpPr>
          <p:cNvPr id="14" name="Oval 13"/>
          <p:cNvSpPr/>
          <p:nvPr/>
        </p:nvSpPr>
        <p:spPr>
          <a:xfrm>
            <a:off x="1005840" y="4233672"/>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EMS can operate without certification</a:t>
            </a:r>
          </a:p>
        </p:txBody>
      </p:sp>
      <p:sp>
        <p:nvSpPr>
          <p:cNvPr id="16" name="Rounded Rectangle 15"/>
          <p:cNvSpPr/>
          <p:nvPr/>
        </p:nvSpPr>
        <p:spPr>
          <a:xfrm>
            <a:off x="4553712"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3712" y="1783080"/>
            <a:ext cx="3310128"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011680"/>
            <a:ext cx="2880360" cy="603504"/>
          </a:xfrm>
          <a:prstGeom prst="rect">
            <a:avLst/>
          </a:prstGeom>
          <a:noFill/>
        </p:spPr>
        <p:txBody>
          <a:bodyPr wrap="square" anchor="ctr" lIns="45720" rIns="45720">
            <a:spAutoFit/>
          </a:bodyPr>
          <a:lstStyle/>
          <a:p>
            <a:pPr algn="l">
              <a:spcAft>
                <a:spcPts val="400"/>
              </a:spcAft>
            </a:pPr>
            <a:r>
              <a:rPr sz="1800" b="1">
                <a:solidFill>
                  <a:srgbClr val="0F9D8A"/>
                </a:solidFill>
                <a:latin typeface="Arial"/>
              </a:rPr>
              <a:t>Independent assessment</a:t>
            </a:r>
          </a:p>
        </p:txBody>
      </p:sp>
      <p:sp>
        <p:nvSpPr>
          <p:cNvPr id="19" name="Oval 18"/>
          <p:cNvSpPr/>
          <p:nvPr/>
        </p:nvSpPr>
        <p:spPr>
          <a:xfrm>
            <a:off x="4782312" y="2788920"/>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2352"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ISO does not certify organisations</a:t>
            </a:r>
          </a:p>
        </p:txBody>
      </p:sp>
      <p:sp>
        <p:nvSpPr>
          <p:cNvPr id="21" name="Oval 20"/>
          <p:cNvSpPr/>
          <p:nvPr/>
        </p:nvSpPr>
        <p:spPr>
          <a:xfrm>
            <a:off x="4782312" y="3511296"/>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02352"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Certification bodies audit</a:t>
            </a:r>
          </a:p>
        </p:txBody>
      </p:sp>
      <p:sp>
        <p:nvSpPr>
          <p:cNvPr id="23" name="Oval 22"/>
          <p:cNvSpPr/>
          <p:nvPr/>
        </p:nvSpPr>
        <p:spPr>
          <a:xfrm>
            <a:off x="4782312" y="4233672"/>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2352"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Accreditation adds confidence</a:t>
            </a:r>
          </a:p>
        </p:txBody>
      </p:sp>
      <p:sp>
        <p:nvSpPr>
          <p:cNvPr id="25" name="Rounded Rectangle 24"/>
          <p:cNvSpPr/>
          <p:nvPr/>
        </p:nvSpPr>
        <p:spPr>
          <a:xfrm>
            <a:off x="8330183"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30183" y="1783080"/>
            <a:ext cx="331012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39" y="2011680"/>
            <a:ext cx="2880360" cy="603504"/>
          </a:xfrm>
          <a:prstGeom prst="rect">
            <a:avLst/>
          </a:prstGeom>
          <a:noFill/>
        </p:spPr>
        <p:txBody>
          <a:bodyPr wrap="square" anchor="ctr" lIns="45720" rIns="45720">
            <a:spAutoFit/>
          </a:bodyPr>
          <a:lstStyle/>
          <a:p>
            <a:pPr algn="l">
              <a:spcAft>
                <a:spcPts val="400"/>
              </a:spcAft>
            </a:pPr>
            <a:r>
              <a:rPr sz="1800" b="1">
                <a:solidFill>
                  <a:srgbClr val="7C3AED"/>
                </a:solidFill>
                <a:latin typeface="Arial"/>
              </a:rPr>
              <a:t>Ongoing cycle</a:t>
            </a:r>
          </a:p>
        </p:txBody>
      </p:sp>
      <p:sp>
        <p:nvSpPr>
          <p:cNvPr id="28" name="Oval 27"/>
          <p:cNvSpPr/>
          <p:nvPr/>
        </p:nvSpPr>
        <p:spPr>
          <a:xfrm>
            <a:off x="8558783" y="27889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78823"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Stage 1 readiness</a:t>
            </a:r>
          </a:p>
        </p:txBody>
      </p:sp>
      <p:sp>
        <p:nvSpPr>
          <p:cNvPr id="30" name="Oval 29"/>
          <p:cNvSpPr/>
          <p:nvPr/>
        </p:nvSpPr>
        <p:spPr>
          <a:xfrm>
            <a:off x="8558783" y="35112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3"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Stage 2 implementation</a:t>
            </a:r>
          </a:p>
        </p:txBody>
      </p:sp>
      <p:sp>
        <p:nvSpPr>
          <p:cNvPr id="32" name="Oval 31"/>
          <p:cNvSpPr/>
          <p:nvPr/>
        </p:nvSpPr>
        <p:spPr>
          <a:xfrm>
            <a:off x="8558783" y="4233672"/>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78823"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Surveillance and recertification</a:t>
            </a:r>
          </a:p>
        </p:txBody>
      </p:sp>
      <p:sp>
        <p:nvSpPr>
          <p:cNvPr id="34" name="TextBox 3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5" name="TextBox 3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IMPLEMENTATION</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Typical implementation and certification journey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Leadership decision and gap review</a:t>
            </a:r>
          </a:p>
        </p:txBody>
      </p:sp>
      <p:cxnSp>
        <p:nvCxnSpPr>
          <p:cNvPr id="12" name="Connector 11"/>
          <p:cNvCxnSpPr/>
          <p:nvPr/>
        </p:nvCxnSpPr>
        <p:spPr>
          <a:xfrm>
            <a:off x="2730398"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Design scope, aspects and controls</a:t>
            </a:r>
          </a:p>
        </p:txBody>
      </p:sp>
      <p:cxnSp>
        <p:nvCxnSpPr>
          <p:cNvPr id="18" name="Connector 17"/>
          <p:cNvCxnSpPr/>
          <p:nvPr/>
        </p:nvCxnSpPr>
        <p:spPr>
          <a:xfrm>
            <a:off x="4912156"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Operate and build evidence</a:t>
            </a:r>
          </a:p>
        </p:txBody>
      </p:sp>
      <p:cxnSp>
        <p:nvCxnSpPr>
          <p:cNvPr id="24" name="Connector 23"/>
          <p:cNvCxnSpPr/>
          <p:nvPr/>
        </p:nvCxnSpPr>
        <p:spPr>
          <a:xfrm>
            <a:off x="7093914"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Audit and management review</a:t>
            </a:r>
          </a:p>
        </p:txBody>
      </p:sp>
      <p:cxnSp>
        <p:nvCxnSpPr>
          <p:cNvPr id="30" name="Connector 29"/>
          <p:cNvCxnSpPr/>
          <p:nvPr/>
        </p:nvCxnSpPr>
        <p:spPr>
          <a:xfrm>
            <a:off x="9275672"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Certify if chosen; improve continuously</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INTEGRATION</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Integrated management systems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Shared architecture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Common harmonised structure</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Shared context, leadership and planning</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Common audit, review and improvement</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Less duplication and clearer ownership</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Examples</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ISO 9001 | quality</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ISO 14001 | environment</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ISO 45001 | occupational health and safety</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ISO/IEC 27001 | information security</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FICTIONAL CASE COMPANY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Meridian EcoPack: the connected case</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Business</a:t>
            </a:r>
          </a:p>
          <a:p>
            <a:pPr algn="l">
              <a:spcAft>
                <a:spcPts val="300"/>
              </a:spcAft>
            </a:pPr>
            <a:r>
              <a:rPr sz="1220" b="0">
                <a:solidFill>
                  <a:srgbClr val="5B6372"/>
                </a:solidFill>
                <a:latin typeface="Arial"/>
              </a:rPr>
              <a:t>a fictional Singapore SME with 120 employees producing printed corrugated and fibre-based packaging for regional food, electronics and healthcare customers.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Customer signal</a:t>
            </a:r>
          </a:p>
          <a:p>
            <a:pPr algn="l">
              <a:spcAft>
                <a:spcPts val="300"/>
              </a:spcAft>
            </a:pPr>
            <a:r>
              <a:rPr sz="1220" b="0">
                <a:solidFill>
                  <a:srgbClr val="5B6372"/>
                </a:solidFill>
                <a:latin typeface="Arial"/>
              </a:rPr>
              <a:t>Two key customers require evidence of an ISO 14001:2026-aligned EMS and stronger value-chain environmental controls before contract renewal.</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Evidence pattern</a:t>
            </a:r>
          </a:p>
          <a:p>
            <a:pPr algn="l">
              <a:spcAft>
                <a:spcPts val="300"/>
              </a:spcAft>
            </a:pPr>
            <a:r>
              <a:rPr sz="1220" b="0">
                <a:solidFill>
                  <a:srgbClr val="5B6372"/>
                </a:solidFill>
                <a:latin typeface="Arial"/>
              </a:rPr>
              <a:t>Electricity intensity rose 11%; mixed production waste increased; an ink tote spill nearly reached a drain; wastewater and contractor records are incomplete; nearby tenants reported intermittent odour; supplier environmental evidence varies.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Course mission</a:t>
            </a:r>
          </a:p>
          <a:p>
            <a:pPr algn="l">
              <a:spcAft>
                <a:spcPts val="300"/>
              </a:spcAft>
            </a:pPr>
            <a:r>
              <a:rPr sz="1220" b="0">
                <a:solidFill>
                  <a:srgbClr val="5B6372"/>
                </a:solidFill>
                <a:latin typeface="Arial"/>
              </a:rPr>
              <a:t>Build an evidence-led EMS that protects the environment, meets applicable obligations, improves performance and supports certification readiness.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PROGRESSIVE EVIDENCE JOURNEY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Eight activities close one PDCA loop</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92125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92125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78533"/>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78533"/>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738378"/>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A1</a:t>
            </a:r>
          </a:p>
          <a:p>
            <a:pPr algn="l">
              <a:spcAft>
                <a:spcPts val="300"/>
              </a:spcAft>
            </a:pPr>
            <a:r>
              <a:rPr sz="1220" b="0">
                <a:solidFill>
                  <a:srgbClr val="5B6372"/>
                </a:solidFill>
                <a:latin typeface="Arial"/>
              </a:rPr>
              <a:t>Build the Environmental Baseline and Aspect Inventory</a:t>
            </a:r>
          </a:p>
        </p:txBody>
      </p:sp>
      <p:sp>
        <p:nvSpPr>
          <p:cNvPr id="12" name="Rounded Rectangle 11"/>
          <p:cNvSpPr/>
          <p:nvPr/>
        </p:nvSpPr>
        <p:spPr>
          <a:xfrm>
            <a:off x="6231636" y="1783080"/>
            <a:ext cx="5198364" cy="92125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92125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1978533"/>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1978533"/>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738378"/>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A2</a:t>
            </a:r>
          </a:p>
          <a:p>
            <a:pPr algn="l">
              <a:spcAft>
                <a:spcPts val="300"/>
              </a:spcAft>
            </a:pPr>
            <a:r>
              <a:rPr sz="1220" b="0">
                <a:solidFill>
                  <a:srgbClr val="5B6372"/>
                </a:solidFill>
                <a:latin typeface="Arial"/>
              </a:rPr>
              <a:t>Assess Significance, Risks and Opportunities</a:t>
            </a:r>
          </a:p>
        </p:txBody>
      </p:sp>
      <p:sp>
        <p:nvSpPr>
          <p:cNvPr id="17" name="Rounded Rectangle 16"/>
          <p:cNvSpPr/>
          <p:nvPr/>
        </p:nvSpPr>
        <p:spPr>
          <a:xfrm>
            <a:off x="777240" y="2923794"/>
            <a:ext cx="5198364" cy="92125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23794"/>
            <a:ext cx="82296" cy="92125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119247"/>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119247"/>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3033522"/>
            <a:ext cx="4027932" cy="738378"/>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A3</a:t>
            </a:r>
          </a:p>
          <a:p>
            <a:pPr algn="l">
              <a:spcAft>
                <a:spcPts val="300"/>
              </a:spcAft>
            </a:pPr>
            <a:r>
              <a:rPr sz="1220" b="0">
                <a:solidFill>
                  <a:srgbClr val="5B6372"/>
                </a:solidFill>
                <a:latin typeface="Arial"/>
              </a:rPr>
              <a:t>Build the Compliance Obligations Register</a:t>
            </a:r>
          </a:p>
        </p:txBody>
      </p:sp>
      <p:sp>
        <p:nvSpPr>
          <p:cNvPr id="22" name="Rounded Rectangle 21"/>
          <p:cNvSpPr/>
          <p:nvPr/>
        </p:nvSpPr>
        <p:spPr>
          <a:xfrm>
            <a:off x="6231636" y="2923794"/>
            <a:ext cx="5198364" cy="92125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23794"/>
            <a:ext cx="82296" cy="92125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119247"/>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119247"/>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3033522"/>
            <a:ext cx="4027932" cy="738378"/>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A4</a:t>
            </a:r>
          </a:p>
          <a:p>
            <a:pPr algn="l">
              <a:spcAft>
                <a:spcPts val="300"/>
              </a:spcAft>
            </a:pPr>
            <a:r>
              <a:rPr sz="1220" b="0">
                <a:solidFill>
                  <a:srgbClr val="5B6372"/>
                </a:solidFill>
                <a:latin typeface="Arial"/>
              </a:rPr>
              <a:t>Set Environmental Objectives and Build Competence</a:t>
            </a:r>
          </a:p>
        </p:txBody>
      </p:sp>
      <p:sp>
        <p:nvSpPr>
          <p:cNvPr id="27" name="Rounded Rectangle 26"/>
          <p:cNvSpPr/>
          <p:nvPr/>
        </p:nvSpPr>
        <p:spPr>
          <a:xfrm>
            <a:off x="777240" y="4064508"/>
            <a:ext cx="5198364" cy="92125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64508"/>
            <a:ext cx="82296" cy="92125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4259961"/>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259961"/>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737360" y="4174236"/>
            <a:ext cx="4027932" cy="738378"/>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A5</a:t>
            </a:r>
          </a:p>
          <a:p>
            <a:pPr algn="l">
              <a:spcAft>
                <a:spcPts val="300"/>
              </a:spcAft>
            </a:pPr>
            <a:r>
              <a:rPr sz="1220" b="0">
                <a:solidFill>
                  <a:srgbClr val="5B6372"/>
                </a:solidFill>
                <a:latin typeface="Arial"/>
              </a:rPr>
              <a:t>Design Life-Cycle Operational Controls</a:t>
            </a:r>
          </a:p>
        </p:txBody>
      </p:sp>
      <p:sp>
        <p:nvSpPr>
          <p:cNvPr id="32" name="Rounded Rectangle 31"/>
          <p:cNvSpPr/>
          <p:nvPr/>
        </p:nvSpPr>
        <p:spPr>
          <a:xfrm>
            <a:off x="6231636" y="4064508"/>
            <a:ext cx="5198364" cy="92125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64508"/>
            <a:ext cx="82296" cy="92125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4259961"/>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4259961"/>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191756" y="4174236"/>
            <a:ext cx="4027932" cy="738378"/>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A6</a:t>
            </a:r>
          </a:p>
          <a:p>
            <a:pPr algn="l">
              <a:spcAft>
                <a:spcPts val="300"/>
              </a:spcAft>
            </a:pPr>
            <a:r>
              <a:rPr sz="1220" b="0">
                <a:solidFill>
                  <a:srgbClr val="5B6372"/>
                </a:solidFill>
                <a:latin typeface="Arial"/>
              </a:rPr>
              <a:t>Run an Environmental Emergency Tabletop</a:t>
            </a:r>
          </a:p>
        </p:txBody>
      </p:sp>
      <p:sp>
        <p:nvSpPr>
          <p:cNvPr id="37" name="Rounded Rectangle 36"/>
          <p:cNvSpPr/>
          <p:nvPr/>
        </p:nvSpPr>
        <p:spPr>
          <a:xfrm>
            <a:off x="777240" y="5205222"/>
            <a:ext cx="5198364" cy="92125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05222"/>
            <a:ext cx="82296" cy="92125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05840" y="5400675"/>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5400675"/>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7</a:t>
            </a:r>
          </a:p>
        </p:txBody>
      </p:sp>
      <p:sp>
        <p:nvSpPr>
          <p:cNvPr id="41" name="TextBox 40"/>
          <p:cNvSpPr txBox="1"/>
          <p:nvPr/>
        </p:nvSpPr>
        <p:spPr>
          <a:xfrm>
            <a:off x="1737360" y="5314950"/>
            <a:ext cx="4027932" cy="738378"/>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A7</a:t>
            </a:r>
          </a:p>
          <a:p>
            <a:pPr algn="l">
              <a:spcAft>
                <a:spcPts val="300"/>
              </a:spcAft>
            </a:pPr>
            <a:r>
              <a:rPr sz="1220" b="0">
                <a:solidFill>
                  <a:srgbClr val="5B6372"/>
                </a:solidFill>
                <a:latin typeface="Arial"/>
              </a:rPr>
              <a:t>Evaluate Performance and Conduct an Internal Audit</a:t>
            </a:r>
          </a:p>
        </p:txBody>
      </p:sp>
      <p:sp>
        <p:nvSpPr>
          <p:cNvPr id="42" name="Rounded Rectangle 41"/>
          <p:cNvSpPr/>
          <p:nvPr/>
        </p:nvSpPr>
        <p:spPr>
          <a:xfrm>
            <a:off x="6231636" y="5205222"/>
            <a:ext cx="5198364" cy="92125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05222"/>
            <a:ext cx="82296" cy="92125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0236" y="5400675"/>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0236" y="5400675"/>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8</a:t>
            </a:r>
          </a:p>
        </p:txBody>
      </p:sp>
      <p:sp>
        <p:nvSpPr>
          <p:cNvPr id="46" name="TextBox 45"/>
          <p:cNvSpPr txBox="1"/>
          <p:nvPr/>
        </p:nvSpPr>
        <p:spPr>
          <a:xfrm>
            <a:off x="7191756" y="5314950"/>
            <a:ext cx="4027932" cy="738378"/>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A8</a:t>
            </a:r>
          </a:p>
          <a:p>
            <a:pPr algn="l">
              <a:spcAft>
                <a:spcPts val="300"/>
              </a:spcAft>
            </a:pPr>
            <a:r>
              <a:rPr sz="1220" b="0">
                <a:solidFill>
                  <a:srgbClr val="5B6372"/>
                </a:solidFill>
                <a:latin typeface="Arial"/>
              </a:rPr>
              <a:t>Close Corrective Action and Plan the 2026 Transition</a:t>
            </a:r>
          </a:p>
        </p:txBody>
      </p:sp>
      <p:sp>
        <p:nvSpPr>
          <p:cNvPr id="47" name="TextBox 4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48" name="TextBox 4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49" name="TextBox 4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267712"/>
            <a:ext cx="109728" cy="182880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 y="2148840"/>
            <a:ext cx="9875520" cy="384048"/>
          </a:xfrm>
          <a:prstGeom prst="rect">
            <a:avLst/>
          </a:prstGeom>
          <a:noFill/>
        </p:spPr>
        <p:txBody>
          <a:bodyPr wrap="square" anchor="t" lIns="45720" rIns="45720">
            <a:spAutoFit/>
          </a:bodyPr>
          <a:lstStyle/>
          <a:p>
            <a:pPr algn="l">
              <a:spcAft>
                <a:spcPts val="400"/>
              </a:spcAft>
            </a:pPr>
            <a:r>
              <a:rPr sz="1500" b="1">
                <a:solidFill>
                  <a:srgbClr val="16854A"/>
                </a:solidFill>
                <a:latin typeface="Arial"/>
              </a:rPr>
              <a:t>TOPIC 1</a:t>
            </a:r>
          </a:p>
        </p:txBody>
      </p:sp>
      <p:sp>
        <p:nvSpPr>
          <p:cNvPr id="6" name="TextBox 5"/>
          <p:cNvSpPr txBox="1"/>
          <p:nvPr/>
        </p:nvSpPr>
        <p:spPr>
          <a:xfrm>
            <a:off x="1161288" y="2587752"/>
            <a:ext cx="9875520" cy="1325880"/>
          </a:xfrm>
          <a:prstGeom prst="rect">
            <a:avLst/>
          </a:prstGeom>
          <a:noFill/>
        </p:spPr>
        <p:txBody>
          <a:bodyPr wrap="square" anchor="ctr" lIns="45720" rIns="45720">
            <a:spAutoFit/>
          </a:bodyPr>
          <a:lstStyle/>
          <a:p>
            <a:pPr algn="l">
              <a:spcAft>
                <a:spcPts val="400"/>
              </a:spcAft>
            </a:pPr>
            <a:r>
              <a:rPr sz="3900" b="1">
                <a:solidFill>
                  <a:srgbClr val="161B26"/>
                </a:solidFill>
                <a:latin typeface="Arial"/>
              </a:rPr>
              <a:t>Overview of ISO 14001 EMS</a:t>
            </a:r>
          </a:p>
        </p:txBody>
      </p:sp>
      <p:sp>
        <p:nvSpPr>
          <p:cNvPr id="7" name="TextBox 6"/>
          <p:cNvSpPr txBox="1"/>
          <p:nvPr/>
        </p:nvSpPr>
        <p:spPr>
          <a:xfrm>
            <a:off x="1170432" y="4096512"/>
            <a:ext cx="9875520" cy="731520"/>
          </a:xfrm>
          <a:prstGeom prst="rect">
            <a:avLst/>
          </a:prstGeom>
          <a:noFill/>
        </p:spPr>
        <p:txBody>
          <a:bodyPr wrap="square" anchor="t" lIns="45720" rIns="45720">
            <a:spAutoFit/>
          </a:bodyPr>
          <a:lstStyle/>
          <a:p>
            <a:pPr algn="l">
              <a:spcAft>
                <a:spcPts val="400"/>
              </a:spcAft>
            </a:pPr>
            <a:r>
              <a:rPr sz="1600" b="0">
                <a:solidFill>
                  <a:srgbClr val="5B6372"/>
                </a:solidFill>
                <a:latin typeface="Arial"/>
              </a:rPr>
              <a:t>ISO 14001:2026 - EMS purpose - PDCA - context - leadership - aspects and impacts</a:t>
            </a:r>
          </a:p>
        </p:txBody>
      </p:sp>
      <p:sp>
        <p:nvSpPr>
          <p:cNvPr id="8" name="TextBox 7"/>
          <p:cNvSpPr txBox="1"/>
          <p:nvPr/>
        </p:nvSpPr>
        <p:spPr>
          <a:xfrm>
            <a:off x="9464040" y="502920"/>
            <a:ext cx="2103120" cy="1234440"/>
          </a:xfrm>
          <a:prstGeom prst="rect">
            <a:avLst/>
          </a:prstGeom>
          <a:noFill/>
        </p:spPr>
        <p:txBody>
          <a:bodyPr wrap="square" anchor="t" lIns="45720" rIns="45720">
            <a:spAutoFit/>
          </a:bodyPr>
          <a:lstStyle/>
          <a:p>
            <a:pPr algn="r">
              <a:spcAft>
                <a:spcPts val="400"/>
              </a:spcAft>
            </a:pPr>
            <a:r>
              <a:rPr sz="6800" b="1">
                <a:solidFill>
                  <a:srgbClr val="E2E8F0"/>
                </a:solidFill>
                <a:latin typeface="Arial"/>
              </a:rPr>
              <a:t>1</a:t>
            </a:r>
          </a:p>
        </p:txBody>
      </p:sp>
      <p:sp>
        <p:nvSpPr>
          <p:cNvPr id="9" name="TextBox 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0" name="TextBox 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1" name="TextBox 1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33</a:t>
            </a:r>
          </a:p>
        </p:txBody>
      </p:sp>
    </p:spTree>
  </p:cSld>
  <p:clrMapOvr>
    <a:masterClrMapping/>
  </p:clrMapOvr>
  <p:transition spd="med" advClick="1">
    <p:push dir="l"/>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4.1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4.1 Organisation context and environmental conditions: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Determine issues and environmental conditions that affect the EMS and its intended outcomes.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Consider pollution, resource availability, climate, biodiversity and ecosystem health.</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Connect internal and external issues to environmental and business decisions.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Review context when operations, conditions or interested-party expectations change.</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4.1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4.1 Organisation context and environmental conditions: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Context and environmental-conditions register</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Strategic and risk review evidence</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Climate/biodiversity/resource scan</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Management-review updates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Static SWOT with no environmental meaning</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Inside-out impacts considered but outside-in conditions missed</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Climate relevance asserted without evidence</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 action owner or review trigger</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4.2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4.2 Interested parties and relevant requirements: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Identify relevant parties, needs and expectations, including those that become compliance obligations.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Select parties because they affect or are affected by environmental performance.</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Separate expectations from mandatory or voluntarily accepted obligations.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Monitor changes in regulator, community, customer, worker and value-chain needs.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4.2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4.2 Interested parties and relevant requirements: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Interested-party matrix</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Customer and permit requirements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Community/landlord communications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Review records and change alerts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Listing every possible party</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Treating every wish as binding</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Ignoring affected communities or suppliers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 route from need to EMS control</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4.3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4.3 Scope of the EMS: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Set a truthful EMS boundary that reflects context, activities, authority and life-cycle perspective.</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State sites, units, activities, products and services covered.</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Consider upstream and downstream stages that can be controlled or influenced.</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Make the scope available as controlled documented information.</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4.3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4.3 Scope of the EMS: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Approved scope statement</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Site/process/value-chain boundary map</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Authority and influence rationale</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Alignment with certification scope</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Scope excludes a significant activity without rationale</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Outsourcing treated as outside responsibility</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Marketing scope broader than reality</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Life-cycle perspective absent</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4.4</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4.4 Environmental management system: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Establish, implement, maintain and continually improve interacting EMS processes.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Translate clauses into operational and governance processes.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Define sequence, interaction, ownership, resources and evidence.</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Integrate environmental management into core business processes.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4.4</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4.4 Environmental management system: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EMS process architecture</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Roles and process ownership</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Operational and performance records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Improvement and change evidence</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 document library mistaken for a system</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EMS isolated within one department</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Controls not connected to aspects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 evidence that processes achieve outcomes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5.1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5.1 Leadership and commitment: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Top management is accountable for EMS effectiveness and environmental performance.</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Align environmental direction with strategy and business processes.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Provide resources and support all relevant roles in contributing to EMS results.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Promote improvement and credible environmental decision-making.</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5.1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5.1 Leadership and commitment: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Leadership decisions and resources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Management participation in reviews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Environmental objectives linked to strategy</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Evidence barriers were removed</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EMS delegated to the environmental coordinator</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Policy promises without resources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Performance data not on leadership agenda</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Support limited to management roles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5.2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5.2 Environmental policy: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Provide direction and commitments appropriate to purpose, context and environmental impacts.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Commit to environmental protection, including pollution prevention and relevant context-specific commitments.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Commit to meeting compliance obligations and continual improvement.</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Communicate, maintain and make the policy available.</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5.2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5.2 Environmental policy: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Approved current policy</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Objectives derived from commitments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Interview and communication evidence</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Availability to relevant interested parties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Generic green claims</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Protection commitments unrelated to aspects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People can recite but not apply the policy</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Policy not reflected in objectives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5.3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5.3 Roles, responsibilities and authorities: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Make EMS accountability, authority and reporting routes clear.</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Assign ownership for significant aspects, controls and compliance evaluation.</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Ensure EMS performance and improvement needs reach top management.</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Maintain cover during leave, contractor work and organisational change.</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5.3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5.3 Roles, responsibilities and authorities: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Role profiles and RACI</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Escalation and incident routes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EMS performance reporting</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Delegation and backup arrangements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Everyone responsible means nobody owns it</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Responsibility without authority</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Contractor roles unclear</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Environmental reporting stops at department level</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6.1.1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6.1.1 Risks and opportunities - general: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Use context, parties, scope, aspects and obligations to protect intended EMS outcomes.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Distinguish environmental impacts from risks/opportunities to the EMS and organisation.</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Address undesired effects and pursue beneficial opportunities.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Integrate actions into EMS processes and evaluate effectiveness.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6.1.1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6.1.1 Risks and opportunities - general: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Risk and opportunity register</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Cause-action-owner linkage</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Implemented controls and projects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Effectiveness review</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Risk register isolated from operations</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Positive impact called an opportunity without business/system effect</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Actions copied from templates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Completion confused with effectiveness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6.1.2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6.1.2 Environmental aspects: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Identify aspects and impacts across a life-cycle perspective and determine significance using established criteria.</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Consider normal, abnormal and all potential emergency situations.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Cover activities, products, services, planned changes and new developments.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Communicate significant aspects to relevant levels and functions.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6.1.2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6.1.2 Environmental aspects: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Aspect-impact register</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Significance method and rationale</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Life-cycle map</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Change and emergency-scenario review</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Aspect and impact reversed</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Only normal operations considered</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Scores without evidence or criteria</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Significant aspects not translated into controls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CLAUSES 4-6</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Context creates the line of sight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Environmental conditions and business issues</a:t>
            </a:r>
          </a:p>
        </p:txBody>
      </p:sp>
      <p:cxnSp>
        <p:nvCxnSpPr>
          <p:cNvPr id="12" name="Connector 11"/>
          <p:cNvCxnSpPr/>
          <p:nvPr/>
        </p:nvCxnSpPr>
        <p:spPr>
          <a:xfrm>
            <a:off x="2730398"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Relevant interested parties</a:t>
            </a:r>
          </a:p>
        </p:txBody>
      </p:sp>
      <p:cxnSp>
        <p:nvCxnSpPr>
          <p:cNvPr id="18" name="Connector 17"/>
          <p:cNvCxnSpPr/>
          <p:nvPr/>
        </p:nvCxnSpPr>
        <p:spPr>
          <a:xfrm>
            <a:off x="4912156"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Compliance and other requirements</a:t>
            </a:r>
          </a:p>
        </p:txBody>
      </p:sp>
      <p:cxnSp>
        <p:nvCxnSpPr>
          <p:cNvPr id="24" name="Connector 23"/>
          <p:cNvCxnSpPr/>
          <p:nvPr/>
        </p:nvCxnSpPr>
        <p:spPr>
          <a:xfrm>
            <a:off x="7093914"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Scope and life-cycle boundary</a:t>
            </a:r>
          </a:p>
        </p:txBody>
      </p:sp>
      <p:cxnSp>
        <p:nvCxnSpPr>
          <p:cNvPr id="30" name="Connector 29"/>
          <p:cNvCxnSpPr/>
          <p:nvPr/>
        </p:nvCxnSpPr>
        <p:spPr>
          <a:xfrm>
            <a:off x="9275672"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Aspects, risks and controls</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CONTEXT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Environmental conditions to test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16865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Pollution</a:t>
            </a:r>
          </a:p>
          <a:p>
            <a:pPr algn="l">
              <a:spcAft>
                <a:spcPts val="300"/>
              </a:spcAft>
            </a:pPr>
            <a:r>
              <a:rPr sz="1220" b="0">
                <a:solidFill>
                  <a:srgbClr val="5B6372"/>
                </a:solidFill>
                <a:latin typeface="Arial"/>
              </a:rPr>
              <a:t>Existing air, water, soil, noise or contamination conditions.</a:t>
            </a:r>
          </a:p>
        </p:txBody>
      </p:sp>
      <p:sp>
        <p:nvSpPr>
          <p:cNvPr id="12" name="Rounded Rectangle 11"/>
          <p:cNvSpPr/>
          <p:nvPr/>
        </p:nvSpPr>
        <p:spPr>
          <a:xfrm>
            <a:off x="6231636"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68652"/>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Resources</a:t>
            </a:r>
          </a:p>
          <a:p>
            <a:pPr algn="l">
              <a:spcAft>
                <a:spcPts val="300"/>
              </a:spcAft>
            </a:pPr>
            <a:r>
              <a:rPr sz="1220" b="0">
                <a:solidFill>
                  <a:srgbClr val="5B6372"/>
                </a:solidFill>
                <a:latin typeface="Arial"/>
              </a:rPr>
              <a:t>Availability and quality of water, energy, materials and land.</a:t>
            </a:r>
          </a:p>
        </p:txBody>
      </p:sp>
      <p:sp>
        <p:nvSpPr>
          <p:cNvPr id="17" name="Rounded Rectangle 16"/>
          <p:cNvSpPr/>
          <p:nvPr/>
        </p:nvSpPr>
        <p:spPr>
          <a:xfrm>
            <a:off x="777240"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4032"/>
            <a:ext cx="82296" cy="13014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68960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Climate</a:t>
            </a:r>
          </a:p>
          <a:p>
            <a:pPr algn="l">
              <a:spcAft>
                <a:spcPts val="300"/>
              </a:spcAft>
            </a:pPr>
            <a:r>
              <a:rPr sz="1220" b="0">
                <a:solidFill>
                  <a:srgbClr val="5B6372"/>
                </a:solidFill>
                <a:latin typeface="Arial"/>
              </a:rPr>
              <a:t>Physical and transition conditions affecting operations/value chain.</a:t>
            </a:r>
          </a:p>
        </p:txBody>
      </p:sp>
      <p:sp>
        <p:nvSpPr>
          <p:cNvPr id="22" name="Rounded Rectangle 21"/>
          <p:cNvSpPr/>
          <p:nvPr/>
        </p:nvSpPr>
        <p:spPr>
          <a:xfrm>
            <a:off x="6231636"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04032"/>
            <a:ext cx="82296" cy="13014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689604"/>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Biodiversity</a:t>
            </a:r>
          </a:p>
          <a:p>
            <a:pPr algn="l">
              <a:spcAft>
                <a:spcPts val="300"/>
              </a:spcAft>
            </a:pPr>
            <a:r>
              <a:rPr sz="1220" b="0">
                <a:solidFill>
                  <a:srgbClr val="5B6372"/>
                </a:solidFill>
                <a:latin typeface="Arial"/>
              </a:rPr>
              <a:t>Sensitive habitats, species and ecosystem dependencies.</a:t>
            </a:r>
          </a:p>
        </p:txBody>
      </p:sp>
      <p:sp>
        <p:nvSpPr>
          <p:cNvPr id="27" name="Rounded Rectangle 26"/>
          <p:cNvSpPr/>
          <p:nvPr/>
        </p:nvSpPr>
        <p:spPr>
          <a:xfrm>
            <a:off x="777240"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4984"/>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521055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737360"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Community</a:t>
            </a:r>
          </a:p>
          <a:p>
            <a:pPr algn="l">
              <a:spcAft>
                <a:spcPts val="300"/>
              </a:spcAft>
            </a:pPr>
            <a:r>
              <a:rPr sz="1220" b="0">
                <a:solidFill>
                  <a:srgbClr val="5B6372"/>
                </a:solidFill>
                <a:latin typeface="Arial"/>
              </a:rPr>
              <a:t>Neighbour exposure, amenity and environmental justice concerns.</a:t>
            </a:r>
          </a:p>
        </p:txBody>
      </p:sp>
      <p:sp>
        <p:nvSpPr>
          <p:cNvPr id="32" name="Rounded Rectangle 31"/>
          <p:cNvSpPr/>
          <p:nvPr/>
        </p:nvSpPr>
        <p:spPr>
          <a:xfrm>
            <a:off x="6231636"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24984"/>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10556"/>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191756"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Change</a:t>
            </a:r>
          </a:p>
          <a:p>
            <a:pPr algn="l">
              <a:spcAft>
                <a:spcPts val="300"/>
              </a:spcAft>
            </a:pPr>
            <a:r>
              <a:rPr sz="1220" b="0">
                <a:solidFill>
                  <a:srgbClr val="5B6372"/>
                </a:solidFill>
                <a:latin typeface="Arial"/>
              </a:rPr>
              <a:t>New products, capacity, technology, suppliers or sites.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LIFE-CYCLE PERSPECTIVE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Direct control and organisational influence</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Direct control</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On-site process settings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Chemical storage and drain protection</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Maintenance and monitoring</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Emergency response</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Influence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Supplier specifications</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Contractor requirements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Customer use information</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End-of-life design and recovery</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1  |  A1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Build the Environmental Baseline and Aspect Inventory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47088"/>
            <a:ext cx="1508760" cy="457200"/>
          </a:xfrm>
          <a:prstGeom prst="round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74519"/>
            <a:ext cx="1508760" cy="393192"/>
          </a:xfrm>
          <a:prstGeom prst="rect">
            <a:avLst/>
          </a:prstGeom>
          <a:noFill/>
        </p:spPr>
        <p:txBody>
          <a:bodyPr wrap="square" anchor="ctr" lIns="45720" rIns="45720">
            <a:spAutoFit/>
          </a:bodyPr>
          <a:lstStyle/>
          <a:p>
            <a:pPr algn="ctr">
              <a:spcAft>
                <a:spcPts val="400"/>
              </a:spcAft>
            </a:pPr>
            <a:r>
              <a:rPr sz="1400" b="1">
                <a:solidFill>
                  <a:srgbClr val="FFFFFF"/>
                </a:solidFill>
                <a:latin typeface="Arial"/>
              </a:rPr>
              <a:t>ACTIVITY 1</a:t>
            </a:r>
          </a:p>
        </p:txBody>
      </p:sp>
      <p:sp>
        <p:nvSpPr>
          <p:cNvPr id="9" name="TextBox 8"/>
          <p:cNvSpPr txBox="1"/>
          <p:nvPr/>
        </p:nvSpPr>
        <p:spPr>
          <a:xfrm>
            <a:off x="777240" y="2542032"/>
            <a:ext cx="10652760" cy="1124712"/>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Trace MEP's materials, energy, water, emissions, waste and emergency interfaces and distinguish hazard, aspect and impact.</a:t>
            </a:r>
          </a:p>
        </p:txBody>
      </p:sp>
      <p:sp>
        <p:nvSpPr>
          <p:cNvPr id="10" name="Rounded Rectangle 9"/>
          <p:cNvSpPr/>
          <p:nvPr/>
        </p:nvSpPr>
        <p:spPr>
          <a:xfrm>
            <a:off x="777240" y="3886200"/>
            <a:ext cx="10652760" cy="195681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133087"/>
            <a:ext cx="9966960" cy="310896"/>
          </a:xfrm>
          <a:prstGeom prst="rect">
            <a:avLst/>
          </a:prstGeom>
          <a:noFill/>
        </p:spPr>
        <p:txBody>
          <a:bodyPr wrap="square" anchor="t" lIns="45720" rIns="45720">
            <a:spAutoFit/>
          </a:bodyPr>
          <a:lstStyle/>
          <a:p>
            <a:pPr algn="l">
              <a:spcAft>
                <a:spcPts val="400"/>
              </a:spcAft>
            </a:pPr>
            <a:r>
              <a:rPr sz="1150" b="1">
                <a:solidFill>
                  <a:srgbClr val="1F6FEB"/>
                </a:solidFill>
                <a:latin typeface="Arial"/>
              </a:rPr>
              <a:t>EXPECTED OUTPUT</a:t>
            </a:r>
          </a:p>
        </p:txBody>
      </p:sp>
      <p:sp>
        <p:nvSpPr>
          <p:cNvPr id="12" name="TextBox 11"/>
          <p:cNvSpPr txBox="1"/>
          <p:nvPr/>
        </p:nvSpPr>
        <p:spPr>
          <a:xfrm>
            <a:off x="1024128" y="4480560"/>
            <a:ext cx="9966960" cy="621792"/>
          </a:xfrm>
          <a:prstGeom prst="rect">
            <a:avLst/>
          </a:prstGeom>
          <a:noFill/>
        </p:spPr>
        <p:txBody>
          <a:bodyPr wrap="square" anchor="ctr" lIns="45720" rIns="45720">
            <a:spAutoFit/>
          </a:bodyPr>
          <a:lstStyle/>
          <a:p>
            <a:pPr algn="l">
              <a:spcAft>
                <a:spcPts val="400"/>
              </a:spcAft>
            </a:pPr>
            <a:r>
              <a:rPr sz="1700" b="1">
                <a:solidFill>
                  <a:srgbClr val="161B26"/>
                </a:solidFill>
                <a:latin typeface="Arial"/>
              </a:rPr>
              <a:t>A process-boundary map, environmental baseline and aspect-impact inventory with evidence references.</a:t>
            </a:r>
          </a:p>
        </p:txBody>
      </p:sp>
      <p:sp>
        <p:nvSpPr>
          <p:cNvPr id="13" name="TextBox 12"/>
          <p:cNvSpPr txBox="1"/>
          <p:nvPr/>
        </p:nvSpPr>
        <p:spPr>
          <a:xfrm>
            <a:off x="1024128" y="5230368"/>
            <a:ext cx="9966960" cy="411480"/>
          </a:xfrm>
          <a:prstGeom prst="rect">
            <a:avLst/>
          </a:prstGeom>
          <a:noFill/>
        </p:spPr>
        <p:txBody>
          <a:bodyPr wrap="square" anchor="t" lIns="45720" rIns="45720">
            <a:spAutoFit/>
          </a:bodyPr>
          <a:lstStyle/>
          <a:p>
            <a:pPr algn="l">
              <a:spcAft>
                <a:spcPts val="400"/>
              </a:spcAft>
            </a:pPr>
            <a:r>
              <a:rPr sz="1230" b="0">
                <a:solidFill>
                  <a:srgbClr val="5B6372"/>
                </a:solidFill>
                <a:latin typeface="Arial"/>
              </a:rPr>
              <a:t>Resources: Scenario guide PDF, EMS Evidence Workbook (Excel), site-plan evidence cards</a:t>
            </a:r>
          </a:p>
        </p:txBody>
      </p:sp>
      <p:sp>
        <p:nvSpPr>
          <p:cNvPr id="14" name="TextBox 1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5" name="TextBox 1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6" name="TextBox 1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1  |  DECISION PROMPT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Build the Environmental Baseline and Aspect Inventory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12848"/>
            <a:ext cx="1325880" cy="13258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12848"/>
            <a:ext cx="1325880" cy="1325880"/>
          </a:xfrm>
          <a:prstGeom prst="rect">
            <a:avLst/>
          </a:prstGeom>
          <a:noFill/>
        </p:spPr>
        <p:txBody>
          <a:bodyPr wrap="square" anchor="ctr" lIns="45720" rIns="45720">
            <a:spAutoFit/>
          </a:bodyPr>
          <a:lstStyle/>
          <a:p>
            <a:pPr algn="ctr">
              <a:spcAft>
                <a:spcPts val="400"/>
              </a:spcAft>
            </a:pPr>
            <a:r>
              <a:rPr sz="4200" b="1">
                <a:solidFill>
                  <a:srgbClr val="FFFFFF"/>
                </a:solidFill>
                <a:latin typeface="Arial"/>
              </a:rPr>
              <a:t>?</a:t>
            </a:r>
          </a:p>
        </p:txBody>
      </p:sp>
      <p:sp>
        <p:nvSpPr>
          <p:cNvPr id="9" name="TextBox 8"/>
          <p:cNvSpPr txBox="1"/>
          <p:nvPr/>
        </p:nvSpPr>
        <p:spPr>
          <a:xfrm>
            <a:off x="2423160" y="2029968"/>
            <a:ext cx="8887968" cy="169164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MEP is preparing its first ISO 14001:2026-aligned EMS. Managers have energy bills and waste invoices, but no shared view of where activities interact with air, water, land, resources or neighbours.</a:t>
            </a:r>
          </a:p>
        </p:txBody>
      </p:sp>
      <p:sp>
        <p:nvSpPr>
          <p:cNvPr id="10" name="Rounded Rectangle 9"/>
          <p:cNvSpPr/>
          <p:nvPr/>
        </p:nvSpPr>
        <p:spPr>
          <a:xfrm>
            <a:off x="2423160" y="3886200"/>
            <a:ext cx="8887968" cy="150876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4096512"/>
            <a:ext cx="8366760" cy="1078992"/>
          </a:xfrm>
          <a:prstGeom prst="rect">
            <a:avLst/>
          </a:prstGeom>
          <a:noFill/>
        </p:spPr>
        <p:txBody>
          <a:bodyPr wrap="square" anchor="ctr" lIns="45720" rIns="45720">
            <a:spAutoFit/>
          </a:bodyPr>
          <a:lstStyle/>
          <a:p>
            <a:pPr algn="l">
              <a:spcAft>
                <a:spcPts val="400"/>
              </a:spcAft>
            </a:pPr>
            <a:r>
              <a:rPr sz="1700" b="1">
                <a:solidFill>
                  <a:srgbClr val="1F6FEB"/>
                </a:solidFill>
                <a:latin typeface="Arial"/>
              </a:rPr>
              <a:t>Decide what evidence you need, what method fits, and how you will know the result is credible.</a:t>
            </a:r>
          </a:p>
        </p:txBody>
      </p:sp>
      <p:sp>
        <p:nvSpPr>
          <p:cNvPr id="12" name="TextBox 11"/>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3" name="TextBox 12"/>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4" name="TextBox 13"/>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ACTIVITY 1  |  VERIFY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Build the Environmental Baseline and Aspect Inventory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93392"/>
            <a:ext cx="10652760" cy="329184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04288"/>
            <a:ext cx="9966960" cy="438912"/>
          </a:xfrm>
          <a:prstGeom prst="rect">
            <a:avLst/>
          </a:prstGeom>
          <a:noFill/>
        </p:spPr>
        <p:txBody>
          <a:bodyPr wrap="square" anchor="t" lIns="45720" rIns="45720">
            <a:spAutoFit/>
          </a:bodyPr>
          <a:lstStyle/>
          <a:p>
            <a:pPr algn="l">
              <a:spcAft>
                <a:spcPts val="400"/>
              </a:spcAft>
            </a:pPr>
            <a:r>
              <a:rPr sz="1500" b="1">
                <a:solidFill>
                  <a:srgbClr val="16854A"/>
                </a:solidFill>
                <a:latin typeface="Arial"/>
              </a:rPr>
              <a:t>CHECK YOUR EVIDENCE</a:t>
            </a:r>
          </a:p>
        </p:txBody>
      </p:sp>
      <p:sp>
        <p:nvSpPr>
          <p:cNvPr id="9" name="TextBox 8"/>
          <p:cNvSpPr txBox="1"/>
          <p:nvPr/>
        </p:nvSpPr>
        <p:spPr>
          <a:xfrm>
            <a:off x="1097280" y="2871216"/>
            <a:ext cx="9966960" cy="132588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The inventory covers normal, abnormal and potential emergency conditions; every aspect-impact pair is logically linked and traceable to supplied evidence or an explicit evidence gap.</a:t>
            </a:r>
          </a:p>
        </p:txBody>
      </p:sp>
      <p:sp>
        <p:nvSpPr>
          <p:cNvPr id="10" name="TextBox 9"/>
          <p:cNvSpPr txBox="1"/>
          <p:nvPr/>
        </p:nvSpPr>
        <p:spPr>
          <a:xfrm>
            <a:off x="1097280" y="4590288"/>
            <a:ext cx="9966960" cy="365760"/>
          </a:xfrm>
          <a:prstGeom prst="rect">
            <a:avLst/>
          </a:prstGeom>
          <a:noFill/>
        </p:spPr>
        <p:txBody>
          <a:bodyPr wrap="square" anchor="t" lIns="45720" rIns="45720">
            <a:spAutoFit/>
          </a:bodyPr>
          <a:lstStyle/>
          <a:p>
            <a:pPr algn="l">
              <a:spcAft>
                <a:spcPts val="400"/>
              </a:spcAft>
            </a:pPr>
            <a:r>
              <a:rPr sz="1250" b="0">
                <a:solidFill>
                  <a:srgbClr val="5B6372"/>
                </a:solidFill>
                <a:latin typeface="Arial"/>
              </a:rPr>
              <a:t>Detailed steps, scenario exhibits and templates are in the Learner Guide and activity folder.</a:t>
            </a:r>
          </a:p>
        </p:txBody>
      </p:sp>
      <p:sp>
        <p:nvSpPr>
          <p:cNvPr id="11" name="TextBox 1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2" name="TextBox 1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3" name="TextBox 1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7C3AED"/>
                </a:solidFill>
                <a:latin typeface="Arial"/>
              </a:rPr>
              <a:t>PLANNING</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Risk-based thinking: prioritise proportionately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5084064"/>
            <a:ext cx="758952" cy="758952"/>
          </a:xfrm>
          <a:prstGeom prst="rect">
            <a:avLst/>
          </a:prstGeom>
          <a:solidFill>
            <a:srgbClr val="E8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5248656"/>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1</a:t>
            </a:r>
          </a:p>
        </p:txBody>
      </p:sp>
      <p:sp>
        <p:nvSpPr>
          <p:cNvPr id="9" name="Rectangle 8"/>
          <p:cNvSpPr/>
          <p:nvPr/>
        </p:nvSpPr>
        <p:spPr>
          <a:xfrm>
            <a:off x="2386584" y="5084064"/>
            <a:ext cx="758952" cy="758952"/>
          </a:xfrm>
          <a:prstGeom prst="rect">
            <a:avLst/>
          </a:prstGeom>
          <a:solidFill>
            <a:srgbClr val="E8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86584" y="5248656"/>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2</a:t>
            </a:r>
          </a:p>
        </p:txBody>
      </p:sp>
      <p:sp>
        <p:nvSpPr>
          <p:cNvPr id="11" name="Rectangle 10"/>
          <p:cNvSpPr/>
          <p:nvPr/>
        </p:nvSpPr>
        <p:spPr>
          <a:xfrm>
            <a:off x="3172968" y="5084064"/>
            <a:ext cx="758952" cy="758952"/>
          </a:xfrm>
          <a:prstGeom prst="rect">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72968" y="5248656"/>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3</a:t>
            </a:r>
          </a:p>
        </p:txBody>
      </p:sp>
      <p:sp>
        <p:nvSpPr>
          <p:cNvPr id="13" name="Rectangle 12"/>
          <p:cNvSpPr/>
          <p:nvPr/>
        </p:nvSpPr>
        <p:spPr>
          <a:xfrm>
            <a:off x="3959352" y="5084064"/>
            <a:ext cx="758952" cy="758952"/>
          </a:xfrm>
          <a:prstGeom prst="rect">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59352" y="5248656"/>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4</a:t>
            </a:r>
          </a:p>
        </p:txBody>
      </p:sp>
      <p:sp>
        <p:nvSpPr>
          <p:cNvPr id="15" name="Rectangle 14"/>
          <p:cNvSpPr/>
          <p:nvPr/>
        </p:nvSpPr>
        <p:spPr>
          <a:xfrm>
            <a:off x="4745736" y="5084064"/>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45736" y="5248656"/>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5</a:t>
            </a:r>
          </a:p>
        </p:txBody>
      </p:sp>
      <p:sp>
        <p:nvSpPr>
          <p:cNvPr id="17" name="Rectangle 16"/>
          <p:cNvSpPr/>
          <p:nvPr/>
        </p:nvSpPr>
        <p:spPr>
          <a:xfrm>
            <a:off x="1600200" y="4297680"/>
            <a:ext cx="758952" cy="758952"/>
          </a:xfrm>
          <a:prstGeom prst="rect">
            <a:avLst/>
          </a:prstGeom>
          <a:solidFill>
            <a:srgbClr val="E8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00200" y="4462272"/>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2</a:t>
            </a:r>
          </a:p>
        </p:txBody>
      </p:sp>
      <p:sp>
        <p:nvSpPr>
          <p:cNvPr id="19" name="Rectangle 18"/>
          <p:cNvSpPr/>
          <p:nvPr/>
        </p:nvSpPr>
        <p:spPr>
          <a:xfrm>
            <a:off x="2386584" y="4297680"/>
            <a:ext cx="758952" cy="758952"/>
          </a:xfrm>
          <a:prstGeom prst="rect">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86584" y="4462272"/>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4</a:t>
            </a:r>
          </a:p>
        </p:txBody>
      </p:sp>
      <p:sp>
        <p:nvSpPr>
          <p:cNvPr id="21" name="Rectangle 20"/>
          <p:cNvSpPr/>
          <p:nvPr/>
        </p:nvSpPr>
        <p:spPr>
          <a:xfrm>
            <a:off x="3172968" y="4297680"/>
            <a:ext cx="758952" cy="758952"/>
          </a:xfrm>
          <a:prstGeom prst="rect">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72968" y="4462272"/>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6</a:t>
            </a:r>
          </a:p>
        </p:txBody>
      </p:sp>
      <p:sp>
        <p:nvSpPr>
          <p:cNvPr id="23" name="Rectangle 22"/>
          <p:cNvSpPr/>
          <p:nvPr/>
        </p:nvSpPr>
        <p:spPr>
          <a:xfrm>
            <a:off x="3959352" y="4297680"/>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59352" y="4462272"/>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8</a:t>
            </a:r>
          </a:p>
        </p:txBody>
      </p:sp>
      <p:sp>
        <p:nvSpPr>
          <p:cNvPr id="25" name="Rectangle 24"/>
          <p:cNvSpPr/>
          <p:nvPr/>
        </p:nvSpPr>
        <p:spPr>
          <a:xfrm>
            <a:off x="4745736" y="4297680"/>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45736" y="4462272"/>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10</a:t>
            </a:r>
          </a:p>
        </p:txBody>
      </p:sp>
      <p:sp>
        <p:nvSpPr>
          <p:cNvPr id="27" name="Rectangle 26"/>
          <p:cNvSpPr/>
          <p:nvPr/>
        </p:nvSpPr>
        <p:spPr>
          <a:xfrm>
            <a:off x="1600200" y="3511296"/>
            <a:ext cx="758952" cy="758952"/>
          </a:xfrm>
          <a:prstGeom prst="rect">
            <a:avLst/>
          </a:prstGeom>
          <a:solidFill>
            <a:srgbClr val="E8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00200" y="3675888"/>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3</a:t>
            </a:r>
          </a:p>
        </p:txBody>
      </p:sp>
      <p:sp>
        <p:nvSpPr>
          <p:cNvPr id="29" name="Rectangle 28"/>
          <p:cNvSpPr/>
          <p:nvPr/>
        </p:nvSpPr>
        <p:spPr>
          <a:xfrm>
            <a:off x="2386584" y="3511296"/>
            <a:ext cx="758952" cy="758952"/>
          </a:xfrm>
          <a:prstGeom prst="rect">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386584" y="3675888"/>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6</a:t>
            </a:r>
          </a:p>
        </p:txBody>
      </p:sp>
      <p:sp>
        <p:nvSpPr>
          <p:cNvPr id="31" name="Rectangle 30"/>
          <p:cNvSpPr/>
          <p:nvPr/>
        </p:nvSpPr>
        <p:spPr>
          <a:xfrm>
            <a:off x="3172968" y="3511296"/>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172968" y="3675888"/>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9</a:t>
            </a:r>
          </a:p>
        </p:txBody>
      </p:sp>
      <p:sp>
        <p:nvSpPr>
          <p:cNvPr id="33" name="Rectangle 32"/>
          <p:cNvSpPr/>
          <p:nvPr/>
        </p:nvSpPr>
        <p:spPr>
          <a:xfrm>
            <a:off x="3959352" y="3511296"/>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59352" y="3675888"/>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12</a:t>
            </a:r>
          </a:p>
        </p:txBody>
      </p:sp>
      <p:sp>
        <p:nvSpPr>
          <p:cNvPr id="35" name="Rectangle 34"/>
          <p:cNvSpPr/>
          <p:nvPr/>
        </p:nvSpPr>
        <p:spPr>
          <a:xfrm>
            <a:off x="4745736" y="3511296"/>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45736" y="3675888"/>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15</a:t>
            </a:r>
          </a:p>
        </p:txBody>
      </p:sp>
      <p:sp>
        <p:nvSpPr>
          <p:cNvPr id="37" name="Rectangle 36"/>
          <p:cNvSpPr/>
          <p:nvPr/>
        </p:nvSpPr>
        <p:spPr>
          <a:xfrm>
            <a:off x="1600200" y="2724912"/>
            <a:ext cx="758952" cy="758952"/>
          </a:xfrm>
          <a:prstGeom prst="rect">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00200" y="2889504"/>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4</a:t>
            </a:r>
          </a:p>
        </p:txBody>
      </p:sp>
      <p:sp>
        <p:nvSpPr>
          <p:cNvPr id="39" name="Rectangle 38"/>
          <p:cNvSpPr/>
          <p:nvPr/>
        </p:nvSpPr>
        <p:spPr>
          <a:xfrm>
            <a:off x="2386584" y="2724912"/>
            <a:ext cx="758952" cy="758952"/>
          </a:xfrm>
          <a:prstGeom prst="rect">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386584" y="2889504"/>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8</a:t>
            </a:r>
          </a:p>
        </p:txBody>
      </p:sp>
      <p:sp>
        <p:nvSpPr>
          <p:cNvPr id="41" name="Rectangle 40"/>
          <p:cNvSpPr/>
          <p:nvPr/>
        </p:nvSpPr>
        <p:spPr>
          <a:xfrm>
            <a:off x="3172968" y="2724912"/>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172968" y="2889504"/>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12</a:t>
            </a:r>
          </a:p>
        </p:txBody>
      </p:sp>
      <p:sp>
        <p:nvSpPr>
          <p:cNvPr id="43" name="Rectangle 42"/>
          <p:cNvSpPr/>
          <p:nvPr/>
        </p:nvSpPr>
        <p:spPr>
          <a:xfrm>
            <a:off x="3959352" y="2724912"/>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959352" y="2889504"/>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16</a:t>
            </a:r>
          </a:p>
        </p:txBody>
      </p:sp>
      <p:sp>
        <p:nvSpPr>
          <p:cNvPr id="45" name="Rectangle 44"/>
          <p:cNvSpPr/>
          <p:nvPr/>
        </p:nvSpPr>
        <p:spPr>
          <a:xfrm>
            <a:off x="4745736" y="2724912"/>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45736" y="2889504"/>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20</a:t>
            </a:r>
          </a:p>
        </p:txBody>
      </p:sp>
      <p:sp>
        <p:nvSpPr>
          <p:cNvPr id="47" name="Rectangle 46"/>
          <p:cNvSpPr/>
          <p:nvPr/>
        </p:nvSpPr>
        <p:spPr>
          <a:xfrm>
            <a:off x="1600200" y="1938528"/>
            <a:ext cx="758952" cy="758952"/>
          </a:xfrm>
          <a:prstGeom prst="rect">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600200" y="2103120"/>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5</a:t>
            </a:r>
          </a:p>
        </p:txBody>
      </p:sp>
      <p:sp>
        <p:nvSpPr>
          <p:cNvPr id="49" name="Rectangle 48"/>
          <p:cNvSpPr/>
          <p:nvPr/>
        </p:nvSpPr>
        <p:spPr>
          <a:xfrm>
            <a:off x="2386584" y="1938528"/>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386584" y="2103120"/>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10</a:t>
            </a:r>
          </a:p>
        </p:txBody>
      </p:sp>
      <p:sp>
        <p:nvSpPr>
          <p:cNvPr id="51" name="Rectangle 50"/>
          <p:cNvSpPr/>
          <p:nvPr/>
        </p:nvSpPr>
        <p:spPr>
          <a:xfrm>
            <a:off x="3172968" y="1938528"/>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172968" y="2103120"/>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15</a:t>
            </a:r>
          </a:p>
        </p:txBody>
      </p:sp>
      <p:sp>
        <p:nvSpPr>
          <p:cNvPr id="53" name="Rectangle 52"/>
          <p:cNvSpPr/>
          <p:nvPr/>
        </p:nvSpPr>
        <p:spPr>
          <a:xfrm>
            <a:off x="3959352" y="1938528"/>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959352" y="2103120"/>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20</a:t>
            </a:r>
          </a:p>
        </p:txBody>
      </p:sp>
      <p:sp>
        <p:nvSpPr>
          <p:cNvPr id="55" name="Rectangle 54"/>
          <p:cNvSpPr/>
          <p:nvPr/>
        </p:nvSpPr>
        <p:spPr>
          <a:xfrm>
            <a:off x="4745736" y="1938528"/>
            <a:ext cx="758952" cy="758952"/>
          </a:xfrm>
          <a:prstGeom prst="rect">
            <a:avLst/>
          </a:prstGeom>
          <a:solidFill>
            <a:srgbClr val="FEE2E2"/>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45736" y="2103120"/>
            <a:ext cx="758952" cy="365760"/>
          </a:xfrm>
          <a:prstGeom prst="rect">
            <a:avLst/>
          </a:prstGeom>
          <a:noFill/>
        </p:spPr>
        <p:txBody>
          <a:bodyPr wrap="square" anchor="t" lIns="45720" rIns="45720">
            <a:spAutoFit/>
          </a:bodyPr>
          <a:lstStyle/>
          <a:p>
            <a:pPr algn="ctr">
              <a:spcAft>
                <a:spcPts val="400"/>
              </a:spcAft>
            </a:pPr>
            <a:r>
              <a:rPr sz="1300" b="1">
                <a:solidFill>
                  <a:srgbClr val="161B26"/>
                </a:solidFill>
                <a:latin typeface="Arial"/>
              </a:rPr>
              <a:t>25</a:t>
            </a:r>
          </a:p>
        </p:txBody>
      </p:sp>
      <p:sp>
        <p:nvSpPr>
          <p:cNvPr id="57" name="TextBox 56"/>
          <p:cNvSpPr txBox="1"/>
          <p:nvPr/>
        </p:nvSpPr>
        <p:spPr>
          <a:xfrm>
            <a:off x="594360" y="1920240"/>
            <a:ext cx="731520" cy="3840480"/>
          </a:xfrm>
          <a:prstGeom prst="rect">
            <a:avLst/>
          </a:prstGeom>
          <a:noFill/>
        </p:spPr>
        <p:txBody>
          <a:bodyPr wrap="square" anchor="ctr" lIns="45720" rIns="45720">
            <a:spAutoFit/>
          </a:bodyPr>
          <a:lstStyle/>
          <a:p>
            <a:pPr algn="ctr">
              <a:spcAft>
                <a:spcPts val="400"/>
              </a:spcAft>
            </a:pPr>
            <a:r>
              <a:rPr sz="1300" b="1">
                <a:solidFill>
                  <a:srgbClr val="7C3AED"/>
                </a:solidFill>
                <a:latin typeface="Arial"/>
              </a:rPr>
              <a:t>IMPACT</a:t>
            </a:r>
          </a:p>
        </p:txBody>
      </p:sp>
      <p:sp>
        <p:nvSpPr>
          <p:cNvPr id="58" name="TextBox 57"/>
          <p:cNvSpPr txBox="1"/>
          <p:nvPr/>
        </p:nvSpPr>
        <p:spPr>
          <a:xfrm>
            <a:off x="1600200" y="5961888"/>
            <a:ext cx="3931920" cy="274320"/>
          </a:xfrm>
          <a:prstGeom prst="rect">
            <a:avLst/>
          </a:prstGeom>
          <a:noFill/>
        </p:spPr>
        <p:txBody>
          <a:bodyPr wrap="square" anchor="t" lIns="45720" rIns="45720">
            <a:spAutoFit/>
          </a:bodyPr>
          <a:lstStyle/>
          <a:p>
            <a:pPr algn="ctr">
              <a:spcAft>
                <a:spcPts val="400"/>
              </a:spcAft>
            </a:pPr>
            <a:r>
              <a:rPr sz="1300" b="1">
                <a:solidFill>
                  <a:srgbClr val="7C3AED"/>
                </a:solidFill>
                <a:latin typeface="Arial"/>
              </a:rPr>
              <a:t>LIKELIHOOD</a:t>
            </a:r>
          </a:p>
        </p:txBody>
      </p:sp>
      <p:sp>
        <p:nvSpPr>
          <p:cNvPr id="59" name="TextBox 58"/>
          <p:cNvSpPr txBox="1"/>
          <p:nvPr/>
        </p:nvSpPr>
        <p:spPr>
          <a:xfrm>
            <a:off x="1600200" y="5678424"/>
            <a:ext cx="758952" cy="228600"/>
          </a:xfrm>
          <a:prstGeom prst="rect">
            <a:avLst/>
          </a:prstGeom>
          <a:noFill/>
        </p:spPr>
        <p:txBody>
          <a:bodyPr wrap="square" anchor="t" lIns="45720" rIns="45720">
            <a:spAutoFit/>
          </a:bodyPr>
          <a:lstStyle/>
          <a:p>
            <a:pPr algn="ctr">
              <a:spcAft>
                <a:spcPts val="400"/>
              </a:spcAft>
            </a:pPr>
            <a:r>
              <a:rPr sz="1050" b="1">
                <a:solidFill>
                  <a:srgbClr val="7C3AED"/>
                </a:solidFill>
                <a:latin typeface="Arial"/>
              </a:rPr>
              <a:t>1</a:t>
            </a:r>
          </a:p>
        </p:txBody>
      </p:sp>
      <p:sp>
        <p:nvSpPr>
          <p:cNvPr id="60" name="TextBox 59"/>
          <p:cNvSpPr txBox="1"/>
          <p:nvPr/>
        </p:nvSpPr>
        <p:spPr>
          <a:xfrm>
            <a:off x="1353312" y="5248656"/>
            <a:ext cx="219456" cy="274320"/>
          </a:xfrm>
          <a:prstGeom prst="rect">
            <a:avLst/>
          </a:prstGeom>
          <a:noFill/>
        </p:spPr>
        <p:txBody>
          <a:bodyPr wrap="square" anchor="t" lIns="45720" rIns="45720">
            <a:spAutoFit/>
          </a:bodyPr>
          <a:lstStyle/>
          <a:p>
            <a:pPr algn="ctr">
              <a:spcAft>
                <a:spcPts val="400"/>
              </a:spcAft>
            </a:pPr>
            <a:r>
              <a:rPr sz="1050" b="1">
                <a:solidFill>
                  <a:srgbClr val="7C3AED"/>
                </a:solidFill>
                <a:latin typeface="Arial"/>
              </a:rPr>
              <a:t>1</a:t>
            </a:r>
          </a:p>
        </p:txBody>
      </p:sp>
      <p:sp>
        <p:nvSpPr>
          <p:cNvPr id="61" name="TextBox 60"/>
          <p:cNvSpPr txBox="1"/>
          <p:nvPr/>
        </p:nvSpPr>
        <p:spPr>
          <a:xfrm>
            <a:off x="2386584" y="5678424"/>
            <a:ext cx="758952" cy="228600"/>
          </a:xfrm>
          <a:prstGeom prst="rect">
            <a:avLst/>
          </a:prstGeom>
          <a:noFill/>
        </p:spPr>
        <p:txBody>
          <a:bodyPr wrap="square" anchor="t" lIns="45720" rIns="45720">
            <a:spAutoFit/>
          </a:bodyPr>
          <a:lstStyle/>
          <a:p>
            <a:pPr algn="ctr">
              <a:spcAft>
                <a:spcPts val="400"/>
              </a:spcAft>
            </a:pPr>
            <a:r>
              <a:rPr sz="1050" b="1">
                <a:solidFill>
                  <a:srgbClr val="7C3AED"/>
                </a:solidFill>
                <a:latin typeface="Arial"/>
              </a:rPr>
              <a:t>2</a:t>
            </a:r>
          </a:p>
        </p:txBody>
      </p:sp>
      <p:sp>
        <p:nvSpPr>
          <p:cNvPr id="62" name="TextBox 61"/>
          <p:cNvSpPr txBox="1"/>
          <p:nvPr/>
        </p:nvSpPr>
        <p:spPr>
          <a:xfrm>
            <a:off x="1353312" y="4462272"/>
            <a:ext cx="219456" cy="274320"/>
          </a:xfrm>
          <a:prstGeom prst="rect">
            <a:avLst/>
          </a:prstGeom>
          <a:noFill/>
        </p:spPr>
        <p:txBody>
          <a:bodyPr wrap="square" anchor="t" lIns="45720" rIns="45720">
            <a:spAutoFit/>
          </a:bodyPr>
          <a:lstStyle/>
          <a:p>
            <a:pPr algn="ctr">
              <a:spcAft>
                <a:spcPts val="400"/>
              </a:spcAft>
            </a:pPr>
            <a:r>
              <a:rPr sz="1050" b="1">
                <a:solidFill>
                  <a:srgbClr val="7C3AED"/>
                </a:solidFill>
                <a:latin typeface="Arial"/>
              </a:rPr>
              <a:t>2</a:t>
            </a:r>
          </a:p>
        </p:txBody>
      </p:sp>
      <p:sp>
        <p:nvSpPr>
          <p:cNvPr id="63" name="TextBox 62"/>
          <p:cNvSpPr txBox="1"/>
          <p:nvPr/>
        </p:nvSpPr>
        <p:spPr>
          <a:xfrm>
            <a:off x="3172968" y="5678424"/>
            <a:ext cx="758952" cy="228600"/>
          </a:xfrm>
          <a:prstGeom prst="rect">
            <a:avLst/>
          </a:prstGeom>
          <a:noFill/>
        </p:spPr>
        <p:txBody>
          <a:bodyPr wrap="square" anchor="t" lIns="45720" rIns="45720">
            <a:spAutoFit/>
          </a:bodyPr>
          <a:lstStyle/>
          <a:p>
            <a:pPr algn="ctr">
              <a:spcAft>
                <a:spcPts val="400"/>
              </a:spcAft>
            </a:pPr>
            <a:r>
              <a:rPr sz="1050" b="1">
                <a:solidFill>
                  <a:srgbClr val="7C3AED"/>
                </a:solidFill>
                <a:latin typeface="Arial"/>
              </a:rPr>
              <a:t>3</a:t>
            </a:r>
          </a:p>
        </p:txBody>
      </p:sp>
      <p:sp>
        <p:nvSpPr>
          <p:cNvPr id="64" name="TextBox 63"/>
          <p:cNvSpPr txBox="1"/>
          <p:nvPr/>
        </p:nvSpPr>
        <p:spPr>
          <a:xfrm>
            <a:off x="1353312" y="3675888"/>
            <a:ext cx="219456" cy="274320"/>
          </a:xfrm>
          <a:prstGeom prst="rect">
            <a:avLst/>
          </a:prstGeom>
          <a:noFill/>
        </p:spPr>
        <p:txBody>
          <a:bodyPr wrap="square" anchor="t" lIns="45720" rIns="45720">
            <a:spAutoFit/>
          </a:bodyPr>
          <a:lstStyle/>
          <a:p>
            <a:pPr algn="ctr">
              <a:spcAft>
                <a:spcPts val="400"/>
              </a:spcAft>
            </a:pPr>
            <a:r>
              <a:rPr sz="1050" b="1">
                <a:solidFill>
                  <a:srgbClr val="7C3AED"/>
                </a:solidFill>
                <a:latin typeface="Arial"/>
              </a:rPr>
              <a:t>3</a:t>
            </a:r>
          </a:p>
        </p:txBody>
      </p:sp>
      <p:sp>
        <p:nvSpPr>
          <p:cNvPr id="65" name="TextBox 64"/>
          <p:cNvSpPr txBox="1"/>
          <p:nvPr/>
        </p:nvSpPr>
        <p:spPr>
          <a:xfrm>
            <a:off x="3959352" y="5678424"/>
            <a:ext cx="758952" cy="228600"/>
          </a:xfrm>
          <a:prstGeom prst="rect">
            <a:avLst/>
          </a:prstGeom>
          <a:noFill/>
        </p:spPr>
        <p:txBody>
          <a:bodyPr wrap="square" anchor="t" lIns="45720" rIns="45720">
            <a:spAutoFit/>
          </a:bodyPr>
          <a:lstStyle/>
          <a:p>
            <a:pPr algn="ctr">
              <a:spcAft>
                <a:spcPts val="400"/>
              </a:spcAft>
            </a:pPr>
            <a:r>
              <a:rPr sz="1050" b="1">
                <a:solidFill>
                  <a:srgbClr val="7C3AED"/>
                </a:solidFill>
                <a:latin typeface="Arial"/>
              </a:rPr>
              <a:t>4</a:t>
            </a:r>
          </a:p>
        </p:txBody>
      </p:sp>
      <p:sp>
        <p:nvSpPr>
          <p:cNvPr id="66" name="TextBox 65"/>
          <p:cNvSpPr txBox="1"/>
          <p:nvPr/>
        </p:nvSpPr>
        <p:spPr>
          <a:xfrm>
            <a:off x="1353312" y="2889504"/>
            <a:ext cx="219456" cy="274320"/>
          </a:xfrm>
          <a:prstGeom prst="rect">
            <a:avLst/>
          </a:prstGeom>
          <a:noFill/>
        </p:spPr>
        <p:txBody>
          <a:bodyPr wrap="square" anchor="t" lIns="45720" rIns="45720">
            <a:spAutoFit/>
          </a:bodyPr>
          <a:lstStyle/>
          <a:p>
            <a:pPr algn="ctr">
              <a:spcAft>
                <a:spcPts val="400"/>
              </a:spcAft>
            </a:pPr>
            <a:r>
              <a:rPr sz="1050" b="1">
                <a:solidFill>
                  <a:srgbClr val="7C3AED"/>
                </a:solidFill>
                <a:latin typeface="Arial"/>
              </a:rPr>
              <a:t>4</a:t>
            </a:r>
          </a:p>
        </p:txBody>
      </p:sp>
      <p:sp>
        <p:nvSpPr>
          <p:cNvPr id="67" name="TextBox 66"/>
          <p:cNvSpPr txBox="1"/>
          <p:nvPr/>
        </p:nvSpPr>
        <p:spPr>
          <a:xfrm>
            <a:off x="4745736" y="5678424"/>
            <a:ext cx="758952" cy="228600"/>
          </a:xfrm>
          <a:prstGeom prst="rect">
            <a:avLst/>
          </a:prstGeom>
          <a:noFill/>
        </p:spPr>
        <p:txBody>
          <a:bodyPr wrap="square" anchor="t" lIns="45720" rIns="45720">
            <a:spAutoFit/>
          </a:bodyPr>
          <a:lstStyle/>
          <a:p>
            <a:pPr algn="ctr">
              <a:spcAft>
                <a:spcPts val="400"/>
              </a:spcAft>
            </a:pPr>
            <a:r>
              <a:rPr sz="1050" b="1">
                <a:solidFill>
                  <a:srgbClr val="7C3AED"/>
                </a:solidFill>
                <a:latin typeface="Arial"/>
              </a:rPr>
              <a:t>5</a:t>
            </a:r>
          </a:p>
        </p:txBody>
      </p:sp>
      <p:sp>
        <p:nvSpPr>
          <p:cNvPr id="68" name="TextBox 67"/>
          <p:cNvSpPr txBox="1"/>
          <p:nvPr/>
        </p:nvSpPr>
        <p:spPr>
          <a:xfrm>
            <a:off x="1353312" y="2103120"/>
            <a:ext cx="219456" cy="274320"/>
          </a:xfrm>
          <a:prstGeom prst="rect">
            <a:avLst/>
          </a:prstGeom>
          <a:noFill/>
        </p:spPr>
        <p:txBody>
          <a:bodyPr wrap="square" anchor="t" lIns="45720" rIns="45720">
            <a:spAutoFit/>
          </a:bodyPr>
          <a:lstStyle/>
          <a:p>
            <a:pPr algn="ctr">
              <a:spcAft>
                <a:spcPts val="400"/>
              </a:spcAft>
            </a:pPr>
            <a:r>
              <a:rPr sz="1050" b="1">
                <a:solidFill>
                  <a:srgbClr val="7C3AED"/>
                </a:solidFill>
                <a:latin typeface="Arial"/>
              </a:rPr>
              <a:t>5</a:t>
            </a:r>
          </a:p>
        </p:txBody>
      </p:sp>
      <p:sp>
        <p:nvSpPr>
          <p:cNvPr id="69" name="TextBox 68"/>
          <p:cNvSpPr txBox="1"/>
          <p:nvPr/>
        </p:nvSpPr>
        <p:spPr>
          <a:xfrm>
            <a:off x="1572768" y="6291072"/>
            <a:ext cx="4023360" cy="182880"/>
          </a:xfrm>
          <a:prstGeom prst="rect">
            <a:avLst/>
          </a:prstGeom>
          <a:noFill/>
        </p:spPr>
        <p:txBody>
          <a:bodyPr wrap="square" anchor="t" lIns="45720" rIns="45720">
            <a:spAutoFit/>
          </a:bodyPr>
          <a:lstStyle/>
          <a:p>
            <a:pPr algn="ctr">
              <a:spcAft>
                <a:spcPts val="400"/>
              </a:spcAft>
            </a:pPr>
            <a:r>
              <a:rPr sz="950" b="0">
                <a:solidFill>
                  <a:srgbClr val="5B6372"/>
                </a:solidFill>
                <a:latin typeface="Arial"/>
              </a:rPr>
              <a:t>Green = lower  |  Amber = moderate  |  Red = higher</a:t>
            </a:r>
          </a:p>
        </p:txBody>
      </p:sp>
      <p:sp>
        <p:nvSpPr>
          <p:cNvPr id="70" name="Rounded Rectangle 69"/>
          <p:cNvSpPr/>
          <p:nvPr/>
        </p:nvSpPr>
        <p:spPr>
          <a:xfrm>
            <a:off x="6400800" y="1984248"/>
            <a:ext cx="4892040" cy="74980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400800" y="1984248"/>
            <a:ext cx="73152" cy="7498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675120" y="2057400"/>
            <a:ext cx="1097280" cy="566928"/>
          </a:xfrm>
          <a:prstGeom prst="rect">
            <a:avLst/>
          </a:prstGeom>
          <a:noFill/>
        </p:spPr>
        <p:txBody>
          <a:bodyPr wrap="square" anchor="ctr" lIns="45720" rIns="45720">
            <a:spAutoFit/>
          </a:bodyPr>
          <a:lstStyle/>
          <a:p>
            <a:pPr algn="l">
              <a:spcAft>
                <a:spcPts val="400"/>
              </a:spcAft>
            </a:pPr>
            <a:r>
              <a:rPr sz="1400" b="1">
                <a:solidFill>
                  <a:srgbClr val="1F6FEB"/>
                </a:solidFill>
                <a:latin typeface="Arial"/>
              </a:rPr>
              <a:t>Determine</a:t>
            </a:r>
          </a:p>
        </p:txBody>
      </p:sp>
      <p:sp>
        <p:nvSpPr>
          <p:cNvPr id="73" name="TextBox 72"/>
          <p:cNvSpPr txBox="1"/>
          <p:nvPr/>
        </p:nvSpPr>
        <p:spPr>
          <a:xfrm>
            <a:off x="7818120" y="2057400"/>
            <a:ext cx="3154680" cy="566928"/>
          </a:xfrm>
          <a:prstGeom prst="rect">
            <a:avLst/>
          </a:prstGeom>
          <a:noFill/>
        </p:spPr>
        <p:txBody>
          <a:bodyPr wrap="square" anchor="ctr" lIns="45720" rIns="45720">
            <a:spAutoFit/>
          </a:bodyPr>
          <a:lstStyle/>
          <a:p>
            <a:pPr algn="l">
              <a:spcAft>
                <a:spcPts val="400"/>
              </a:spcAft>
            </a:pPr>
            <a:r>
              <a:rPr sz="1300" b="0">
                <a:solidFill>
                  <a:srgbClr val="161B26"/>
                </a:solidFill>
                <a:latin typeface="Arial"/>
              </a:rPr>
              <a:t>What could affect the intended result?</a:t>
            </a:r>
          </a:p>
        </p:txBody>
      </p:sp>
      <p:sp>
        <p:nvSpPr>
          <p:cNvPr id="74" name="Rounded Rectangle 73"/>
          <p:cNvSpPr/>
          <p:nvPr/>
        </p:nvSpPr>
        <p:spPr>
          <a:xfrm>
            <a:off x="6400800" y="2898648"/>
            <a:ext cx="4892040" cy="74980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400800" y="2898648"/>
            <a:ext cx="73152" cy="74980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675120" y="2971800"/>
            <a:ext cx="1097280" cy="566928"/>
          </a:xfrm>
          <a:prstGeom prst="rect">
            <a:avLst/>
          </a:prstGeom>
          <a:noFill/>
        </p:spPr>
        <p:txBody>
          <a:bodyPr wrap="square" anchor="ctr" lIns="45720" rIns="45720">
            <a:spAutoFit/>
          </a:bodyPr>
          <a:lstStyle/>
          <a:p>
            <a:pPr algn="l">
              <a:spcAft>
                <a:spcPts val="400"/>
              </a:spcAft>
            </a:pPr>
            <a:r>
              <a:rPr sz="1400" b="1">
                <a:solidFill>
                  <a:srgbClr val="0F9D8A"/>
                </a:solidFill>
                <a:latin typeface="Arial"/>
              </a:rPr>
              <a:t>Plan</a:t>
            </a:r>
          </a:p>
        </p:txBody>
      </p:sp>
      <p:sp>
        <p:nvSpPr>
          <p:cNvPr id="77" name="TextBox 76"/>
          <p:cNvSpPr txBox="1"/>
          <p:nvPr/>
        </p:nvSpPr>
        <p:spPr>
          <a:xfrm>
            <a:off x="7818120" y="2971800"/>
            <a:ext cx="3154680" cy="566928"/>
          </a:xfrm>
          <a:prstGeom prst="rect">
            <a:avLst/>
          </a:prstGeom>
          <a:noFill/>
        </p:spPr>
        <p:txBody>
          <a:bodyPr wrap="square" anchor="ctr" lIns="45720" rIns="45720">
            <a:spAutoFit/>
          </a:bodyPr>
          <a:lstStyle/>
          <a:p>
            <a:pPr algn="l">
              <a:spcAft>
                <a:spcPts val="400"/>
              </a:spcAft>
            </a:pPr>
            <a:r>
              <a:rPr sz="1300" b="0">
                <a:solidFill>
                  <a:srgbClr val="161B26"/>
                </a:solidFill>
                <a:latin typeface="Arial"/>
              </a:rPr>
              <a:t>Actions proportionate to potential impact</a:t>
            </a:r>
          </a:p>
        </p:txBody>
      </p:sp>
      <p:sp>
        <p:nvSpPr>
          <p:cNvPr id="78" name="Rounded Rectangle 77"/>
          <p:cNvSpPr/>
          <p:nvPr/>
        </p:nvSpPr>
        <p:spPr>
          <a:xfrm>
            <a:off x="6400800" y="3813048"/>
            <a:ext cx="4892040" cy="74980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400800" y="3813048"/>
            <a:ext cx="73152"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675120" y="3886200"/>
            <a:ext cx="1097280" cy="566928"/>
          </a:xfrm>
          <a:prstGeom prst="rect">
            <a:avLst/>
          </a:prstGeom>
          <a:noFill/>
        </p:spPr>
        <p:txBody>
          <a:bodyPr wrap="square" anchor="ctr" lIns="45720" rIns="45720">
            <a:spAutoFit/>
          </a:bodyPr>
          <a:lstStyle/>
          <a:p>
            <a:pPr algn="l">
              <a:spcAft>
                <a:spcPts val="400"/>
              </a:spcAft>
            </a:pPr>
            <a:r>
              <a:rPr sz="1400" b="1">
                <a:solidFill>
                  <a:srgbClr val="7C3AED"/>
                </a:solidFill>
                <a:latin typeface="Arial"/>
              </a:rPr>
              <a:t>Integrate</a:t>
            </a:r>
          </a:p>
        </p:txBody>
      </p:sp>
      <p:sp>
        <p:nvSpPr>
          <p:cNvPr id="81" name="TextBox 80"/>
          <p:cNvSpPr txBox="1"/>
          <p:nvPr/>
        </p:nvSpPr>
        <p:spPr>
          <a:xfrm>
            <a:off x="7818120" y="3886200"/>
            <a:ext cx="3154680" cy="566928"/>
          </a:xfrm>
          <a:prstGeom prst="rect">
            <a:avLst/>
          </a:prstGeom>
          <a:noFill/>
        </p:spPr>
        <p:txBody>
          <a:bodyPr wrap="square" anchor="ctr" lIns="45720" rIns="45720">
            <a:spAutoFit/>
          </a:bodyPr>
          <a:lstStyle/>
          <a:p>
            <a:pPr algn="l">
              <a:spcAft>
                <a:spcPts val="400"/>
              </a:spcAft>
            </a:pPr>
            <a:r>
              <a:rPr sz="1300" b="0">
                <a:solidFill>
                  <a:srgbClr val="161B26"/>
                </a:solidFill>
                <a:latin typeface="Arial"/>
              </a:rPr>
              <a:t>Embed actions in real processes</a:t>
            </a:r>
          </a:p>
        </p:txBody>
      </p:sp>
      <p:sp>
        <p:nvSpPr>
          <p:cNvPr id="82" name="Rounded Rectangle 81"/>
          <p:cNvSpPr/>
          <p:nvPr/>
        </p:nvSpPr>
        <p:spPr>
          <a:xfrm>
            <a:off x="6400800" y="4727448"/>
            <a:ext cx="4892040" cy="74980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00800" y="4727448"/>
            <a:ext cx="73152" cy="7498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675120" y="4800600"/>
            <a:ext cx="1097280" cy="566928"/>
          </a:xfrm>
          <a:prstGeom prst="rect">
            <a:avLst/>
          </a:prstGeom>
          <a:noFill/>
        </p:spPr>
        <p:txBody>
          <a:bodyPr wrap="square" anchor="ctr" lIns="45720" rIns="45720">
            <a:spAutoFit/>
          </a:bodyPr>
          <a:lstStyle/>
          <a:p>
            <a:pPr algn="l">
              <a:spcAft>
                <a:spcPts val="400"/>
              </a:spcAft>
            </a:pPr>
            <a:r>
              <a:rPr sz="1400" b="1">
                <a:solidFill>
                  <a:srgbClr val="D97706"/>
                </a:solidFill>
                <a:latin typeface="Arial"/>
              </a:rPr>
              <a:t>Evaluate</a:t>
            </a:r>
          </a:p>
        </p:txBody>
      </p:sp>
      <p:sp>
        <p:nvSpPr>
          <p:cNvPr id="85" name="TextBox 84"/>
          <p:cNvSpPr txBox="1"/>
          <p:nvPr/>
        </p:nvSpPr>
        <p:spPr>
          <a:xfrm>
            <a:off x="7818120" y="4800600"/>
            <a:ext cx="3154680" cy="566928"/>
          </a:xfrm>
          <a:prstGeom prst="rect">
            <a:avLst/>
          </a:prstGeom>
          <a:noFill/>
        </p:spPr>
        <p:txBody>
          <a:bodyPr wrap="square" anchor="ctr" lIns="45720" rIns="45720">
            <a:spAutoFit/>
          </a:bodyPr>
          <a:lstStyle/>
          <a:p>
            <a:pPr algn="l">
              <a:spcAft>
                <a:spcPts val="400"/>
              </a:spcAft>
            </a:pPr>
            <a:r>
              <a:rPr sz="1300" b="0">
                <a:solidFill>
                  <a:srgbClr val="161B26"/>
                </a:solidFill>
                <a:latin typeface="Arial"/>
              </a:rPr>
              <a:t>Check whether actions are effective</a:t>
            </a:r>
          </a:p>
        </p:txBody>
      </p:sp>
      <p:sp>
        <p:nvSpPr>
          <p:cNvPr id="86" name="TextBox 8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87" name="TextBox 8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88" name="TextBox 8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CLAUSE 6.1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Significance and EMS risk answer different questions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Aspect significance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How material is the environmental interaction/impact?</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Use defined significance criteria</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Consider conditions and mandatory overrides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Communicate significant aspects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Risks and opportunities</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What uncertainty affects EMS outcomes or the organisation?</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Connect context, parties, aspects and obligations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Plan proportionate action</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Evaluate action effectiveness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2  |  A2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Assess Significance, Risks and Opportunities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47088"/>
            <a:ext cx="1508760" cy="457200"/>
          </a:xfrm>
          <a:prstGeom prst="round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74519"/>
            <a:ext cx="1508760" cy="393192"/>
          </a:xfrm>
          <a:prstGeom prst="rect">
            <a:avLst/>
          </a:prstGeom>
          <a:noFill/>
        </p:spPr>
        <p:txBody>
          <a:bodyPr wrap="square" anchor="ctr" lIns="45720" rIns="45720">
            <a:spAutoFit/>
          </a:bodyPr>
          <a:lstStyle/>
          <a:p>
            <a:pPr algn="ctr">
              <a:spcAft>
                <a:spcPts val="400"/>
              </a:spcAft>
            </a:pPr>
            <a:r>
              <a:rPr sz="1400" b="1">
                <a:solidFill>
                  <a:srgbClr val="FFFFFF"/>
                </a:solidFill>
                <a:latin typeface="Arial"/>
              </a:rPr>
              <a:t>ACTIVITY 2</a:t>
            </a:r>
          </a:p>
        </p:txBody>
      </p:sp>
      <p:sp>
        <p:nvSpPr>
          <p:cNvPr id="9" name="TextBox 8"/>
          <p:cNvSpPr txBox="1"/>
          <p:nvPr/>
        </p:nvSpPr>
        <p:spPr>
          <a:xfrm>
            <a:off x="777240" y="2542032"/>
            <a:ext cx="10652760" cy="1124712"/>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Score MEP's aspects using severity, likelihood, compliance exposure, stakeholder concern and control effectiveness, then test sensitivity.</a:t>
            </a:r>
          </a:p>
        </p:txBody>
      </p:sp>
      <p:sp>
        <p:nvSpPr>
          <p:cNvPr id="10" name="Rounded Rectangle 9"/>
          <p:cNvSpPr/>
          <p:nvPr/>
        </p:nvSpPr>
        <p:spPr>
          <a:xfrm>
            <a:off x="777240" y="3886200"/>
            <a:ext cx="10652760" cy="195681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133087"/>
            <a:ext cx="9966960" cy="310896"/>
          </a:xfrm>
          <a:prstGeom prst="rect">
            <a:avLst/>
          </a:prstGeom>
          <a:noFill/>
        </p:spPr>
        <p:txBody>
          <a:bodyPr wrap="square" anchor="t" lIns="45720" rIns="45720">
            <a:spAutoFit/>
          </a:bodyPr>
          <a:lstStyle/>
          <a:p>
            <a:pPr algn="l">
              <a:spcAft>
                <a:spcPts val="400"/>
              </a:spcAft>
            </a:pPr>
            <a:r>
              <a:rPr sz="1150" b="1">
                <a:solidFill>
                  <a:srgbClr val="1F6FEB"/>
                </a:solidFill>
                <a:latin typeface="Arial"/>
              </a:rPr>
              <a:t>EXPECTED OUTPUT</a:t>
            </a:r>
          </a:p>
        </p:txBody>
      </p:sp>
      <p:sp>
        <p:nvSpPr>
          <p:cNvPr id="12" name="TextBox 11"/>
          <p:cNvSpPr txBox="1"/>
          <p:nvPr/>
        </p:nvSpPr>
        <p:spPr>
          <a:xfrm>
            <a:off x="1024128" y="4480560"/>
            <a:ext cx="9966960" cy="621792"/>
          </a:xfrm>
          <a:prstGeom prst="rect">
            <a:avLst/>
          </a:prstGeom>
          <a:noFill/>
        </p:spPr>
        <p:txBody>
          <a:bodyPr wrap="square" anchor="ctr" lIns="45720" rIns="45720">
            <a:spAutoFit/>
          </a:bodyPr>
          <a:lstStyle/>
          <a:p>
            <a:pPr algn="l">
              <a:spcAft>
                <a:spcPts val="400"/>
              </a:spcAft>
            </a:pPr>
            <a:r>
              <a:rPr sz="1700" b="1">
                <a:solidFill>
                  <a:srgbClr val="161B26"/>
                </a:solidFill>
                <a:latin typeface="Arial"/>
              </a:rPr>
              <a:t>A significance matrix, prioritised aspects register and risk/opportunity action shortlist.</a:t>
            </a:r>
          </a:p>
        </p:txBody>
      </p:sp>
      <p:sp>
        <p:nvSpPr>
          <p:cNvPr id="13" name="TextBox 12"/>
          <p:cNvSpPr txBox="1"/>
          <p:nvPr/>
        </p:nvSpPr>
        <p:spPr>
          <a:xfrm>
            <a:off x="1024128" y="5230368"/>
            <a:ext cx="9966960" cy="411480"/>
          </a:xfrm>
          <a:prstGeom prst="rect">
            <a:avLst/>
          </a:prstGeom>
          <a:noFill/>
        </p:spPr>
        <p:txBody>
          <a:bodyPr wrap="square" anchor="t" lIns="45720" rIns="45720">
            <a:spAutoFit/>
          </a:bodyPr>
          <a:lstStyle/>
          <a:p>
            <a:pPr algn="l">
              <a:spcAft>
                <a:spcPts val="400"/>
              </a:spcAft>
            </a:pPr>
            <a:r>
              <a:rPr sz="1230" b="0">
                <a:solidFill>
                  <a:srgbClr val="5B6372"/>
                </a:solidFill>
                <a:latin typeface="Arial"/>
              </a:rPr>
              <a:t>Resources: Significance and Risk Workbook (Excel), scoring calibration checklist PDF</a:t>
            </a:r>
          </a:p>
        </p:txBody>
      </p:sp>
      <p:sp>
        <p:nvSpPr>
          <p:cNvPr id="14" name="TextBox 1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5" name="TextBox 1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6" name="TextBox 1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2  |  DECISION PROMPT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Assess Significance, Risks and Opportunities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12848"/>
            <a:ext cx="1325880" cy="13258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12848"/>
            <a:ext cx="1325880" cy="1325880"/>
          </a:xfrm>
          <a:prstGeom prst="rect">
            <a:avLst/>
          </a:prstGeom>
          <a:noFill/>
        </p:spPr>
        <p:txBody>
          <a:bodyPr wrap="square" anchor="ctr" lIns="45720" rIns="45720">
            <a:spAutoFit/>
          </a:bodyPr>
          <a:lstStyle/>
          <a:p>
            <a:pPr algn="ctr">
              <a:spcAft>
                <a:spcPts val="400"/>
              </a:spcAft>
            </a:pPr>
            <a:r>
              <a:rPr sz="4200" b="1">
                <a:solidFill>
                  <a:srgbClr val="FFFFFF"/>
                </a:solidFill>
                <a:latin typeface="Arial"/>
              </a:rPr>
              <a:t>?</a:t>
            </a:r>
          </a:p>
        </p:txBody>
      </p:sp>
      <p:sp>
        <p:nvSpPr>
          <p:cNvPr id="9" name="TextBox 8"/>
          <p:cNvSpPr txBox="1"/>
          <p:nvPr/>
        </p:nvSpPr>
        <p:spPr>
          <a:xfrm>
            <a:off x="2423160" y="2029968"/>
            <a:ext cx="8887968" cy="169164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MEP's departments use different rating scales. Production prioritises cost, Facilities prioritises spill prevention, and Sales prioritises customer carbon requests. Leadership needs one defensible method.</a:t>
            </a:r>
          </a:p>
        </p:txBody>
      </p:sp>
      <p:sp>
        <p:nvSpPr>
          <p:cNvPr id="10" name="Rounded Rectangle 9"/>
          <p:cNvSpPr/>
          <p:nvPr/>
        </p:nvSpPr>
        <p:spPr>
          <a:xfrm>
            <a:off x="2423160" y="3886200"/>
            <a:ext cx="8887968" cy="150876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4096512"/>
            <a:ext cx="8366760" cy="1078992"/>
          </a:xfrm>
          <a:prstGeom prst="rect">
            <a:avLst/>
          </a:prstGeom>
          <a:noFill/>
        </p:spPr>
        <p:txBody>
          <a:bodyPr wrap="square" anchor="ctr" lIns="45720" rIns="45720">
            <a:spAutoFit/>
          </a:bodyPr>
          <a:lstStyle/>
          <a:p>
            <a:pPr algn="l">
              <a:spcAft>
                <a:spcPts val="400"/>
              </a:spcAft>
            </a:pPr>
            <a:r>
              <a:rPr sz="1700" b="1">
                <a:solidFill>
                  <a:srgbClr val="1F6FEB"/>
                </a:solidFill>
                <a:latin typeface="Arial"/>
              </a:rPr>
              <a:t>Decide what evidence you need, what method fits, and how you will know the result is credible.</a:t>
            </a:r>
          </a:p>
        </p:txBody>
      </p:sp>
      <p:sp>
        <p:nvSpPr>
          <p:cNvPr id="12" name="TextBox 11"/>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3" name="TextBox 12"/>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4" name="TextBox 13"/>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ACTIVITY 2  |  VERIFY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Assess Significance, Risks and Opportunities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93392"/>
            <a:ext cx="10652760" cy="329184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04288"/>
            <a:ext cx="9966960" cy="438912"/>
          </a:xfrm>
          <a:prstGeom prst="rect">
            <a:avLst/>
          </a:prstGeom>
          <a:noFill/>
        </p:spPr>
        <p:txBody>
          <a:bodyPr wrap="square" anchor="t" lIns="45720" rIns="45720">
            <a:spAutoFit/>
          </a:bodyPr>
          <a:lstStyle/>
          <a:p>
            <a:pPr algn="l">
              <a:spcAft>
                <a:spcPts val="400"/>
              </a:spcAft>
            </a:pPr>
            <a:r>
              <a:rPr sz="1500" b="1">
                <a:solidFill>
                  <a:srgbClr val="16854A"/>
                </a:solidFill>
                <a:latin typeface="Arial"/>
              </a:rPr>
              <a:t>CHECK YOUR EVIDENCE</a:t>
            </a:r>
          </a:p>
        </p:txBody>
      </p:sp>
      <p:sp>
        <p:nvSpPr>
          <p:cNvPr id="9" name="TextBox 8"/>
          <p:cNvSpPr txBox="1"/>
          <p:nvPr/>
        </p:nvSpPr>
        <p:spPr>
          <a:xfrm>
            <a:off x="1097280" y="2871216"/>
            <a:ext cx="9966960" cy="132588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Priority aspects are produced by the approved criteria and override rules; scores have evidence/rationale, uncertainties are visible and opportunity actions are not confused with positive impacts.</a:t>
            </a:r>
          </a:p>
        </p:txBody>
      </p:sp>
      <p:sp>
        <p:nvSpPr>
          <p:cNvPr id="10" name="TextBox 9"/>
          <p:cNvSpPr txBox="1"/>
          <p:nvPr/>
        </p:nvSpPr>
        <p:spPr>
          <a:xfrm>
            <a:off x="1097280" y="4590288"/>
            <a:ext cx="9966960" cy="365760"/>
          </a:xfrm>
          <a:prstGeom prst="rect">
            <a:avLst/>
          </a:prstGeom>
          <a:noFill/>
        </p:spPr>
        <p:txBody>
          <a:bodyPr wrap="square" anchor="t" lIns="45720" rIns="45720">
            <a:spAutoFit/>
          </a:bodyPr>
          <a:lstStyle/>
          <a:p>
            <a:pPr algn="l">
              <a:spcAft>
                <a:spcPts val="400"/>
              </a:spcAft>
            </a:pPr>
            <a:r>
              <a:rPr sz="1250" b="0">
                <a:solidFill>
                  <a:srgbClr val="5B6372"/>
                </a:solidFill>
                <a:latin typeface="Arial"/>
              </a:rPr>
              <a:t>Detailed steps, scenario exhibits and templates are in the Learner Guide and activity folder.</a:t>
            </a:r>
          </a:p>
        </p:txBody>
      </p:sp>
      <p:sp>
        <p:nvSpPr>
          <p:cNvPr id="11" name="TextBox 1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2" name="TextBox 1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3" name="TextBox 1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892040" y="2176272"/>
            <a:ext cx="2404872" cy="8229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78608"/>
            <a:ext cx="12191695" cy="1051560"/>
          </a:xfrm>
          <a:prstGeom prst="rect">
            <a:avLst/>
          </a:prstGeom>
          <a:noFill/>
        </p:spPr>
        <p:txBody>
          <a:bodyPr wrap="square" anchor="t" lIns="45720" rIns="45720">
            <a:spAutoFit/>
          </a:bodyPr>
          <a:lstStyle/>
          <a:p>
            <a:pPr algn="ctr">
              <a:spcAft>
                <a:spcPts val="400"/>
              </a:spcAft>
            </a:pPr>
            <a:r>
              <a:rPr sz="4500" b="1">
                <a:solidFill>
                  <a:srgbClr val="161B26"/>
                </a:solidFill>
                <a:latin typeface="Arial"/>
              </a:rPr>
              <a:t>Lunch Break</a:t>
            </a:r>
          </a:p>
        </p:txBody>
      </p:sp>
      <p:sp>
        <p:nvSpPr>
          <p:cNvPr id="7" name="TextBox 6"/>
          <p:cNvSpPr txBox="1"/>
          <p:nvPr/>
        </p:nvSpPr>
        <p:spPr>
          <a:xfrm>
            <a:off x="0" y="3803904"/>
            <a:ext cx="12191695" cy="548640"/>
          </a:xfrm>
          <a:prstGeom prst="rect">
            <a:avLst/>
          </a:prstGeom>
          <a:noFill/>
        </p:spPr>
        <p:txBody>
          <a:bodyPr wrap="square" anchor="t" lIns="45720" rIns="45720">
            <a:spAutoFit/>
          </a:bodyPr>
          <a:lstStyle/>
          <a:p>
            <a:pPr algn="ctr">
              <a:spcAft>
                <a:spcPts val="400"/>
              </a:spcAft>
            </a:pPr>
            <a:r>
              <a:rPr sz="1900" b="1">
                <a:solidFill>
                  <a:srgbClr val="D97706"/>
                </a:solidFill>
                <a:latin typeface="Arial"/>
              </a:rPr>
              <a:t>45 minutes | return ready for Topic 2</a:t>
            </a:r>
          </a:p>
        </p:txBody>
      </p:sp>
      <p:sp>
        <p:nvSpPr>
          <p:cNvPr id="8" name="TextBox 7"/>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9" name="TextBox 8"/>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0" name="TextBox 9"/>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267712"/>
            <a:ext cx="109728" cy="182880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 y="2148840"/>
            <a:ext cx="9875520" cy="384048"/>
          </a:xfrm>
          <a:prstGeom prst="rect">
            <a:avLst/>
          </a:prstGeom>
          <a:noFill/>
        </p:spPr>
        <p:txBody>
          <a:bodyPr wrap="square" anchor="t" lIns="45720" rIns="45720">
            <a:spAutoFit/>
          </a:bodyPr>
          <a:lstStyle/>
          <a:p>
            <a:pPr algn="l">
              <a:spcAft>
                <a:spcPts val="400"/>
              </a:spcAft>
            </a:pPr>
            <a:r>
              <a:rPr sz="1500" b="1">
                <a:solidFill>
                  <a:srgbClr val="7C3AED"/>
                </a:solidFill>
                <a:latin typeface="Arial"/>
              </a:rPr>
              <a:t>TOPIC 2</a:t>
            </a:r>
          </a:p>
        </p:txBody>
      </p:sp>
      <p:sp>
        <p:nvSpPr>
          <p:cNvPr id="6" name="TextBox 5"/>
          <p:cNvSpPr txBox="1"/>
          <p:nvPr/>
        </p:nvSpPr>
        <p:spPr>
          <a:xfrm>
            <a:off x="1161288" y="2587752"/>
            <a:ext cx="9875520" cy="1325880"/>
          </a:xfrm>
          <a:prstGeom prst="rect">
            <a:avLst/>
          </a:prstGeom>
          <a:noFill/>
        </p:spPr>
        <p:txBody>
          <a:bodyPr wrap="square" anchor="ctr" lIns="45720" rIns="45720">
            <a:spAutoFit/>
          </a:bodyPr>
          <a:lstStyle/>
          <a:p>
            <a:pPr algn="l">
              <a:spcAft>
                <a:spcPts val="400"/>
              </a:spcAft>
            </a:pPr>
            <a:r>
              <a:rPr sz="3900" b="1">
                <a:solidFill>
                  <a:srgbClr val="161B26"/>
                </a:solidFill>
                <a:latin typeface="Arial"/>
              </a:rPr>
              <a:t>Planning, support and operation</a:t>
            </a:r>
          </a:p>
        </p:txBody>
      </p:sp>
      <p:sp>
        <p:nvSpPr>
          <p:cNvPr id="7" name="TextBox 6"/>
          <p:cNvSpPr txBox="1"/>
          <p:nvPr/>
        </p:nvSpPr>
        <p:spPr>
          <a:xfrm>
            <a:off x="1170432" y="4096512"/>
            <a:ext cx="9875520" cy="731520"/>
          </a:xfrm>
          <a:prstGeom prst="rect">
            <a:avLst/>
          </a:prstGeom>
          <a:noFill/>
        </p:spPr>
        <p:txBody>
          <a:bodyPr wrap="square" anchor="t" lIns="45720" rIns="45720">
            <a:spAutoFit/>
          </a:bodyPr>
          <a:lstStyle/>
          <a:p>
            <a:pPr algn="l">
              <a:spcAft>
                <a:spcPts val="400"/>
              </a:spcAft>
            </a:pPr>
            <a:r>
              <a:rPr sz="1600" b="0">
                <a:solidFill>
                  <a:srgbClr val="5B6372"/>
                </a:solidFill>
                <a:latin typeface="Arial"/>
              </a:rPr>
              <a:t>Risks and opportunities - objectives - competence - information - controls - emergency readiness</a:t>
            </a:r>
          </a:p>
        </p:txBody>
      </p:sp>
      <p:sp>
        <p:nvSpPr>
          <p:cNvPr id="8" name="TextBox 7"/>
          <p:cNvSpPr txBox="1"/>
          <p:nvPr/>
        </p:nvSpPr>
        <p:spPr>
          <a:xfrm>
            <a:off x="9464040" y="502920"/>
            <a:ext cx="2103120" cy="1234440"/>
          </a:xfrm>
          <a:prstGeom prst="rect">
            <a:avLst/>
          </a:prstGeom>
          <a:noFill/>
        </p:spPr>
        <p:txBody>
          <a:bodyPr wrap="square" anchor="t" lIns="45720" rIns="45720">
            <a:spAutoFit/>
          </a:bodyPr>
          <a:lstStyle/>
          <a:p>
            <a:pPr algn="r">
              <a:spcAft>
                <a:spcPts val="400"/>
              </a:spcAft>
            </a:pPr>
            <a:r>
              <a:rPr sz="6800" b="1">
                <a:solidFill>
                  <a:srgbClr val="E2E8F0"/>
                </a:solidFill>
                <a:latin typeface="Arial"/>
              </a:rPr>
              <a:t>2</a:t>
            </a:r>
          </a:p>
        </p:txBody>
      </p:sp>
      <p:sp>
        <p:nvSpPr>
          <p:cNvPr id="9" name="TextBox 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0" name="TextBox 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1" name="TextBox 1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64</a:t>
            </a:r>
          </a:p>
        </p:txBody>
      </p:sp>
    </p:spTree>
  </p:cSld>
  <p:clrMapOvr>
    <a:masterClrMapping/>
  </p:clrMapOvr>
  <p:transition spd="med" advClick="1">
    <p:push dir="l"/>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6.1.3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6.1.3 Compliance obligations: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Determine, access, understand and account for applicable legal and other obligations.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Link each obligation to relevant aspects, processes and controls.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Keep authoritative sources, applicability rationale and change monitoring current.</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Maintain knowledge of status without unsupported legal conclusions.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6.1.3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6.1.3 Compliance obligations: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Obligations register with current sources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Permits, licences and contract commitments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Owners, evidence and review dates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Change-monitoring and escalation records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 list of law titles only</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Outdated copied requirements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 applicability rationale</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Certification mistaken for legal compliance</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6.1.4</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6.1.4 Planning action: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Plan how significant aspects, obligations, risks and opportunities will be addressed and evaluated.</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Select proportionate action and integrate it into operational or business processes.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Consider technological options and financial/operational requirements.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Define how effectiveness will be evaluated.</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6.1.4</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6.1.4 Planning action: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Integrated action plans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Control and project changes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Owners, resources and milestones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Effectiveness criteria and results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Separate registers with no action</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Every item given the same response</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Technology chosen before need</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Actions closed on date alone</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6.2 Environmental objectives and plans: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Translate policy and priorities into measurable, monitored and communicated results.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Set objectives considering significant aspects, obligations, risks and opportunities.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Define what, resources, owner, completion date and evaluation method.</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Use baselines, boundaries, data-quality rules and response thresholds.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6.2 Environmental objectives and plans: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Objective and KPI dictionary</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Baseline and target rationale</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Action plans and resources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Trend, decisions and updates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Reduce waste without baseline</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Absolute target hides production change</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KPI without a management response</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Activity completed but result unmeasured</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6.3 Planning and managing changes: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Plan and manage changes that affect or can affect intended EMS outcomes.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Identify the purpose, consequences and environmental/compliance risks of change.</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Coordinate resources, responsibilities, controls, competence and communication.</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Verify implementation and results, including unintended effects.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6.3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6.3 Planning and managing changes: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EMS change request and impact review</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Control/competence/document updates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Implementation and rollback evidence</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Post-change effectiveness review</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Project change bypasses EMS review</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Temporary control becomes permanent</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Supplier or process interfaces missed</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Change closed at installation rather than result</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7.1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7.1 Resources: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Provide people, infrastructure, technology, finance and external support needed for the EMS.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Base resource decisions on risk, objectives and performance evidence.</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Maintain monitoring equipment, containment and emergency capability.</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Address resource gaps through management decisions.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7.1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7.1 Resources: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Budget and resource plan</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Maintenance/calibration records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Emergency equipment inspections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Management decisions on gaps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Resources approved without needs analysis</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Critical equipment unavailable</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Monitoring validity unprotected</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EMS depends on one person</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7.2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7.2 Competence: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Ensure people doing work under organisational control are competent where environmental performance is affected.</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Define competence by role, task, aspect and risk.</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Take action to acquire competence and evaluate the action's effectiveness.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Retain appropriate evidence, including contractor competence.</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7.2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7.2 Competence: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Role-competence matrix</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Observed task/drill results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Qualifications and supervised practice</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Gap and refresher actions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Attendance treated as competence</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Generic annual training</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 evaluation after change</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Contractors excluded</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7.3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7.3 Awareness: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Ensure people understand policy, significant aspects, contribution, benefits and consequences of nonconformity.</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Make awareness relevant to actual tasks and decisions.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Explain how individual work changes impacts and EMS results.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Confirm understanding through dialogue or observation.</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7.3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7.3 Awareness: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Task briefings and interviews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Toolbox talks tied to current risks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Observed behaviours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Incident and improvement participation</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Poster-only awareness</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People know slogans but not controls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Consequences framed only as punishment</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 update after aspect/control change</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7.4</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7.4 Communication: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Plan consistent internal and external communication and ensure information is reliable.</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Define what, when, with whom, how and who communicates.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Account for compliance obligations and respond to relevant communications.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Keep communicated information consistent with EMS evidence.</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7.4</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7.4 Communication: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Communication plan and log</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Authority/community/customer records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Incident notification matrix</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Approved performance disclosures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Broadcast email treated as communication</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Unverified green claims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External queries lack ownership</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Notification routes obsolete</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7.5</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7.5 Documented information: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Create and control information needed to operate the EMS and demonstrate results.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Identify, format, review and approve information appropriately.</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Make current information available and protect integrity/confidentiality.</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Control distribution, access, changes, retention and external-origin documents.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7.5</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7.5 Documented information: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Controlled registers and procedures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Point-of-use current information</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Access/change history</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Retention and disposal evidence</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Documentation for its own sake</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Obsolete emergency contacts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Records editable without traceability</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External permits/SDS uncontrolled</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8.1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8.1 Operational planning and control: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Control significant aspects and obligations across operations and the relevant value chain.</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Establish operating criteria and control processes, including planned changes.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Control or influence externally provided processes, products and services proportionately.</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Use life-cycle perspective in design, procurement, delivery, use and end-of-life information.</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8.1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8.1 Operational planning and control: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Operational control plans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Work/maintenance/contractor records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Supplier requirements and evaluations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Change and effectiveness evidence</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Procedure lacks operating criteria</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Outsourcing treated as transferred accountability</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Control relies only on training</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Downstream influence ignored</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8.2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8.2 Emergency preparedness and response: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Prepare for and respond to all identified potential emergency situations.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Prevent or mitigate environmental consequences and respond to actual events.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Test arrangements periodically where practicable and evaluate performance.</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Review after emergencies/tests and communicate relevant information.</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8.2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8.2 Emergency preparedness and response: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Scenario and response plans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Current contacts and site/drain plans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Drill observations and timed results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Post-event corrective actions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Only fire scenarios considered</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Plans not matched to pathways/receptors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Drill attendance without objectives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Contacts and equipment not verified</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7C3AED"/>
                </a:solidFill>
                <a:latin typeface="Arial"/>
              </a:rPr>
              <a:t>CLAUSE 6.1.3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Compliance obligation workflow</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Build the register</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Find current authoritative sources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Decide applicability with competent input</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Translate obligation into process/control</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Maintain owner and evidence</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Maintain knowledge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Monitor changes</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Evaluate status periodically</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Correct noncompliance or evidence gaps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Escalate uncertainty rather than guess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3  |  A4</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Build the Compliance Obligations Register</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47088"/>
            <a:ext cx="1508760" cy="457200"/>
          </a:xfrm>
          <a:prstGeom prst="round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74519"/>
            <a:ext cx="1508760" cy="393192"/>
          </a:xfrm>
          <a:prstGeom prst="rect">
            <a:avLst/>
          </a:prstGeom>
          <a:noFill/>
        </p:spPr>
        <p:txBody>
          <a:bodyPr wrap="square" anchor="ctr" lIns="45720" rIns="45720">
            <a:spAutoFit/>
          </a:bodyPr>
          <a:lstStyle/>
          <a:p>
            <a:pPr algn="ctr">
              <a:spcAft>
                <a:spcPts val="400"/>
              </a:spcAft>
            </a:pPr>
            <a:r>
              <a:rPr sz="1400" b="1">
                <a:solidFill>
                  <a:srgbClr val="FFFFFF"/>
                </a:solidFill>
                <a:latin typeface="Arial"/>
              </a:rPr>
              <a:t>ACTIVITY 3</a:t>
            </a:r>
          </a:p>
        </p:txBody>
      </p:sp>
      <p:sp>
        <p:nvSpPr>
          <p:cNvPr id="9" name="TextBox 8"/>
          <p:cNvSpPr txBox="1"/>
          <p:nvPr/>
        </p:nvSpPr>
        <p:spPr>
          <a:xfrm>
            <a:off x="777240" y="2542032"/>
            <a:ext cx="10652760" cy="1124712"/>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Screen MEP's activities against Singapore environmental obligation categories, customer commitments and permit conditions.</a:t>
            </a:r>
          </a:p>
        </p:txBody>
      </p:sp>
      <p:sp>
        <p:nvSpPr>
          <p:cNvPr id="10" name="Rounded Rectangle 9"/>
          <p:cNvSpPr/>
          <p:nvPr/>
        </p:nvSpPr>
        <p:spPr>
          <a:xfrm>
            <a:off x="777240" y="3886200"/>
            <a:ext cx="10652760" cy="195681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133087"/>
            <a:ext cx="9966960" cy="310896"/>
          </a:xfrm>
          <a:prstGeom prst="rect">
            <a:avLst/>
          </a:prstGeom>
          <a:noFill/>
        </p:spPr>
        <p:txBody>
          <a:bodyPr wrap="square" anchor="t" lIns="45720" rIns="45720">
            <a:spAutoFit/>
          </a:bodyPr>
          <a:lstStyle/>
          <a:p>
            <a:pPr algn="l">
              <a:spcAft>
                <a:spcPts val="400"/>
              </a:spcAft>
            </a:pPr>
            <a:r>
              <a:rPr sz="1150" b="1">
                <a:solidFill>
                  <a:srgbClr val="1F6FEB"/>
                </a:solidFill>
                <a:latin typeface="Arial"/>
              </a:rPr>
              <a:t>EXPECTED OUTPUT</a:t>
            </a:r>
          </a:p>
        </p:txBody>
      </p:sp>
      <p:sp>
        <p:nvSpPr>
          <p:cNvPr id="12" name="TextBox 11"/>
          <p:cNvSpPr txBox="1"/>
          <p:nvPr/>
        </p:nvSpPr>
        <p:spPr>
          <a:xfrm>
            <a:off x="1024128" y="4480560"/>
            <a:ext cx="9966960" cy="621792"/>
          </a:xfrm>
          <a:prstGeom prst="rect">
            <a:avLst/>
          </a:prstGeom>
          <a:noFill/>
        </p:spPr>
        <p:txBody>
          <a:bodyPr wrap="square" anchor="ctr" lIns="45720" rIns="45720">
            <a:spAutoFit/>
          </a:bodyPr>
          <a:lstStyle/>
          <a:p>
            <a:pPr algn="l">
              <a:spcAft>
                <a:spcPts val="400"/>
              </a:spcAft>
            </a:pPr>
            <a:r>
              <a:rPr sz="1700" b="1">
                <a:solidFill>
                  <a:srgbClr val="161B26"/>
                </a:solidFill>
                <a:latin typeface="Arial"/>
              </a:rPr>
              <a:t>A compliance obligations register, applicability rationale, evidence map and escalation log.</a:t>
            </a:r>
          </a:p>
        </p:txBody>
      </p:sp>
      <p:sp>
        <p:nvSpPr>
          <p:cNvPr id="13" name="TextBox 12"/>
          <p:cNvSpPr txBox="1"/>
          <p:nvPr/>
        </p:nvSpPr>
        <p:spPr>
          <a:xfrm>
            <a:off x="1024128" y="5230368"/>
            <a:ext cx="9966960" cy="411480"/>
          </a:xfrm>
          <a:prstGeom prst="rect">
            <a:avLst/>
          </a:prstGeom>
          <a:noFill/>
        </p:spPr>
        <p:txBody>
          <a:bodyPr wrap="square" anchor="t" lIns="45720" rIns="45720">
            <a:spAutoFit/>
          </a:bodyPr>
          <a:lstStyle/>
          <a:p>
            <a:pPr algn="l">
              <a:spcAft>
                <a:spcPts val="400"/>
              </a:spcAft>
            </a:pPr>
            <a:r>
              <a:rPr sz="1230" b="0">
                <a:solidFill>
                  <a:srgbClr val="5B6372"/>
                </a:solidFill>
                <a:latin typeface="Arial"/>
              </a:rPr>
              <a:t>Resources: Compliance Register Workbook (Excel), obligation-screening checklist PDF, NEA source links</a:t>
            </a:r>
          </a:p>
        </p:txBody>
      </p:sp>
      <p:sp>
        <p:nvSpPr>
          <p:cNvPr id="14" name="TextBox 1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5" name="TextBox 1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6" name="TextBox 1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3  |  DECISION PROMPT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Build the Compliance Obligations Register</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12848"/>
            <a:ext cx="1325880" cy="13258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12848"/>
            <a:ext cx="1325880" cy="1325880"/>
          </a:xfrm>
          <a:prstGeom prst="rect">
            <a:avLst/>
          </a:prstGeom>
          <a:noFill/>
        </p:spPr>
        <p:txBody>
          <a:bodyPr wrap="square" anchor="ctr" lIns="45720" rIns="45720">
            <a:spAutoFit/>
          </a:bodyPr>
          <a:lstStyle/>
          <a:p>
            <a:pPr algn="ctr">
              <a:spcAft>
                <a:spcPts val="400"/>
              </a:spcAft>
            </a:pPr>
            <a:r>
              <a:rPr sz="4200" b="1">
                <a:solidFill>
                  <a:srgbClr val="FFFFFF"/>
                </a:solidFill>
                <a:latin typeface="Arial"/>
              </a:rPr>
              <a:t>?</a:t>
            </a:r>
          </a:p>
        </p:txBody>
      </p:sp>
      <p:sp>
        <p:nvSpPr>
          <p:cNvPr id="9" name="TextBox 8"/>
          <p:cNvSpPr txBox="1"/>
          <p:nvPr/>
        </p:nvSpPr>
        <p:spPr>
          <a:xfrm>
            <a:off x="2423160" y="2029968"/>
            <a:ext cx="8887968" cy="169164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MEP holds licences and service contracts in separate folders. A customer code, wastewater conditions, hazardous-substance storage controls and waste records are not linked to process owners or evidence.</a:t>
            </a:r>
          </a:p>
        </p:txBody>
      </p:sp>
      <p:sp>
        <p:nvSpPr>
          <p:cNvPr id="10" name="Rounded Rectangle 9"/>
          <p:cNvSpPr/>
          <p:nvPr/>
        </p:nvSpPr>
        <p:spPr>
          <a:xfrm>
            <a:off x="2423160" y="3886200"/>
            <a:ext cx="8887968" cy="150876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4096512"/>
            <a:ext cx="8366760" cy="1078992"/>
          </a:xfrm>
          <a:prstGeom prst="rect">
            <a:avLst/>
          </a:prstGeom>
          <a:noFill/>
        </p:spPr>
        <p:txBody>
          <a:bodyPr wrap="square" anchor="ctr" lIns="45720" rIns="45720">
            <a:spAutoFit/>
          </a:bodyPr>
          <a:lstStyle/>
          <a:p>
            <a:pPr algn="l">
              <a:spcAft>
                <a:spcPts val="400"/>
              </a:spcAft>
            </a:pPr>
            <a:r>
              <a:rPr sz="1700" b="1">
                <a:solidFill>
                  <a:srgbClr val="1F6FEB"/>
                </a:solidFill>
                <a:latin typeface="Arial"/>
              </a:rPr>
              <a:t>Decide what evidence you need, what method fits, and how you will know the result is credible.</a:t>
            </a:r>
          </a:p>
        </p:txBody>
      </p:sp>
      <p:sp>
        <p:nvSpPr>
          <p:cNvPr id="12" name="TextBox 11"/>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3" name="TextBox 12"/>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4" name="TextBox 13"/>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ACTIVITY 3  |  VERIFY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Build the Compliance Obligations Register</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93392"/>
            <a:ext cx="10652760" cy="329184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04288"/>
            <a:ext cx="9966960" cy="438912"/>
          </a:xfrm>
          <a:prstGeom prst="rect">
            <a:avLst/>
          </a:prstGeom>
          <a:noFill/>
        </p:spPr>
        <p:txBody>
          <a:bodyPr wrap="square" anchor="t" lIns="45720" rIns="45720">
            <a:spAutoFit/>
          </a:bodyPr>
          <a:lstStyle/>
          <a:p>
            <a:pPr algn="l">
              <a:spcAft>
                <a:spcPts val="400"/>
              </a:spcAft>
            </a:pPr>
            <a:r>
              <a:rPr sz="1500" b="1">
                <a:solidFill>
                  <a:srgbClr val="16854A"/>
                </a:solidFill>
                <a:latin typeface="Arial"/>
              </a:rPr>
              <a:t>CHECK YOUR EVIDENCE</a:t>
            </a:r>
          </a:p>
        </p:txBody>
      </p:sp>
      <p:sp>
        <p:nvSpPr>
          <p:cNvPr id="9" name="TextBox 8"/>
          <p:cNvSpPr txBox="1"/>
          <p:nvPr/>
        </p:nvSpPr>
        <p:spPr>
          <a:xfrm>
            <a:off x="1097280" y="2871216"/>
            <a:ext cx="9966960" cy="132588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Every register row has a source, applicability rationale, owner, evidence, review frequency and escalation route; unresolved interpretation is escalated rather than guessed.</a:t>
            </a:r>
          </a:p>
        </p:txBody>
      </p:sp>
      <p:sp>
        <p:nvSpPr>
          <p:cNvPr id="10" name="TextBox 9"/>
          <p:cNvSpPr txBox="1"/>
          <p:nvPr/>
        </p:nvSpPr>
        <p:spPr>
          <a:xfrm>
            <a:off x="1097280" y="4590288"/>
            <a:ext cx="9966960" cy="365760"/>
          </a:xfrm>
          <a:prstGeom prst="rect">
            <a:avLst/>
          </a:prstGeom>
          <a:noFill/>
        </p:spPr>
        <p:txBody>
          <a:bodyPr wrap="square" anchor="t" lIns="45720" rIns="45720">
            <a:spAutoFit/>
          </a:bodyPr>
          <a:lstStyle/>
          <a:p>
            <a:pPr algn="l">
              <a:spcAft>
                <a:spcPts val="400"/>
              </a:spcAft>
            </a:pPr>
            <a:r>
              <a:rPr sz="1250" b="0">
                <a:solidFill>
                  <a:srgbClr val="5B6372"/>
                </a:solidFill>
                <a:latin typeface="Arial"/>
              </a:rPr>
              <a:t>Detailed steps, scenario exhibits and templates are in the Learner Guide and activity folder.</a:t>
            </a:r>
          </a:p>
        </p:txBody>
      </p:sp>
      <p:sp>
        <p:nvSpPr>
          <p:cNvPr id="11" name="TextBox 1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2" name="TextBox 1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3" name="TextBox 1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7C3AED"/>
                </a:solidFill>
                <a:latin typeface="Arial"/>
              </a:rPr>
              <a:t>CLAUSE 6.2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Environmental objective design test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SMART and owned</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Significant aspect or strategic outcome</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Measurable definition and baseline</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Target, boundary and due date</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Owner, resources and action plan</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Decision-ready</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Relevant to policy and obligations</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Leading and lagging indicators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Data-quality and review cadence</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Response threshold and result evaluation</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4  |  A6</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Set Environmental Objectives and Build Competence</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47088"/>
            <a:ext cx="1508760" cy="457200"/>
          </a:xfrm>
          <a:prstGeom prst="round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74519"/>
            <a:ext cx="1508760" cy="393192"/>
          </a:xfrm>
          <a:prstGeom prst="rect">
            <a:avLst/>
          </a:prstGeom>
          <a:noFill/>
        </p:spPr>
        <p:txBody>
          <a:bodyPr wrap="square" anchor="ctr" lIns="45720" rIns="45720">
            <a:spAutoFit/>
          </a:bodyPr>
          <a:lstStyle/>
          <a:p>
            <a:pPr algn="ctr">
              <a:spcAft>
                <a:spcPts val="400"/>
              </a:spcAft>
            </a:pPr>
            <a:r>
              <a:rPr sz="1400" b="1">
                <a:solidFill>
                  <a:srgbClr val="FFFFFF"/>
                </a:solidFill>
                <a:latin typeface="Arial"/>
              </a:rPr>
              <a:t>ACTIVITY 4</a:t>
            </a:r>
          </a:p>
        </p:txBody>
      </p:sp>
      <p:sp>
        <p:nvSpPr>
          <p:cNvPr id="9" name="TextBox 8"/>
          <p:cNvSpPr txBox="1"/>
          <p:nvPr/>
        </p:nvSpPr>
        <p:spPr>
          <a:xfrm>
            <a:off x="777240" y="2542032"/>
            <a:ext cx="10652760" cy="1124712"/>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Create an electricity/waste objective set and a competence plan for operators, supervisors, contractors and emergency roles.</a:t>
            </a:r>
          </a:p>
        </p:txBody>
      </p:sp>
      <p:sp>
        <p:nvSpPr>
          <p:cNvPr id="10" name="Rounded Rectangle 9"/>
          <p:cNvSpPr/>
          <p:nvPr/>
        </p:nvSpPr>
        <p:spPr>
          <a:xfrm>
            <a:off x="777240" y="3886200"/>
            <a:ext cx="10652760" cy="195681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133087"/>
            <a:ext cx="9966960" cy="310896"/>
          </a:xfrm>
          <a:prstGeom prst="rect">
            <a:avLst/>
          </a:prstGeom>
          <a:noFill/>
        </p:spPr>
        <p:txBody>
          <a:bodyPr wrap="square" anchor="t" lIns="45720" rIns="45720">
            <a:spAutoFit/>
          </a:bodyPr>
          <a:lstStyle/>
          <a:p>
            <a:pPr algn="l">
              <a:spcAft>
                <a:spcPts val="400"/>
              </a:spcAft>
            </a:pPr>
            <a:r>
              <a:rPr sz="1150" b="1">
                <a:solidFill>
                  <a:srgbClr val="1F6FEB"/>
                </a:solidFill>
                <a:latin typeface="Arial"/>
              </a:rPr>
              <a:t>EXPECTED OUTPUT</a:t>
            </a:r>
          </a:p>
        </p:txBody>
      </p:sp>
      <p:sp>
        <p:nvSpPr>
          <p:cNvPr id="12" name="TextBox 11"/>
          <p:cNvSpPr txBox="1"/>
          <p:nvPr/>
        </p:nvSpPr>
        <p:spPr>
          <a:xfrm>
            <a:off x="1024128" y="4480560"/>
            <a:ext cx="9966960" cy="621792"/>
          </a:xfrm>
          <a:prstGeom prst="rect">
            <a:avLst/>
          </a:prstGeom>
          <a:noFill/>
        </p:spPr>
        <p:txBody>
          <a:bodyPr wrap="square" anchor="ctr" lIns="45720" rIns="45720">
            <a:spAutoFit/>
          </a:bodyPr>
          <a:lstStyle/>
          <a:p>
            <a:pPr algn="l">
              <a:spcAft>
                <a:spcPts val="400"/>
              </a:spcAft>
            </a:pPr>
            <a:r>
              <a:rPr sz="1700" b="1">
                <a:solidFill>
                  <a:srgbClr val="161B26"/>
                </a:solidFill>
                <a:latin typeface="Arial"/>
              </a:rPr>
              <a:t>A SMART objective/KPI plan, action register, role-competence matrix and evaluation design.</a:t>
            </a:r>
          </a:p>
        </p:txBody>
      </p:sp>
      <p:sp>
        <p:nvSpPr>
          <p:cNvPr id="13" name="TextBox 12"/>
          <p:cNvSpPr txBox="1"/>
          <p:nvPr/>
        </p:nvSpPr>
        <p:spPr>
          <a:xfrm>
            <a:off x="1024128" y="5230368"/>
            <a:ext cx="9966960" cy="411480"/>
          </a:xfrm>
          <a:prstGeom prst="rect">
            <a:avLst/>
          </a:prstGeom>
          <a:noFill/>
        </p:spPr>
        <p:txBody>
          <a:bodyPr wrap="square" anchor="t" lIns="45720" rIns="45720">
            <a:spAutoFit/>
          </a:bodyPr>
          <a:lstStyle/>
          <a:p>
            <a:pPr algn="l">
              <a:spcAft>
                <a:spcPts val="400"/>
              </a:spcAft>
            </a:pPr>
            <a:r>
              <a:rPr sz="1230" b="0">
                <a:solidFill>
                  <a:srgbClr val="5B6372"/>
                </a:solidFill>
                <a:latin typeface="Arial"/>
              </a:rPr>
              <a:t>Resources: Objectives and Competence Workbook (Excel), objective-design and training-evaluation checklist PDF</a:t>
            </a:r>
          </a:p>
        </p:txBody>
      </p:sp>
      <p:sp>
        <p:nvSpPr>
          <p:cNvPr id="14" name="TextBox 1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5" name="TextBox 1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6" name="TextBox 1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4  |  DECISION PROMPT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Set Environmental Objectives and Build Competence</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12848"/>
            <a:ext cx="1325880" cy="13258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12848"/>
            <a:ext cx="1325880" cy="1325880"/>
          </a:xfrm>
          <a:prstGeom prst="rect">
            <a:avLst/>
          </a:prstGeom>
          <a:noFill/>
        </p:spPr>
        <p:txBody>
          <a:bodyPr wrap="square" anchor="ctr" lIns="45720" rIns="45720">
            <a:spAutoFit/>
          </a:bodyPr>
          <a:lstStyle/>
          <a:p>
            <a:pPr algn="ctr">
              <a:spcAft>
                <a:spcPts val="400"/>
              </a:spcAft>
            </a:pPr>
            <a:r>
              <a:rPr sz="4200" b="1">
                <a:solidFill>
                  <a:srgbClr val="FFFFFF"/>
                </a:solidFill>
                <a:latin typeface="Arial"/>
              </a:rPr>
              <a:t>?</a:t>
            </a:r>
          </a:p>
        </p:txBody>
      </p:sp>
      <p:sp>
        <p:nvSpPr>
          <p:cNvPr id="9" name="TextBox 8"/>
          <p:cNvSpPr txBox="1"/>
          <p:nvPr/>
        </p:nvSpPr>
        <p:spPr>
          <a:xfrm>
            <a:off x="2423160" y="2029968"/>
            <a:ext cx="8887968" cy="169164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MEP's policy promises resource efficiency and pollution prevention, but targets have no baseline, owners or response thresholds. Annual awareness slides are delivered without checking competence.</a:t>
            </a:r>
          </a:p>
        </p:txBody>
      </p:sp>
      <p:sp>
        <p:nvSpPr>
          <p:cNvPr id="10" name="Rounded Rectangle 9"/>
          <p:cNvSpPr/>
          <p:nvPr/>
        </p:nvSpPr>
        <p:spPr>
          <a:xfrm>
            <a:off x="2423160" y="3886200"/>
            <a:ext cx="8887968" cy="150876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4096512"/>
            <a:ext cx="8366760" cy="1078992"/>
          </a:xfrm>
          <a:prstGeom prst="rect">
            <a:avLst/>
          </a:prstGeom>
          <a:noFill/>
        </p:spPr>
        <p:txBody>
          <a:bodyPr wrap="square" anchor="ctr" lIns="45720" rIns="45720">
            <a:spAutoFit/>
          </a:bodyPr>
          <a:lstStyle/>
          <a:p>
            <a:pPr algn="l">
              <a:spcAft>
                <a:spcPts val="400"/>
              </a:spcAft>
            </a:pPr>
            <a:r>
              <a:rPr sz="1700" b="1">
                <a:solidFill>
                  <a:srgbClr val="1F6FEB"/>
                </a:solidFill>
                <a:latin typeface="Arial"/>
              </a:rPr>
              <a:t>Decide what evidence you need, what method fits, and how you will know the result is credible.</a:t>
            </a:r>
          </a:p>
        </p:txBody>
      </p:sp>
      <p:sp>
        <p:nvSpPr>
          <p:cNvPr id="12" name="TextBox 11"/>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3" name="TextBox 12"/>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4" name="TextBox 13"/>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ACTIVITY 4  |  VERIFY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Set Environmental Objectives and Build Competence</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93392"/>
            <a:ext cx="10652760" cy="329184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04288"/>
            <a:ext cx="9966960" cy="438912"/>
          </a:xfrm>
          <a:prstGeom prst="rect">
            <a:avLst/>
          </a:prstGeom>
          <a:noFill/>
        </p:spPr>
        <p:txBody>
          <a:bodyPr wrap="square" anchor="t" lIns="45720" rIns="45720">
            <a:spAutoFit/>
          </a:bodyPr>
          <a:lstStyle/>
          <a:p>
            <a:pPr algn="l">
              <a:spcAft>
                <a:spcPts val="400"/>
              </a:spcAft>
            </a:pPr>
            <a:r>
              <a:rPr sz="1500" b="1">
                <a:solidFill>
                  <a:srgbClr val="16854A"/>
                </a:solidFill>
                <a:latin typeface="Arial"/>
              </a:rPr>
              <a:t>CHECK YOUR EVIDENCE</a:t>
            </a:r>
          </a:p>
        </p:txBody>
      </p:sp>
      <p:sp>
        <p:nvSpPr>
          <p:cNvPr id="9" name="TextBox 8"/>
          <p:cNvSpPr txBox="1"/>
          <p:nvPr/>
        </p:nvSpPr>
        <p:spPr>
          <a:xfrm>
            <a:off x="1097280" y="2871216"/>
            <a:ext cx="9966960" cy="132588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Each objective links to policy and a priority aspect; KPIs are reproducible and decision-ready; every critical role has competence criteria, evidence method, owner and review date.</a:t>
            </a:r>
          </a:p>
        </p:txBody>
      </p:sp>
      <p:sp>
        <p:nvSpPr>
          <p:cNvPr id="10" name="TextBox 9"/>
          <p:cNvSpPr txBox="1"/>
          <p:nvPr/>
        </p:nvSpPr>
        <p:spPr>
          <a:xfrm>
            <a:off x="1097280" y="4590288"/>
            <a:ext cx="9966960" cy="365760"/>
          </a:xfrm>
          <a:prstGeom prst="rect">
            <a:avLst/>
          </a:prstGeom>
          <a:noFill/>
        </p:spPr>
        <p:txBody>
          <a:bodyPr wrap="square" anchor="t" lIns="45720" rIns="45720">
            <a:spAutoFit/>
          </a:bodyPr>
          <a:lstStyle/>
          <a:p>
            <a:pPr algn="l">
              <a:spcAft>
                <a:spcPts val="400"/>
              </a:spcAft>
            </a:pPr>
            <a:r>
              <a:rPr sz="1250" b="0">
                <a:solidFill>
                  <a:srgbClr val="5B6372"/>
                </a:solidFill>
                <a:latin typeface="Arial"/>
              </a:rPr>
              <a:t>Detailed steps, scenario exhibits and templates are in the Learner Guide and activity folder.</a:t>
            </a:r>
          </a:p>
        </p:txBody>
      </p:sp>
      <p:sp>
        <p:nvSpPr>
          <p:cNvPr id="11" name="TextBox 1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2" name="TextBox 1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3" name="TextBox 1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7C3AED"/>
                </a:solidFill>
                <a:latin typeface="Arial"/>
              </a:rPr>
              <a:t>CLAUSE 7.5</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Documented information life cycle</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Need and purpose</a:t>
            </a:r>
          </a:p>
        </p:txBody>
      </p:sp>
      <p:cxnSp>
        <p:nvCxnSpPr>
          <p:cNvPr id="12" name="Connector 11"/>
          <p:cNvCxnSpPr/>
          <p:nvPr/>
        </p:nvCxnSpPr>
        <p:spPr>
          <a:xfrm>
            <a:off x="2730398" y="3675887"/>
            <a:ext cx="201168" cy="0"/>
          </a:xfrm>
          <a:prstGeom prst="line">
            <a:avLst/>
          </a:prstGeom>
          <a:ln w="2794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Create and identify</a:t>
            </a:r>
          </a:p>
        </p:txBody>
      </p:sp>
      <p:cxnSp>
        <p:nvCxnSpPr>
          <p:cNvPr id="18" name="Connector 17"/>
          <p:cNvCxnSpPr/>
          <p:nvPr/>
        </p:nvCxnSpPr>
        <p:spPr>
          <a:xfrm>
            <a:off x="4912156" y="3675887"/>
            <a:ext cx="201168" cy="0"/>
          </a:xfrm>
          <a:prstGeom prst="line">
            <a:avLst/>
          </a:prstGeom>
          <a:ln w="2794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Review and approve</a:t>
            </a:r>
          </a:p>
        </p:txBody>
      </p:sp>
      <p:cxnSp>
        <p:nvCxnSpPr>
          <p:cNvPr id="24" name="Connector 23"/>
          <p:cNvCxnSpPr/>
          <p:nvPr/>
        </p:nvCxnSpPr>
        <p:spPr>
          <a:xfrm>
            <a:off x="7093914" y="3675887"/>
            <a:ext cx="201168" cy="0"/>
          </a:xfrm>
          <a:prstGeom prst="line">
            <a:avLst/>
          </a:prstGeom>
          <a:ln w="2794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Use, protect and retain</a:t>
            </a:r>
          </a:p>
        </p:txBody>
      </p:sp>
      <p:cxnSp>
        <p:nvCxnSpPr>
          <p:cNvPr id="30" name="Connector 29"/>
          <p:cNvCxnSpPr/>
          <p:nvPr/>
        </p:nvCxnSpPr>
        <p:spPr>
          <a:xfrm>
            <a:off x="9275672" y="3675887"/>
            <a:ext cx="201168" cy="0"/>
          </a:xfrm>
          <a:prstGeom prst="line">
            <a:avLst/>
          </a:prstGeom>
          <a:ln w="2794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Change, archive or dispose</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7C3AED"/>
                </a:solidFill>
                <a:latin typeface="Arial"/>
              </a:rPr>
              <a:t>CLAUSE 8.1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Operational-control hierarchy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1012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80"/>
            <a:ext cx="2880360" cy="603504"/>
          </a:xfrm>
          <a:prstGeom prst="rect">
            <a:avLst/>
          </a:prstGeom>
          <a:noFill/>
        </p:spPr>
        <p:txBody>
          <a:bodyPr wrap="square" anchor="ctr" lIns="45720" rIns="45720">
            <a:spAutoFit/>
          </a:bodyPr>
          <a:lstStyle/>
          <a:p>
            <a:pPr algn="l">
              <a:spcAft>
                <a:spcPts val="400"/>
              </a:spcAft>
            </a:pPr>
            <a:r>
              <a:rPr sz="1800" b="1">
                <a:solidFill>
                  <a:srgbClr val="1F6FEB"/>
                </a:solidFill>
                <a:latin typeface="Arial"/>
              </a:rPr>
              <a:t>Prevent or eliminate</a:t>
            </a:r>
          </a:p>
        </p:txBody>
      </p:sp>
      <p:sp>
        <p:nvSpPr>
          <p:cNvPr id="10" name="Oval 9"/>
          <p:cNvSpPr/>
          <p:nvPr/>
        </p:nvSpPr>
        <p:spPr>
          <a:xfrm>
            <a:off x="1005840" y="2788920"/>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Avoid hazardous material/process</a:t>
            </a:r>
          </a:p>
        </p:txBody>
      </p:sp>
      <p:sp>
        <p:nvSpPr>
          <p:cNvPr id="12" name="Oval 11"/>
          <p:cNvSpPr/>
          <p:nvPr/>
        </p:nvSpPr>
        <p:spPr>
          <a:xfrm>
            <a:off x="1005840" y="3511296"/>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Design out waste or releases</a:t>
            </a:r>
          </a:p>
        </p:txBody>
      </p:sp>
      <p:sp>
        <p:nvSpPr>
          <p:cNvPr id="14" name="Oval 13"/>
          <p:cNvSpPr/>
          <p:nvPr/>
        </p:nvSpPr>
        <p:spPr>
          <a:xfrm>
            <a:off x="1005840" y="4233672"/>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Reduce demand at source</a:t>
            </a:r>
          </a:p>
        </p:txBody>
      </p:sp>
      <p:sp>
        <p:nvSpPr>
          <p:cNvPr id="16" name="Rounded Rectangle 15"/>
          <p:cNvSpPr/>
          <p:nvPr/>
        </p:nvSpPr>
        <p:spPr>
          <a:xfrm>
            <a:off x="4553712"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3712" y="1783080"/>
            <a:ext cx="3310128"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011680"/>
            <a:ext cx="2880360" cy="603504"/>
          </a:xfrm>
          <a:prstGeom prst="rect">
            <a:avLst/>
          </a:prstGeom>
          <a:noFill/>
        </p:spPr>
        <p:txBody>
          <a:bodyPr wrap="square" anchor="ctr" lIns="45720" rIns="45720">
            <a:spAutoFit/>
          </a:bodyPr>
          <a:lstStyle/>
          <a:p>
            <a:pPr algn="l">
              <a:spcAft>
                <a:spcPts val="400"/>
              </a:spcAft>
            </a:pPr>
            <a:r>
              <a:rPr sz="1800" b="1">
                <a:solidFill>
                  <a:srgbClr val="0F9D8A"/>
                </a:solidFill>
                <a:latin typeface="Arial"/>
              </a:rPr>
              <a:t>Engineer and contain</a:t>
            </a:r>
          </a:p>
        </p:txBody>
      </p:sp>
      <p:sp>
        <p:nvSpPr>
          <p:cNvPr id="19" name="Oval 18"/>
          <p:cNvSpPr/>
          <p:nvPr/>
        </p:nvSpPr>
        <p:spPr>
          <a:xfrm>
            <a:off x="4782312" y="2788920"/>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2352"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Closed transfer and bunding</a:t>
            </a:r>
          </a:p>
        </p:txBody>
      </p:sp>
      <p:sp>
        <p:nvSpPr>
          <p:cNvPr id="21" name="Oval 20"/>
          <p:cNvSpPr/>
          <p:nvPr/>
        </p:nvSpPr>
        <p:spPr>
          <a:xfrm>
            <a:off x="4782312" y="3511296"/>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02352"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Interlocks and treatment</a:t>
            </a:r>
          </a:p>
        </p:txBody>
      </p:sp>
      <p:sp>
        <p:nvSpPr>
          <p:cNvPr id="23" name="Oval 22"/>
          <p:cNvSpPr/>
          <p:nvPr/>
        </p:nvSpPr>
        <p:spPr>
          <a:xfrm>
            <a:off x="4782312" y="4233672"/>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2352"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Physical segregation</a:t>
            </a:r>
          </a:p>
        </p:txBody>
      </p:sp>
      <p:sp>
        <p:nvSpPr>
          <p:cNvPr id="25" name="Rounded Rectangle 24"/>
          <p:cNvSpPr/>
          <p:nvPr/>
        </p:nvSpPr>
        <p:spPr>
          <a:xfrm>
            <a:off x="8330183"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30183" y="1783080"/>
            <a:ext cx="331012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39" y="2011680"/>
            <a:ext cx="2880360" cy="603504"/>
          </a:xfrm>
          <a:prstGeom prst="rect">
            <a:avLst/>
          </a:prstGeom>
          <a:noFill/>
        </p:spPr>
        <p:txBody>
          <a:bodyPr wrap="square" anchor="ctr" lIns="45720" rIns="45720">
            <a:spAutoFit/>
          </a:bodyPr>
          <a:lstStyle/>
          <a:p>
            <a:pPr algn="l">
              <a:spcAft>
                <a:spcPts val="400"/>
              </a:spcAft>
            </a:pPr>
            <a:r>
              <a:rPr sz="1800" b="1">
                <a:solidFill>
                  <a:srgbClr val="7C3AED"/>
                </a:solidFill>
                <a:latin typeface="Arial"/>
              </a:rPr>
              <a:t>Administer and respond</a:t>
            </a:r>
          </a:p>
        </p:txBody>
      </p:sp>
      <p:sp>
        <p:nvSpPr>
          <p:cNvPr id="28" name="Oval 27"/>
          <p:cNvSpPr/>
          <p:nvPr/>
        </p:nvSpPr>
        <p:spPr>
          <a:xfrm>
            <a:off x="8558783" y="27889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78823"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Operating criteria and checks</a:t>
            </a:r>
          </a:p>
        </p:txBody>
      </p:sp>
      <p:sp>
        <p:nvSpPr>
          <p:cNvPr id="30" name="Oval 29"/>
          <p:cNvSpPr/>
          <p:nvPr/>
        </p:nvSpPr>
        <p:spPr>
          <a:xfrm>
            <a:off x="8558783" y="35112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3"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Competence and communication</a:t>
            </a:r>
          </a:p>
        </p:txBody>
      </p:sp>
      <p:sp>
        <p:nvSpPr>
          <p:cNvPr id="32" name="Oval 31"/>
          <p:cNvSpPr/>
          <p:nvPr/>
        </p:nvSpPr>
        <p:spPr>
          <a:xfrm>
            <a:off x="8558783" y="4233672"/>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78823"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Emergency arrangements</a:t>
            </a:r>
          </a:p>
        </p:txBody>
      </p:sp>
      <p:sp>
        <p:nvSpPr>
          <p:cNvPr id="34" name="TextBox 3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5" name="TextBox 3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7C3AED"/>
                </a:solidFill>
                <a:latin typeface="Arial"/>
              </a:rPr>
              <a:t>VALUE CHAIN</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Life-cycle perspective in practice</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Upstream and operations</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Material and supplier selection</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Design and production controls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Packaging and distribution</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Contractor and outsourced work</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Downstream</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Use-phase information</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Reuse, recovery and recycling</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End-of-life impacts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Evidence where influence is limited</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5  |  A5</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Design Life-Cycle Operational Controls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47088"/>
            <a:ext cx="1508760" cy="457200"/>
          </a:xfrm>
          <a:prstGeom prst="round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74519"/>
            <a:ext cx="1508760" cy="393192"/>
          </a:xfrm>
          <a:prstGeom prst="rect">
            <a:avLst/>
          </a:prstGeom>
          <a:noFill/>
        </p:spPr>
        <p:txBody>
          <a:bodyPr wrap="square" anchor="ctr" lIns="45720" rIns="45720">
            <a:spAutoFit/>
          </a:bodyPr>
          <a:lstStyle/>
          <a:p>
            <a:pPr algn="ctr">
              <a:spcAft>
                <a:spcPts val="400"/>
              </a:spcAft>
            </a:pPr>
            <a:r>
              <a:rPr sz="1400" b="1">
                <a:solidFill>
                  <a:srgbClr val="FFFFFF"/>
                </a:solidFill>
                <a:latin typeface="Arial"/>
              </a:rPr>
              <a:t>ACTIVITY 5</a:t>
            </a:r>
          </a:p>
        </p:txBody>
      </p:sp>
      <p:sp>
        <p:nvSpPr>
          <p:cNvPr id="9" name="TextBox 8"/>
          <p:cNvSpPr txBox="1"/>
          <p:nvPr/>
        </p:nvSpPr>
        <p:spPr>
          <a:xfrm>
            <a:off x="777240" y="2542032"/>
            <a:ext cx="10652760" cy="1124712"/>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Control ink, paper, cleaning, maintenance, waste handling and supplier interfaces using the hierarchy of control and life-cycle perspective.</a:t>
            </a:r>
          </a:p>
        </p:txBody>
      </p:sp>
      <p:sp>
        <p:nvSpPr>
          <p:cNvPr id="10" name="Rounded Rectangle 9"/>
          <p:cNvSpPr/>
          <p:nvPr/>
        </p:nvSpPr>
        <p:spPr>
          <a:xfrm>
            <a:off x="777240" y="3886200"/>
            <a:ext cx="10652760" cy="195681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133087"/>
            <a:ext cx="9966960" cy="310896"/>
          </a:xfrm>
          <a:prstGeom prst="rect">
            <a:avLst/>
          </a:prstGeom>
          <a:noFill/>
        </p:spPr>
        <p:txBody>
          <a:bodyPr wrap="square" anchor="t" lIns="45720" rIns="45720">
            <a:spAutoFit/>
          </a:bodyPr>
          <a:lstStyle/>
          <a:p>
            <a:pPr algn="l">
              <a:spcAft>
                <a:spcPts val="400"/>
              </a:spcAft>
            </a:pPr>
            <a:r>
              <a:rPr sz="1150" b="1">
                <a:solidFill>
                  <a:srgbClr val="1F6FEB"/>
                </a:solidFill>
                <a:latin typeface="Arial"/>
              </a:rPr>
              <a:t>EXPECTED OUTPUT</a:t>
            </a:r>
          </a:p>
        </p:txBody>
      </p:sp>
      <p:sp>
        <p:nvSpPr>
          <p:cNvPr id="12" name="TextBox 11"/>
          <p:cNvSpPr txBox="1"/>
          <p:nvPr/>
        </p:nvSpPr>
        <p:spPr>
          <a:xfrm>
            <a:off x="1024128" y="4480560"/>
            <a:ext cx="9966960" cy="621792"/>
          </a:xfrm>
          <a:prstGeom prst="rect">
            <a:avLst/>
          </a:prstGeom>
          <a:noFill/>
        </p:spPr>
        <p:txBody>
          <a:bodyPr wrap="square" anchor="ctr" lIns="45720" rIns="45720">
            <a:spAutoFit/>
          </a:bodyPr>
          <a:lstStyle/>
          <a:p>
            <a:pPr algn="l">
              <a:spcAft>
                <a:spcPts val="400"/>
              </a:spcAft>
            </a:pPr>
            <a:r>
              <a:rPr sz="1700" b="1">
                <a:solidFill>
                  <a:srgbClr val="161B26"/>
                </a:solidFill>
                <a:latin typeface="Arial"/>
              </a:rPr>
              <a:t>An operational control plan, supplier requirement matrix and control-verification schedule.</a:t>
            </a:r>
          </a:p>
        </p:txBody>
      </p:sp>
      <p:sp>
        <p:nvSpPr>
          <p:cNvPr id="13" name="TextBox 12"/>
          <p:cNvSpPr txBox="1"/>
          <p:nvPr/>
        </p:nvSpPr>
        <p:spPr>
          <a:xfrm>
            <a:off x="1024128" y="5230368"/>
            <a:ext cx="9966960" cy="411480"/>
          </a:xfrm>
          <a:prstGeom prst="rect">
            <a:avLst/>
          </a:prstGeom>
          <a:noFill/>
        </p:spPr>
        <p:txBody>
          <a:bodyPr wrap="square" anchor="t" lIns="45720" rIns="45720">
            <a:spAutoFit/>
          </a:bodyPr>
          <a:lstStyle/>
          <a:p>
            <a:pPr algn="l">
              <a:spcAft>
                <a:spcPts val="400"/>
              </a:spcAft>
            </a:pPr>
            <a:r>
              <a:rPr sz="1230" b="0">
                <a:solidFill>
                  <a:srgbClr val="5B6372"/>
                </a:solidFill>
                <a:latin typeface="Arial"/>
              </a:rPr>
              <a:t>Resources: Operational Control Workbook (Excel), life-cycle and supplier checklist PDF</a:t>
            </a:r>
          </a:p>
        </p:txBody>
      </p:sp>
      <p:sp>
        <p:nvSpPr>
          <p:cNvPr id="14" name="TextBox 1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5" name="TextBox 1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6" name="TextBox 1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5  |  DECISION PROMPT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Design Life-Cycle Operational Controls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12848"/>
            <a:ext cx="1325880" cy="13258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12848"/>
            <a:ext cx="1325880" cy="1325880"/>
          </a:xfrm>
          <a:prstGeom prst="rect">
            <a:avLst/>
          </a:prstGeom>
          <a:noFill/>
        </p:spPr>
        <p:txBody>
          <a:bodyPr wrap="square" anchor="ctr" lIns="45720" rIns="45720">
            <a:spAutoFit/>
          </a:bodyPr>
          <a:lstStyle/>
          <a:p>
            <a:pPr algn="ctr">
              <a:spcAft>
                <a:spcPts val="400"/>
              </a:spcAft>
            </a:pPr>
            <a:r>
              <a:rPr sz="4200" b="1">
                <a:solidFill>
                  <a:srgbClr val="FFFFFF"/>
                </a:solidFill>
                <a:latin typeface="Arial"/>
              </a:rPr>
              <a:t>?</a:t>
            </a:r>
          </a:p>
        </p:txBody>
      </p:sp>
      <p:sp>
        <p:nvSpPr>
          <p:cNvPr id="9" name="TextBox 8"/>
          <p:cNvSpPr txBox="1"/>
          <p:nvPr/>
        </p:nvSpPr>
        <p:spPr>
          <a:xfrm>
            <a:off x="2423160" y="2029968"/>
            <a:ext cx="8887968" cy="169164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MEP controls the printing line but has weak requirements for paper suppliers, cleaning contractors, waste collectors and transport providers. Instructions describe tasks but not environmental acceptance criteria.</a:t>
            </a:r>
          </a:p>
        </p:txBody>
      </p:sp>
      <p:sp>
        <p:nvSpPr>
          <p:cNvPr id="10" name="Rounded Rectangle 9"/>
          <p:cNvSpPr/>
          <p:nvPr/>
        </p:nvSpPr>
        <p:spPr>
          <a:xfrm>
            <a:off x="2423160" y="3886200"/>
            <a:ext cx="8887968" cy="150876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4096512"/>
            <a:ext cx="8366760" cy="1078992"/>
          </a:xfrm>
          <a:prstGeom prst="rect">
            <a:avLst/>
          </a:prstGeom>
          <a:noFill/>
        </p:spPr>
        <p:txBody>
          <a:bodyPr wrap="square" anchor="ctr" lIns="45720" rIns="45720">
            <a:spAutoFit/>
          </a:bodyPr>
          <a:lstStyle/>
          <a:p>
            <a:pPr algn="l">
              <a:spcAft>
                <a:spcPts val="400"/>
              </a:spcAft>
            </a:pPr>
            <a:r>
              <a:rPr sz="1700" b="1">
                <a:solidFill>
                  <a:srgbClr val="1F6FEB"/>
                </a:solidFill>
                <a:latin typeface="Arial"/>
              </a:rPr>
              <a:t>Decide what evidence you need, what method fits, and how you will know the result is credible.</a:t>
            </a:r>
          </a:p>
        </p:txBody>
      </p:sp>
      <p:sp>
        <p:nvSpPr>
          <p:cNvPr id="12" name="TextBox 11"/>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3" name="TextBox 12"/>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4" name="TextBox 13"/>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ACTIVITY 5  |  VERIFY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Design Life-Cycle Operational Controls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93392"/>
            <a:ext cx="10652760" cy="329184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04288"/>
            <a:ext cx="9966960" cy="438912"/>
          </a:xfrm>
          <a:prstGeom prst="rect">
            <a:avLst/>
          </a:prstGeom>
          <a:noFill/>
        </p:spPr>
        <p:txBody>
          <a:bodyPr wrap="square" anchor="t" lIns="45720" rIns="45720">
            <a:spAutoFit/>
          </a:bodyPr>
          <a:lstStyle/>
          <a:p>
            <a:pPr algn="l">
              <a:spcAft>
                <a:spcPts val="400"/>
              </a:spcAft>
            </a:pPr>
            <a:r>
              <a:rPr sz="1500" b="1">
                <a:solidFill>
                  <a:srgbClr val="16854A"/>
                </a:solidFill>
                <a:latin typeface="Arial"/>
              </a:rPr>
              <a:t>CHECK YOUR EVIDENCE</a:t>
            </a:r>
          </a:p>
        </p:txBody>
      </p:sp>
      <p:sp>
        <p:nvSpPr>
          <p:cNvPr id="9" name="TextBox 8"/>
          <p:cNvSpPr txBox="1"/>
          <p:nvPr/>
        </p:nvSpPr>
        <p:spPr>
          <a:xfrm>
            <a:off x="1097280" y="2871216"/>
            <a:ext cx="9966960" cy="132588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Controls address the actual cause of impact, include operating criteria and evidence, distinguish control from influence, and extend proportionately across relevant value-chain interfaces.</a:t>
            </a:r>
          </a:p>
        </p:txBody>
      </p:sp>
      <p:sp>
        <p:nvSpPr>
          <p:cNvPr id="10" name="TextBox 9"/>
          <p:cNvSpPr txBox="1"/>
          <p:nvPr/>
        </p:nvSpPr>
        <p:spPr>
          <a:xfrm>
            <a:off x="1097280" y="4590288"/>
            <a:ext cx="9966960" cy="365760"/>
          </a:xfrm>
          <a:prstGeom prst="rect">
            <a:avLst/>
          </a:prstGeom>
          <a:noFill/>
        </p:spPr>
        <p:txBody>
          <a:bodyPr wrap="square" anchor="t" lIns="45720" rIns="45720">
            <a:spAutoFit/>
          </a:bodyPr>
          <a:lstStyle/>
          <a:p>
            <a:pPr algn="l">
              <a:spcAft>
                <a:spcPts val="400"/>
              </a:spcAft>
            </a:pPr>
            <a:r>
              <a:rPr sz="1250" b="0">
                <a:solidFill>
                  <a:srgbClr val="5B6372"/>
                </a:solidFill>
                <a:latin typeface="Arial"/>
              </a:rPr>
              <a:t>Detailed steps, scenario exhibits and templates are in the Learner Guide and activity folder.</a:t>
            </a:r>
          </a:p>
        </p:txBody>
      </p:sp>
      <p:sp>
        <p:nvSpPr>
          <p:cNvPr id="11" name="TextBox 1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2" name="TextBox 1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3" name="TextBox 1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C2413B"/>
                </a:solidFill>
                <a:latin typeface="Arial"/>
              </a:rPr>
              <a:t>CLAUSE 8.2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Emergency readiness: before, during and after</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Identify scenarios and receptors</a:t>
            </a:r>
          </a:p>
        </p:txBody>
      </p:sp>
      <p:cxnSp>
        <p:nvCxnSpPr>
          <p:cNvPr id="12" name="Connector 11"/>
          <p:cNvCxnSpPr/>
          <p:nvPr/>
        </p:nvCxnSpPr>
        <p:spPr>
          <a:xfrm>
            <a:off x="2730398" y="3675887"/>
            <a:ext cx="201168" cy="0"/>
          </a:xfrm>
          <a:prstGeom prst="line">
            <a:avLst/>
          </a:prstGeom>
          <a:ln w="27940">
            <a:solidFill>
              <a:srgbClr val="C2413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Prevent and prepare</a:t>
            </a:r>
          </a:p>
        </p:txBody>
      </p:sp>
      <p:cxnSp>
        <p:nvCxnSpPr>
          <p:cNvPr id="18" name="Connector 17"/>
          <p:cNvCxnSpPr/>
          <p:nvPr/>
        </p:nvCxnSpPr>
        <p:spPr>
          <a:xfrm>
            <a:off x="4912156" y="3675887"/>
            <a:ext cx="201168" cy="0"/>
          </a:xfrm>
          <a:prstGeom prst="line">
            <a:avLst/>
          </a:prstGeom>
          <a:ln w="27940">
            <a:solidFill>
              <a:srgbClr val="C2413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Respond and communicate</a:t>
            </a:r>
          </a:p>
        </p:txBody>
      </p:sp>
      <p:cxnSp>
        <p:nvCxnSpPr>
          <p:cNvPr id="24" name="Connector 23"/>
          <p:cNvCxnSpPr/>
          <p:nvPr/>
        </p:nvCxnSpPr>
        <p:spPr>
          <a:xfrm>
            <a:off x="7093914" y="3675887"/>
            <a:ext cx="201168" cy="0"/>
          </a:xfrm>
          <a:prstGeom prst="line">
            <a:avLst/>
          </a:prstGeom>
          <a:ln w="27940">
            <a:solidFill>
              <a:srgbClr val="C2413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Recover and verify</a:t>
            </a:r>
          </a:p>
        </p:txBody>
      </p:sp>
      <p:cxnSp>
        <p:nvCxnSpPr>
          <p:cNvPr id="30" name="Connector 29"/>
          <p:cNvCxnSpPr/>
          <p:nvPr/>
        </p:nvCxnSpPr>
        <p:spPr>
          <a:xfrm>
            <a:off x="9275672" y="3675887"/>
            <a:ext cx="201168" cy="0"/>
          </a:xfrm>
          <a:prstGeom prst="line">
            <a:avLst/>
          </a:prstGeom>
          <a:ln w="27940">
            <a:solidFill>
              <a:srgbClr val="C2413B"/>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Review, correct and improve</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C2413B"/>
                </a:solidFill>
                <a:latin typeface="Arial"/>
              </a:rPr>
              <a:t>EMERGENCY RESPONSE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Environmental and safety priorities interact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Human safety</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Stop work and protect people</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Use competent incident command</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Control source only when safe</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Coordinate emergency services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Environmental protection</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Protect drains, land, air and neighbours</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Preserve time-stamped evidence</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Use approved notification decisions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Manage clean-up waste and recovery</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6  |  A3, A4</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Run an Environmental Emergency Tabletop</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47088"/>
            <a:ext cx="1508760" cy="457200"/>
          </a:xfrm>
          <a:prstGeom prst="round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74519"/>
            <a:ext cx="1508760" cy="393192"/>
          </a:xfrm>
          <a:prstGeom prst="rect">
            <a:avLst/>
          </a:prstGeom>
          <a:noFill/>
        </p:spPr>
        <p:txBody>
          <a:bodyPr wrap="square" anchor="ctr" lIns="45720" rIns="45720">
            <a:spAutoFit/>
          </a:bodyPr>
          <a:lstStyle/>
          <a:p>
            <a:pPr algn="ctr">
              <a:spcAft>
                <a:spcPts val="400"/>
              </a:spcAft>
            </a:pPr>
            <a:r>
              <a:rPr sz="1400" b="1">
                <a:solidFill>
                  <a:srgbClr val="FFFFFF"/>
                </a:solidFill>
                <a:latin typeface="Arial"/>
              </a:rPr>
              <a:t>ACTIVITY 6</a:t>
            </a:r>
          </a:p>
        </p:txBody>
      </p:sp>
      <p:sp>
        <p:nvSpPr>
          <p:cNvPr id="9" name="TextBox 8"/>
          <p:cNvSpPr txBox="1"/>
          <p:nvPr/>
        </p:nvSpPr>
        <p:spPr>
          <a:xfrm>
            <a:off x="777240" y="2542032"/>
            <a:ext cx="10652760" cy="1124712"/>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Respond to an ink-tote spill near a storm-water drain while protecting people, the environment and evidence integrity.</a:t>
            </a:r>
          </a:p>
        </p:txBody>
      </p:sp>
      <p:sp>
        <p:nvSpPr>
          <p:cNvPr id="10" name="Rounded Rectangle 9"/>
          <p:cNvSpPr/>
          <p:nvPr/>
        </p:nvSpPr>
        <p:spPr>
          <a:xfrm>
            <a:off x="777240" y="3886200"/>
            <a:ext cx="10652760" cy="195681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133087"/>
            <a:ext cx="9966960" cy="310896"/>
          </a:xfrm>
          <a:prstGeom prst="rect">
            <a:avLst/>
          </a:prstGeom>
          <a:noFill/>
        </p:spPr>
        <p:txBody>
          <a:bodyPr wrap="square" anchor="t" lIns="45720" rIns="45720">
            <a:spAutoFit/>
          </a:bodyPr>
          <a:lstStyle/>
          <a:p>
            <a:pPr algn="l">
              <a:spcAft>
                <a:spcPts val="400"/>
              </a:spcAft>
            </a:pPr>
            <a:r>
              <a:rPr sz="1150" b="1">
                <a:solidFill>
                  <a:srgbClr val="1F6FEB"/>
                </a:solidFill>
                <a:latin typeface="Arial"/>
              </a:rPr>
              <a:t>EXPECTED OUTPUT</a:t>
            </a:r>
          </a:p>
        </p:txBody>
      </p:sp>
      <p:sp>
        <p:nvSpPr>
          <p:cNvPr id="12" name="TextBox 11"/>
          <p:cNvSpPr txBox="1"/>
          <p:nvPr/>
        </p:nvSpPr>
        <p:spPr>
          <a:xfrm>
            <a:off x="1024128" y="4480560"/>
            <a:ext cx="9966960" cy="621792"/>
          </a:xfrm>
          <a:prstGeom prst="rect">
            <a:avLst/>
          </a:prstGeom>
          <a:noFill/>
        </p:spPr>
        <p:txBody>
          <a:bodyPr wrap="square" anchor="ctr" lIns="45720" rIns="45720">
            <a:spAutoFit/>
          </a:bodyPr>
          <a:lstStyle/>
          <a:p>
            <a:pPr algn="l">
              <a:spcAft>
                <a:spcPts val="400"/>
              </a:spcAft>
            </a:pPr>
            <a:r>
              <a:rPr sz="1700" b="1">
                <a:solidFill>
                  <a:srgbClr val="161B26"/>
                </a:solidFill>
                <a:latin typeface="Arial"/>
              </a:rPr>
              <a:t>A time-stamped response log, notification decision record, containment plan and post-drill improvement actions.</a:t>
            </a:r>
          </a:p>
        </p:txBody>
      </p:sp>
      <p:sp>
        <p:nvSpPr>
          <p:cNvPr id="13" name="TextBox 12"/>
          <p:cNvSpPr txBox="1"/>
          <p:nvPr/>
        </p:nvSpPr>
        <p:spPr>
          <a:xfrm>
            <a:off x="1024128" y="5230368"/>
            <a:ext cx="9966960" cy="411480"/>
          </a:xfrm>
          <a:prstGeom prst="rect">
            <a:avLst/>
          </a:prstGeom>
          <a:noFill/>
        </p:spPr>
        <p:txBody>
          <a:bodyPr wrap="square" anchor="t" lIns="45720" rIns="45720">
            <a:spAutoFit/>
          </a:bodyPr>
          <a:lstStyle/>
          <a:p>
            <a:pPr algn="l">
              <a:spcAft>
                <a:spcPts val="400"/>
              </a:spcAft>
            </a:pPr>
            <a:r>
              <a:rPr sz="1230" b="0">
                <a:solidFill>
                  <a:srgbClr val="5B6372"/>
                </a:solidFill>
                <a:latin typeface="Arial"/>
              </a:rPr>
              <a:t>Resources: Emergency Tabletop Workbook (Excel), spill-response role cards and observer checklist PDF</a:t>
            </a:r>
          </a:p>
        </p:txBody>
      </p:sp>
      <p:sp>
        <p:nvSpPr>
          <p:cNvPr id="14" name="TextBox 1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5" name="TextBox 1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6" name="TextBox 1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6  |  DECISION PROMPT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Run an Environmental Emergency Tabletop</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12848"/>
            <a:ext cx="1325880" cy="13258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12848"/>
            <a:ext cx="1325880" cy="1325880"/>
          </a:xfrm>
          <a:prstGeom prst="rect">
            <a:avLst/>
          </a:prstGeom>
          <a:noFill/>
        </p:spPr>
        <p:txBody>
          <a:bodyPr wrap="square" anchor="ctr" lIns="45720" rIns="45720">
            <a:spAutoFit/>
          </a:bodyPr>
          <a:lstStyle/>
          <a:p>
            <a:pPr algn="ctr">
              <a:spcAft>
                <a:spcPts val="400"/>
              </a:spcAft>
            </a:pPr>
            <a:r>
              <a:rPr sz="4200" b="1">
                <a:solidFill>
                  <a:srgbClr val="FFFFFF"/>
                </a:solidFill>
                <a:latin typeface="Arial"/>
              </a:rPr>
              <a:t>?</a:t>
            </a:r>
          </a:p>
        </p:txBody>
      </p:sp>
      <p:sp>
        <p:nvSpPr>
          <p:cNvPr id="9" name="TextBox 8"/>
          <p:cNvSpPr txBox="1"/>
          <p:nvPr/>
        </p:nvSpPr>
        <p:spPr>
          <a:xfrm>
            <a:off x="2423160" y="2029968"/>
            <a:ext cx="8887968" cy="169164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At 10:20 a forklift punctures a 600-litre water-based ink tote. Product flows toward an internal drain. One operator raises the alarm; the quantity released, drain destination and regulatory notification threshold are initially uncertain.</a:t>
            </a:r>
          </a:p>
        </p:txBody>
      </p:sp>
      <p:sp>
        <p:nvSpPr>
          <p:cNvPr id="10" name="Rounded Rectangle 9"/>
          <p:cNvSpPr/>
          <p:nvPr/>
        </p:nvSpPr>
        <p:spPr>
          <a:xfrm>
            <a:off x="2423160" y="3886200"/>
            <a:ext cx="8887968" cy="150876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4096512"/>
            <a:ext cx="8366760" cy="1078992"/>
          </a:xfrm>
          <a:prstGeom prst="rect">
            <a:avLst/>
          </a:prstGeom>
          <a:noFill/>
        </p:spPr>
        <p:txBody>
          <a:bodyPr wrap="square" anchor="ctr" lIns="45720" rIns="45720">
            <a:spAutoFit/>
          </a:bodyPr>
          <a:lstStyle/>
          <a:p>
            <a:pPr algn="l">
              <a:spcAft>
                <a:spcPts val="400"/>
              </a:spcAft>
            </a:pPr>
            <a:r>
              <a:rPr sz="1700" b="1">
                <a:solidFill>
                  <a:srgbClr val="1F6FEB"/>
                </a:solidFill>
                <a:latin typeface="Arial"/>
              </a:rPr>
              <a:t>Decide what evidence you need, what method fits, and how you will know the result is credible.</a:t>
            </a:r>
          </a:p>
        </p:txBody>
      </p:sp>
      <p:sp>
        <p:nvSpPr>
          <p:cNvPr id="12" name="TextBox 11"/>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3" name="TextBox 12"/>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4" name="TextBox 13"/>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ACTIVITY 6  |  VERIFY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Run an Environmental Emergency Tabletop</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93392"/>
            <a:ext cx="10652760" cy="329184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04288"/>
            <a:ext cx="9966960" cy="438912"/>
          </a:xfrm>
          <a:prstGeom prst="rect">
            <a:avLst/>
          </a:prstGeom>
          <a:noFill/>
        </p:spPr>
        <p:txBody>
          <a:bodyPr wrap="square" anchor="t" lIns="45720" rIns="45720">
            <a:spAutoFit/>
          </a:bodyPr>
          <a:lstStyle/>
          <a:p>
            <a:pPr algn="l">
              <a:spcAft>
                <a:spcPts val="400"/>
              </a:spcAft>
            </a:pPr>
            <a:r>
              <a:rPr sz="1500" b="1">
                <a:solidFill>
                  <a:srgbClr val="16854A"/>
                </a:solidFill>
                <a:latin typeface="Arial"/>
              </a:rPr>
              <a:t>CHECK YOUR EVIDENCE</a:t>
            </a:r>
          </a:p>
        </p:txBody>
      </p:sp>
      <p:sp>
        <p:nvSpPr>
          <p:cNvPr id="9" name="TextBox 8"/>
          <p:cNvSpPr txBox="1"/>
          <p:nvPr/>
        </p:nvSpPr>
        <p:spPr>
          <a:xfrm>
            <a:off x="1097280" y="2871216"/>
            <a:ext cx="9966960" cy="132588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The team protects people and receptors, records decisions and uncertainties, uses the approved escalation path, preserves evidence and converts drill findings into owned improvement actions.</a:t>
            </a:r>
          </a:p>
        </p:txBody>
      </p:sp>
      <p:sp>
        <p:nvSpPr>
          <p:cNvPr id="10" name="TextBox 9"/>
          <p:cNvSpPr txBox="1"/>
          <p:nvPr/>
        </p:nvSpPr>
        <p:spPr>
          <a:xfrm>
            <a:off x="1097280" y="4590288"/>
            <a:ext cx="9966960" cy="365760"/>
          </a:xfrm>
          <a:prstGeom prst="rect">
            <a:avLst/>
          </a:prstGeom>
          <a:noFill/>
        </p:spPr>
        <p:txBody>
          <a:bodyPr wrap="square" anchor="t" lIns="45720" rIns="45720">
            <a:spAutoFit/>
          </a:bodyPr>
          <a:lstStyle/>
          <a:p>
            <a:pPr algn="l">
              <a:spcAft>
                <a:spcPts val="400"/>
              </a:spcAft>
            </a:pPr>
            <a:r>
              <a:rPr sz="1250" b="0">
                <a:solidFill>
                  <a:srgbClr val="5B6372"/>
                </a:solidFill>
                <a:latin typeface="Arial"/>
              </a:rPr>
              <a:t>Detailed steps, scenario exhibits and templates are in the Learner Guide and activity folder.</a:t>
            </a:r>
          </a:p>
        </p:txBody>
      </p:sp>
      <p:sp>
        <p:nvSpPr>
          <p:cNvPr id="11" name="TextBox 1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2" name="TextBox 1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3" name="TextBox 1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7C3AED"/>
                </a:solidFill>
                <a:latin typeface="Arial"/>
              </a:rPr>
              <a:t>CHECK YOUR UNDERSTANDING</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Day 1 recap</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16865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Context</a:t>
            </a:r>
          </a:p>
          <a:p>
            <a:pPr algn="l">
              <a:spcAft>
                <a:spcPts val="300"/>
              </a:spcAft>
            </a:pPr>
            <a:r>
              <a:rPr sz="1220" b="0">
                <a:solidFill>
                  <a:srgbClr val="5B6372"/>
                </a:solidFill>
                <a:latin typeface="Arial"/>
              </a:rPr>
              <a:t>Environmental conditions, interested parties and scope.</a:t>
            </a:r>
          </a:p>
        </p:txBody>
      </p:sp>
      <p:sp>
        <p:nvSpPr>
          <p:cNvPr id="12" name="Rounded Rectangle 11"/>
          <p:cNvSpPr/>
          <p:nvPr/>
        </p:nvSpPr>
        <p:spPr>
          <a:xfrm>
            <a:off x="6231636"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68652"/>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Leadership</a:t>
            </a:r>
          </a:p>
          <a:p>
            <a:pPr algn="l">
              <a:spcAft>
                <a:spcPts val="300"/>
              </a:spcAft>
            </a:pPr>
            <a:r>
              <a:rPr sz="1220" b="0">
                <a:solidFill>
                  <a:srgbClr val="5B6372"/>
                </a:solidFill>
                <a:latin typeface="Arial"/>
              </a:rPr>
              <a:t>Policy, accountability and support for roles.</a:t>
            </a:r>
          </a:p>
        </p:txBody>
      </p:sp>
      <p:sp>
        <p:nvSpPr>
          <p:cNvPr id="17" name="Rounded Rectangle 16"/>
          <p:cNvSpPr/>
          <p:nvPr/>
        </p:nvSpPr>
        <p:spPr>
          <a:xfrm>
            <a:off x="777240"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4032"/>
            <a:ext cx="82296" cy="13014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68960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Planning</a:t>
            </a:r>
          </a:p>
          <a:p>
            <a:pPr algn="l">
              <a:spcAft>
                <a:spcPts val="300"/>
              </a:spcAft>
            </a:pPr>
            <a:r>
              <a:rPr sz="1220" b="0">
                <a:solidFill>
                  <a:srgbClr val="5B6372"/>
                </a:solidFill>
                <a:latin typeface="Arial"/>
              </a:rPr>
              <a:t>Aspects, obligations, risks, objectives and change.</a:t>
            </a:r>
          </a:p>
        </p:txBody>
      </p:sp>
      <p:sp>
        <p:nvSpPr>
          <p:cNvPr id="22" name="Rounded Rectangle 21"/>
          <p:cNvSpPr/>
          <p:nvPr/>
        </p:nvSpPr>
        <p:spPr>
          <a:xfrm>
            <a:off x="6231636"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04032"/>
            <a:ext cx="82296" cy="13014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689604"/>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Support</a:t>
            </a:r>
          </a:p>
          <a:p>
            <a:pPr algn="l">
              <a:spcAft>
                <a:spcPts val="300"/>
              </a:spcAft>
            </a:pPr>
            <a:r>
              <a:rPr sz="1220" b="0">
                <a:solidFill>
                  <a:srgbClr val="5B6372"/>
                </a:solidFill>
                <a:latin typeface="Arial"/>
              </a:rPr>
              <a:t>Resources, competence, awareness, communication and information.</a:t>
            </a:r>
          </a:p>
        </p:txBody>
      </p:sp>
      <p:sp>
        <p:nvSpPr>
          <p:cNvPr id="27" name="Rounded Rectangle 26"/>
          <p:cNvSpPr/>
          <p:nvPr/>
        </p:nvSpPr>
        <p:spPr>
          <a:xfrm>
            <a:off x="777240"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4984"/>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521055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737360"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Operation</a:t>
            </a:r>
          </a:p>
          <a:p>
            <a:pPr algn="l">
              <a:spcAft>
                <a:spcPts val="300"/>
              </a:spcAft>
            </a:pPr>
            <a:r>
              <a:rPr sz="1220" b="0">
                <a:solidFill>
                  <a:srgbClr val="5B6372"/>
                </a:solidFill>
                <a:latin typeface="Arial"/>
              </a:rPr>
              <a:t>Life-cycle controls and value-chain oversight.</a:t>
            </a:r>
          </a:p>
        </p:txBody>
      </p:sp>
      <p:sp>
        <p:nvSpPr>
          <p:cNvPr id="32" name="Rounded Rectangle 31"/>
          <p:cNvSpPr/>
          <p:nvPr/>
        </p:nvSpPr>
        <p:spPr>
          <a:xfrm>
            <a:off x="6231636"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24984"/>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10556"/>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191756"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Emergency</a:t>
            </a:r>
          </a:p>
          <a:p>
            <a:pPr algn="l">
              <a:spcAft>
                <a:spcPts val="300"/>
              </a:spcAft>
            </a:pPr>
            <a:r>
              <a:rPr sz="1220" b="0">
                <a:solidFill>
                  <a:srgbClr val="5B6372"/>
                </a:solidFill>
                <a:latin typeface="Arial"/>
              </a:rPr>
              <a:t>Credible scenarios, response, communication and learning.</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267712"/>
            <a:ext cx="109728" cy="182880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 y="2148840"/>
            <a:ext cx="9875520" cy="384048"/>
          </a:xfrm>
          <a:prstGeom prst="rect">
            <a:avLst/>
          </a:prstGeom>
          <a:noFill/>
        </p:spPr>
        <p:txBody>
          <a:bodyPr wrap="square" anchor="t" lIns="45720" rIns="45720">
            <a:spAutoFit/>
          </a:bodyPr>
          <a:lstStyle/>
          <a:p>
            <a:pPr algn="l">
              <a:spcAft>
                <a:spcPts val="400"/>
              </a:spcAft>
            </a:pPr>
            <a:r>
              <a:rPr sz="1500" b="1">
                <a:solidFill>
                  <a:srgbClr val="0F9D8A"/>
                </a:solidFill>
                <a:latin typeface="Arial"/>
              </a:rPr>
              <a:t>DAY 2</a:t>
            </a:r>
          </a:p>
        </p:txBody>
      </p:sp>
      <p:sp>
        <p:nvSpPr>
          <p:cNvPr id="6" name="TextBox 5"/>
          <p:cNvSpPr txBox="1"/>
          <p:nvPr/>
        </p:nvSpPr>
        <p:spPr>
          <a:xfrm>
            <a:off x="1161288" y="2587752"/>
            <a:ext cx="9875520" cy="1325880"/>
          </a:xfrm>
          <a:prstGeom prst="rect">
            <a:avLst/>
          </a:prstGeom>
          <a:noFill/>
        </p:spPr>
        <p:txBody>
          <a:bodyPr wrap="square" anchor="ctr" lIns="45720" rIns="45720">
            <a:spAutoFit/>
          </a:bodyPr>
          <a:lstStyle/>
          <a:p>
            <a:pPr algn="l">
              <a:spcAft>
                <a:spcPts val="400"/>
              </a:spcAft>
            </a:pPr>
            <a:r>
              <a:rPr sz="3900" b="1">
                <a:solidFill>
                  <a:srgbClr val="161B26"/>
                </a:solidFill>
                <a:latin typeface="Arial"/>
              </a:rPr>
              <a:t>Performance evaluation and continual improvement</a:t>
            </a:r>
          </a:p>
        </p:txBody>
      </p:sp>
      <p:sp>
        <p:nvSpPr>
          <p:cNvPr id="7" name="TextBox 6"/>
          <p:cNvSpPr txBox="1"/>
          <p:nvPr/>
        </p:nvSpPr>
        <p:spPr>
          <a:xfrm>
            <a:off x="1170432" y="4096512"/>
            <a:ext cx="9875520" cy="731520"/>
          </a:xfrm>
          <a:prstGeom prst="rect">
            <a:avLst/>
          </a:prstGeom>
          <a:noFill/>
        </p:spPr>
        <p:txBody>
          <a:bodyPr wrap="square" anchor="t" lIns="45720" rIns="45720">
            <a:spAutoFit/>
          </a:bodyPr>
          <a:lstStyle/>
          <a:p>
            <a:pPr algn="l">
              <a:spcAft>
                <a:spcPts val="400"/>
              </a:spcAft>
            </a:pPr>
            <a:r>
              <a:rPr sz="1600" b="0">
                <a:solidFill>
                  <a:srgbClr val="5B6372"/>
                </a:solidFill>
                <a:latin typeface="Arial"/>
              </a:rPr>
              <a:t>Emergency readiness, performance evaluation, audit, management review and continual improvement</a:t>
            </a:r>
          </a:p>
        </p:txBody>
      </p:sp>
      <p:sp>
        <p:nvSpPr>
          <p:cNvPr id="8" name="TextBox 7"/>
          <p:cNvSpPr txBox="1"/>
          <p:nvPr/>
        </p:nvSpPr>
        <p:spPr>
          <a:xfrm>
            <a:off x="9464040" y="502920"/>
            <a:ext cx="2103120" cy="1234440"/>
          </a:xfrm>
          <a:prstGeom prst="rect">
            <a:avLst/>
          </a:prstGeom>
          <a:noFill/>
        </p:spPr>
        <p:txBody>
          <a:bodyPr wrap="square" anchor="t" lIns="45720" rIns="45720">
            <a:spAutoFit/>
          </a:bodyPr>
          <a:lstStyle/>
          <a:p>
            <a:pPr algn="r">
              <a:spcAft>
                <a:spcPts val="400"/>
              </a:spcAft>
            </a:pPr>
            <a:r>
              <a:rPr sz="6800" b="1">
                <a:solidFill>
                  <a:srgbClr val="E2E8F0"/>
                </a:solidFill>
                <a:latin typeface="Arial"/>
              </a:rPr>
              <a:t>2</a:t>
            </a:r>
          </a:p>
        </p:txBody>
      </p:sp>
      <p:sp>
        <p:nvSpPr>
          <p:cNvPr id="9" name="TextBox 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0" name="TextBox 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1" name="TextBox 1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107</a:t>
            </a:r>
          </a:p>
        </p:txBody>
      </p:sp>
    </p:spTree>
  </p:cSld>
  <p:clrMapOvr>
    <a:masterClrMapping/>
  </p:clrMapOvr>
  <p:transition spd="med" advClick="1">
    <p:push dir="l"/>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267712"/>
            <a:ext cx="109728" cy="182880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 y="2148840"/>
            <a:ext cx="9875520" cy="384048"/>
          </a:xfrm>
          <a:prstGeom prst="rect">
            <a:avLst/>
          </a:prstGeom>
          <a:noFill/>
        </p:spPr>
        <p:txBody>
          <a:bodyPr wrap="square" anchor="t" lIns="45720" rIns="45720">
            <a:spAutoFit/>
          </a:bodyPr>
          <a:lstStyle/>
          <a:p>
            <a:pPr algn="l">
              <a:spcAft>
                <a:spcPts val="400"/>
              </a:spcAft>
            </a:pPr>
            <a:r>
              <a:rPr sz="1500" b="1">
                <a:solidFill>
                  <a:srgbClr val="1F6FEB"/>
                </a:solidFill>
                <a:latin typeface="Arial"/>
              </a:rPr>
              <a:t>TOPIC 3</a:t>
            </a:r>
          </a:p>
        </p:txBody>
      </p:sp>
      <p:sp>
        <p:nvSpPr>
          <p:cNvPr id="6" name="TextBox 5"/>
          <p:cNvSpPr txBox="1"/>
          <p:nvPr/>
        </p:nvSpPr>
        <p:spPr>
          <a:xfrm>
            <a:off x="1161288" y="2587752"/>
            <a:ext cx="9875520" cy="1325880"/>
          </a:xfrm>
          <a:prstGeom prst="rect">
            <a:avLst/>
          </a:prstGeom>
          <a:noFill/>
        </p:spPr>
        <p:txBody>
          <a:bodyPr wrap="square" anchor="ctr" lIns="45720" rIns="45720">
            <a:spAutoFit/>
          </a:bodyPr>
          <a:lstStyle/>
          <a:p>
            <a:pPr algn="l">
              <a:spcAft>
                <a:spcPts val="400"/>
              </a:spcAft>
            </a:pPr>
            <a:r>
              <a:rPr sz="3900" b="1">
                <a:solidFill>
                  <a:srgbClr val="161B26"/>
                </a:solidFill>
                <a:latin typeface="Arial"/>
              </a:rPr>
              <a:t>Performance evaluation</a:t>
            </a:r>
          </a:p>
        </p:txBody>
      </p:sp>
      <p:sp>
        <p:nvSpPr>
          <p:cNvPr id="7" name="TextBox 6"/>
          <p:cNvSpPr txBox="1"/>
          <p:nvPr/>
        </p:nvSpPr>
        <p:spPr>
          <a:xfrm>
            <a:off x="1170432" y="4096512"/>
            <a:ext cx="9875520" cy="731520"/>
          </a:xfrm>
          <a:prstGeom prst="rect">
            <a:avLst/>
          </a:prstGeom>
          <a:noFill/>
        </p:spPr>
        <p:txBody>
          <a:bodyPr wrap="square" anchor="t" lIns="45720" rIns="45720">
            <a:spAutoFit/>
          </a:bodyPr>
          <a:lstStyle/>
          <a:p>
            <a:pPr algn="l">
              <a:spcAft>
                <a:spcPts val="400"/>
              </a:spcAft>
            </a:pPr>
            <a:r>
              <a:rPr sz="1600" b="0">
                <a:solidFill>
                  <a:srgbClr val="5B6372"/>
                </a:solidFill>
                <a:latin typeface="Arial"/>
              </a:rPr>
              <a:t>Monitoring - measurement - compliance evaluation - internal audit - management review</a:t>
            </a:r>
          </a:p>
        </p:txBody>
      </p:sp>
      <p:sp>
        <p:nvSpPr>
          <p:cNvPr id="8" name="TextBox 7"/>
          <p:cNvSpPr txBox="1"/>
          <p:nvPr/>
        </p:nvSpPr>
        <p:spPr>
          <a:xfrm>
            <a:off x="9464040" y="502920"/>
            <a:ext cx="2103120" cy="1234440"/>
          </a:xfrm>
          <a:prstGeom prst="rect">
            <a:avLst/>
          </a:prstGeom>
          <a:noFill/>
        </p:spPr>
        <p:txBody>
          <a:bodyPr wrap="square" anchor="t" lIns="45720" rIns="45720">
            <a:spAutoFit/>
          </a:bodyPr>
          <a:lstStyle/>
          <a:p>
            <a:pPr algn="r">
              <a:spcAft>
                <a:spcPts val="400"/>
              </a:spcAft>
            </a:pPr>
            <a:r>
              <a:rPr sz="6800" b="1">
                <a:solidFill>
                  <a:srgbClr val="E2E8F0"/>
                </a:solidFill>
                <a:latin typeface="Arial"/>
              </a:rPr>
              <a:t>3</a:t>
            </a:r>
          </a:p>
        </p:txBody>
      </p:sp>
      <p:sp>
        <p:nvSpPr>
          <p:cNvPr id="9" name="TextBox 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0" name="TextBox 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1" name="TextBox 1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108</a:t>
            </a:r>
          </a:p>
        </p:txBody>
      </p:sp>
    </p:spTree>
  </p:cSld>
  <p:clrMapOvr>
    <a:masterClrMapping/>
  </p:clrMapOvr>
  <p:transition spd="med" advClick="1">
    <p:push dir="l"/>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9.1.1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9.1.1 Monitoring, measurement, analysis and evaluation: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Use valid data to evaluate environmental performance and EMS effectiveness.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Define what, methods, criteria, timing and evaluation responsibilities.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Maintain calibrated/verified equipment where needed and assess data quality.</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Communicate relevant performance and retain evidence.</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9.1.1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9.1.1 Monitoring, measurement, analysis and evaluation: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KPI definitions and raw data</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Meter/calibration and chain-of-custody records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Trend analysis with decisions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Performance communications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Absolute data hides production change</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Missing data silently interpolated</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Dashboard without decisions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Activity count mistaken for impact reduction</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9.1.2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9.1.2 Evaluation of compliance: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Periodically evaluate whether compliance obligations are met and maintain knowledge of status.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Set frequency based on obligation, risk and change.</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Use competent evaluators and sufficient current evidence.</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Act on noncompliance or insufficient evidence and retain results.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9.1.2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9.1.2 Evaluation of compliance: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Evaluation schedule and completed records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Permit/monitoring evidence</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Status rationale and evaluator</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Actions and re-evaluation</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Legal register mistaken for evaluation</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Audit sample used as the only compliance check</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Unknown marked compliant</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 follow-up after a failed condition</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9.2 Internal audit: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Provide objective information on conformity and effective implementation.</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Plan a risk-informed programme with documented objectives.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Define scope, criteria, methods, responsibilities and impartiality.</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Report results, correct issues and follow up without undue delay.</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9.2 Internal audit: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Audit programme and objectives</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Process-based plan/checklist</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Traceable evidence and findings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Correction/corrective-action follow-up</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Every department audited equally regardless of risk</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Auditor checks own work</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Checklist tick treated as evidence</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Finding prescribes a consultant solution</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9.3 Management review: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Top management evaluates continuing suitability, adequacy, effectiveness and strategic alignment.</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Review context, aspects, obligations, objectives, performance, audits and resources as one story.</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Consider value-chain performance, changing conditions and improvement opportunities.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Make and retain decisions on opportunities, changes and resources.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9.3 Management review: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Decision-ready input pack</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Minutes with results and rationale</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Resource/change approvals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Owners and closure tracking</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Data presentation without decisions</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Only good news shown</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Environmental outcomes disconnected from business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Actions lack owners or resources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 useful environmental indicator has six parts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16865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Purpose</a:t>
            </a:r>
          </a:p>
          <a:p>
            <a:pPr algn="l">
              <a:spcAft>
                <a:spcPts val="300"/>
              </a:spcAft>
            </a:pPr>
            <a:r>
              <a:rPr sz="1220" b="0">
                <a:solidFill>
                  <a:srgbClr val="5B6372"/>
                </a:solidFill>
                <a:latin typeface="Arial"/>
              </a:rPr>
              <a:t>Which decision will it support?</a:t>
            </a:r>
          </a:p>
        </p:txBody>
      </p:sp>
      <p:sp>
        <p:nvSpPr>
          <p:cNvPr id="12" name="Rounded Rectangle 11"/>
          <p:cNvSpPr/>
          <p:nvPr/>
        </p:nvSpPr>
        <p:spPr>
          <a:xfrm>
            <a:off x="6231636"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68652"/>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Boundary</a:t>
            </a:r>
          </a:p>
          <a:p>
            <a:pPr algn="l">
              <a:spcAft>
                <a:spcPts val="300"/>
              </a:spcAft>
            </a:pPr>
            <a:r>
              <a:rPr sz="1220" b="0">
                <a:solidFill>
                  <a:srgbClr val="5B6372"/>
                </a:solidFill>
                <a:latin typeface="Arial"/>
              </a:rPr>
              <a:t>Which site, process, product and period?</a:t>
            </a:r>
          </a:p>
        </p:txBody>
      </p:sp>
      <p:sp>
        <p:nvSpPr>
          <p:cNvPr id="17" name="Rounded Rectangle 16"/>
          <p:cNvSpPr/>
          <p:nvPr/>
        </p:nvSpPr>
        <p:spPr>
          <a:xfrm>
            <a:off x="777240"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4032"/>
            <a:ext cx="82296" cy="13014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68960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Method</a:t>
            </a:r>
          </a:p>
          <a:p>
            <a:pPr algn="l">
              <a:spcAft>
                <a:spcPts val="300"/>
              </a:spcAft>
            </a:pPr>
            <a:r>
              <a:rPr sz="1220" b="0">
                <a:solidFill>
                  <a:srgbClr val="5B6372"/>
                </a:solidFill>
                <a:latin typeface="Arial"/>
              </a:rPr>
              <a:t>How is it collected, normalised and calculated?</a:t>
            </a:r>
          </a:p>
        </p:txBody>
      </p:sp>
      <p:sp>
        <p:nvSpPr>
          <p:cNvPr id="22" name="Rounded Rectangle 21"/>
          <p:cNvSpPr/>
          <p:nvPr/>
        </p:nvSpPr>
        <p:spPr>
          <a:xfrm>
            <a:off x="6231636"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04032"/>
            <a:ext cx="82296" cy="13014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689604"/>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Quality</a:t>
            </a:r>
          </a:p>
          <a:p>
            <a:pPr algn="l">
              <a:spcAft>
                <a:spcPts val="300"/>
              </a:spcAft>
            </a:pPr>
            <a:r>
              <a:rPr sz="1220" b="0">
                <a:solidFill>
                  <a:srgbClr val="5B6372"/>
                </a:solidFill>
                <a:latin typeface="Arial"/>
              </a:rPr>
              <a:t>How are completeness, calibration and anomalies controlled?</a:t>
            </a:r>
          </a:p>
        </p:txBody>
      </p:sp>
      <p:sp>
        <p:nvSpPr>
          <p:cNvPr id="27" name="Rounded Rectangle 26"/>
          <p:cNvSpPr/>
          <p:nvPr/>
        </p:nvSpPr>
        <p:spPr>
          <a:xfrm>
            <a:off x="777240"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4984"/>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521055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737360"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Owner</a:t>
            </a:r>
          </a:p>
          <a:p>
            <a:pPr algn="l">
              <a:spcAft>
                <a:spcPts val="300"/>
              </a:spcAft>
            </a:pPr>
            <a:r>
              <a:rPr sz="1220" b="0">
                <a:solidFill>
                  <a:srgbClr val="5B6372"/>
                </a:solidFill>
                <a:latin typeface="Arial"/>
              </a:rPr>
              <a:t>Who validates and responds?</a:t>
            </a:r>
          </a:p>
        </p:txBody>
      </p:sp>
      <p:sp>
        <p:nvSpPr>
          <p:cNvPr id="32" name="Rounded Rectangle 31"/>
          <p:cNvSpPr/>
          <p:nvPr/>
        </p:nvSpPr>
        <p:spPr>
          <a:xfrm>
            <a:off x="6231636"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24984"/>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10556"/>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191756"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Threshold</a:t>
            </a:r>
          </a:p>
          <a:p>
            <a:pPr algn="l">
              <a:spcAft>
                <a:spcPts val="300"/>
              </a:spcAft>
            </a:pPr>
            <a:r>
              <a:rPr sz="1220" b="0">
                <a:solidFill>
                  <a:srgbClr val="5B6372"/>
                </a:solidFill>
                <a:latin typeface="Arial"/>
              </a:rPr>
              <a:t>When is intervention required?</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MEASUREMENT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Leading and lagging indicators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Leading signals</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Control inspection completion</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Competence demonstration</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Preventive-maintenance adherence</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Supplier-risk action closure</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Lagging results</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Energy and water intensity</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Waste generation/diversion</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Discharge/emission results</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Incidents and complaints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WHAT THE DATA SHOWS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MEP energy intensity - indicative trend</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5257800"/>
            <a:ext cx="8869680" cy="27432"/>
          </a:xfrm>
          <a:prstGeom prst="rect">
            <a:avLst/>
          </a:prstGeom>
          <a:solidFill>
            <a:srgbClr val="5B63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00784"/>
            <a:ext cx="2834640" cy="256032"/>
          </a:xfrm>
          <a:prstGeom prst="rect">
            <a:avLst/>
          </a:prstGeom>
          <a:noFill/>
        </p:spPr>
        <p:txBody>
          <a:bodyPr wrap="square" anchor="t" lIns="45720" rIns="45720">
            <a:spAutoFit/>
          </a:bodyPr>
          <a:lstStyle/>
          <a:p>
            <a:pPr algn="l">
              <a:spcAft>
                <a:spcPts val="400"/>
              </a:spcAft>
            </a:pPr>
            <a:r>
              <a:rPr sz="1050" b="1">
                <a:solidFill>
                  <a:srgbClr val="5B6372"/>
                </a:solidFill>
                <a:latin typeface="Arial"/>
              </a:rPr>
              <a:t>Unit: kWh per tonne | zero baseline</a:t>
            </a:r>
          </a:p>
        </p:txBody>
      </p:sp>
      <p:sp>
        <p:nvSpPr>
          <p:cNvPr id="9" name="Rounded Rectangle 8"/>
          <p:cNvSpPr/>
          <p:nvPr/>
        </p:nvSpPr>
        <p:spPr>
          <a:xfrm>
            <a:off x="1097280" y="2011680"/>
            <a:ext cx="1143000" cy="3063240"/>
          </a:xfrm>
          <a:prstGeom prst="round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139696"/>
            <a:ext cx="1417320" cy="320040"/>
          </a:xfrm>
          <a:prstGeom prst="rect">
            <a:avLst/>
          </a:prstGeom>
          <a:noFill/>
        </p:spPr>
        <p:txBody>
          <a:bodyPr wrap="square" anchor="t" lIns="45720" rIns="45720">
            <a:spAutoFit/>
          </a:bodyPr>
          <a:lstStyle/>
          <a:p>
            <a:pPr algn="ctr">
              <a:spcAft>
                <a:spcPts val="400"/>
              </a:spcAft>
            </a:pPr>
            <a:r>
              <a:rPr sz="1350" b="1">
                <a:solidFill>
                  <a:srgbClr val="FFFFFF"/>
                </a:solidFill>
                <a:latin typeface="Arial"/>
              </a:rPr>
              <a:t>88 kWh/t</a:t>
            </a:r>
          </a:p>
        </p:txBody>
      </p:sp>
      <p:sp>
        <p:nvSpPr>
          <p:cNvPr id="11" name="TextBox 10"/>
          <p:cNvSpPr txBox="1"/>
          <p:nvPr/>
        </p:nvSpPr>
        <p:spPr>
          <a:xfrm>
            <a:off x="960120" y="5394960"/>
            <a:ext cx="1417320" cy="502920"/>
          </a:xfrm>
          <a:prstGeom prst="rect">
            <a:avLst/>
          </a:prstGeom>
          <a:noFill/>
        </p:spPr>
        <p:txBody>
          <a:bodyPr wrap="square" anchor="t" lIns="45720" rIns="45720">
            <a:spAutoFit/>
          </a:bodyPr>
          <a:lstStyle/>
          <a:p>
            <a:pPr algn="ctr">
              <a:spcAft>
                <a:spcPts val="400"/>
              </a:spcAft>
            </a:pPr>
            <a:r>
              <a:rPr sz="1150" b="1">
                <a:solidFill>
                  <a:srgbClr val="161B26"/>
                </a:solidFill>
                <a:latin typeface="Arial"/>
              </a:rPr>
              <a:t>Apr</a:t>
            </a:r>
          </a:p>
        </p:txBody>
      </p:sp>
      <p:sp>
        <p:nvSpPr>
          <p:cNvPr id="12" name="Rounded Rectangle 11"/>
          <p:cNvSpPr/>
          <p:nvPr/>
        </p:nvSpPr>
        <p:spPr>
          <a:xfrm>
            <a:off x="2743200" y="2081300"/>
            <a:ext cx="1143000" cy="2993620"/>
          </a:xfrm>
          <a:prstGeom prst="round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2209316"/>
            <a:ext cx="1417320" cy="320040"/>
          </a:xfrm>
          <a:prstGeom prst="rect">
            <a:avLst/>
          </a:prstGeom>
          <a:noFill/>
        </p:spPr>
        <p:txBody>
          <a:bodyPr wrap="square" anchor="t" lIns="45720" rIns="45720">
            <a:spAutoFit/>
          </a:bodyPr>
          <a:lstStyle/>
          <a:p>
            <a:pPr algn="ctr">
              <a:spcAft>
                <a:spcPts val="400"/>
              </a:spcAft>
            </a:pPr>
            <a:r>
              <a:rPr sz="1350" b="1">
                <a:solidFill>
                  <a:srgbClr val="FFFFFF"/>
                </a:solidFill>
                <a:latin typeface="Arial"/>
              </a:rPr>
              <a:t>86 kWh/t</a:t>
            </a:r>
          </a:p>
        </p:txBody>
      </p:sp>
      <p:sp>
        <p:nvSpPr>
          <p:cNvPr id="14" name="TextBox 13"/>
          <p:cNvSpPr txBox="1"/>
          <p:nvPr/>
        </p:nvSpPr>
        <p:spPr>
          <a:xfrm>
            <a:off x="2606040" y="5394960"/>
            <a:ext cx="1417320" cy="502920"/>
          </a:xfrm>
          <a:prstGeom prst="rect">
            <a:avLst/>
          </a:prstGeom>
          <a:noFill/>
        </p:spPr>
        <p:txBody>
          <a:bodyPr wrap="square" anchor="t" lIns="45720" rIns="45720">
            <a:spAutoFit/>
          </a:bodyPr>
          <a:lstStyle/>
          <a:p>
            <a:pPr algn="ctr">
              <a:spcAft>
                <a:spcPts val="400"/>
              </a:spcAft>
            </a:pPr>
            <a:r>
              <a:rPr sz="1150" b="1">
                <a:solidFill>
                  <a:srgbClr val="161B26"/>
                </a:solidFill>
                <a:latin typeface="Arial"/>
              </a:rPr>
              <a:t>May</a:t>
            </a:r>
          </a:p>
        </p:txBody>
      </p:sp>
      <p:sp>
        <p:nvSpPr>
          <p:cNvPr id="15" name="Rounded Rectangle 14"/>
          <p:cNvSpPr/>
          <p:nvPr/>
        </p:nvSpPr>
        <p:spPr>
          <a:xfrm>
            <a:off x="4389120" y="2185728"/>
            <a:ext cx="1143000" cy="2889192"/>
          </a:xfrm>
          <a:prstGeom prst="round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60" y="2313744"/>
            <a:ext cx="1417320" cy="320040"/>
          </a:xfrm>
          <a:prstGeom prst="rect">
            <a:avLst/>
          </a:prstGeom>
          <a:noFill/>
        </p:spPr>
        <p:txBody>
          <a:bodyPr wrap="square" anchor="t" lIns="45720" rIns="45720">
            <a:spAutoFit/>
          </a:bodyPr>
          <a:lstStyle/>
          <a:p>
            <a:pPr algn="ctr">
              <a:spcAft>
                <a:spcPts val="400"/>
              </a:spcAft>
            </a:pPr>
            <a:r>
              <a:rPr sz="1350" b="1">
                <a:solidFill>
                  <a:srgbClr val="FFFFFF"/>
                </a:solidFill>
                <a:latin typeface="Arial"/>
              </a:rPr>
              <a:t>83 kWh/t</a:t>
            </a:r>
          </a:p>
        </p:txBody>
      </p:sp>
      <p:sp>
        <p:nvSpPr>
          <p:cNvPr id="17" name="TextBox 16"/>
          <p:cNvSpPr txBox="1"/>
          <p:nvPr/>
        </p:nvSpPr>
        <p:spPr>
          <a:xfrm>
            <a:off x="4251960" y="5394960"/>
            <a:ext cx="1417320" cy="502920"/>
          </a:xfrm>
          <a:prstGeom prst="rect">
            <a:avLst/>
          </a:prstGeom>
          <a:noFill/>
        </p:spPr>
        <p:txBody>
          <a:bodyPr wrap="square" anchor="t" lIns="45720" rIns="45720">
            <a:spAutoFit/>
          </a:bodyPr>
          <a:lstStyle/>
          <a:p>
            <a:pPr algn="ctr">
              <a:spcAft>
                <a:spcPts val="400"/>
              </a:spcAft>
            </a:pPr>
            <a:r>
              <a:rPr sz="1150" b="1">
                <a:solidFill>
                  <a:srgbClr val="161B26"/>
                </a:solidFill>
                <a:latin typeface="Arial"/>
              </a:rPr>
              <a:t>Jun</a:t>
            </a:r>
          </a:p>
        </p:txBody>
      </p:sp>
      <p:sp>
        <p:nvSpPr>
          <p:cNvPr id="18" name="Rounded Rectangle 17"/>
          <p:cNvSpPr/>
          <p:nvPr/>
        </p:nvSpPr>
        <p:spPr>
          <a:xfrm>
            <a:off x="6035040" y="2220538"/>
            <a:ext cx="1143000" cy="2854382"/>
          </a:xfrm>
          <a:prstGeom prst="round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97880" y="2348554"/>
            <a:ext cx="1417320" cy="320040"/>
          </a:xfrm>
          <a:prstGeom prst="rect">
            <a:avLst/>
          </a:prstGeom>
          <a:noFill/>
        </p:spPr>
        <p:txBody>
          <a:bodyPr wrap="square" anchor="t" lIns="45720" rIns="45720">
            <a:spAutoFit/>
          </a:bodyPr>
          <a:lstStyle/>
          <a:p>
            <a:pPr algn="ctr">
              <a:spcAft>
                <a:spcPts val="400"/>
              </a:spcAft>
            </a:pPr>
            <a:r>
              <a:rPr sz="1350" b="1">
                <a:solidFill>
                  <a:srgbClr val="FFFFFF"/>
                </a:solidFill>
                <a:latin typeface="Arial"/>
              </a:rPr>
              <a:t>82 kWh/t</a:t>
            </a:r>
          </a:p>
        </p:txBody>
      </p:sp>
      <p:sp>
        <p:nvSpPr>
          <p:cNvPr id="20" name="TextBox 19"/>
          <p:cNvSpPr txBox="1"/>
          <p:nvPr/>
        </p:nvSpPr>
        <p:spPr>
          <a:xfrm>
            <a:off x="5897880" y="5394960"/>
            <a:ext cx="1417320" cy="502920"/>
          </a:xfrm>
          <a:prstGeom prst="rect">
            <a:avLst/>
          </a:prstGeom>
          <a:noFill/>
        </p:spPr>
        <p:txBody>
          <a:bodyPr wrap="square" anchor="t" lIns="45720" rIns="45720">
            <a:spAutoFit/>
          </a:bodyPr>
          <a:lstStyle/>
          <a:p>
            <a:pPr algn="ctr">
              <a:spcAft>
                <a:spcPts val="400"/>
              </a:spcAft>
            </a:pPr>
            <a:r>
              <a:rPr sz="1150" b="1">
                <a:solidFill>
                  <a:srgbClr val="161B26"/>
                </a:solidFill>
                <a:latin typeface="Arial"/>
              </a:rPr>
              <a:t>Jul</a:t>
            </a:r>
          </a:p>
        </p:txBody>
      </p:sp>
      <p:sp>
        <p:nvSpPr>
          <p:cNvPr id="21" name="Rounded Rectangle 20"/>
          <p:cNvSpPr/>
          <p:nvPr/>
        </p:nvSpPr>
        <p:spPr>
          <a:xfrm>
            <a:off x="7680960" y="2150919"/>
            <a:ext cx="1143000" cy="2924001"/>
          </a:xfrm>
          <a:prstGeom prst="round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43800" y="2278935"/>
            <a:ext cx="1417320" cy="320040"/>
          </a:xfrm>
          <a:prstGeom prst="rect">
            <a:avLst/>
          </a:prstGeom>
          <a:noFill/>
        </p:spPr>
        <p:txBody>
          <a:bodyPr wrap="square" anchor="t" lIns="45720" rIns="45720">
            <a:spAutoFit/>
          </a:bodyPr>
          <a:lstStyle/>
          <a:p>
            <a:pPr algn="ctr">
              <a:spcAft>
                <a:spcPts val="400"/>
              </a:spcAft>
            </a:pPr>
            <a:r>
              <a:rPr sz="1350" b="1">
                <a:solidFill>
                  <a:srgbClr val="FFFFFF"/>
                </a:solidFill>
                <a:latin typeface="Arial"/>
              </a:rPr>
              <a:t>84 kWh/t</a:t>
            </a:r>
          </a:p>
        </p:txBody>
      </p:sp>
      <p:sp>
        <p:nvSpPr>
          <p:cNvPr id="23" name="TextBox 22"/>
          <p:cNvSpPr txBox="1"/>
          <p:nvPr/>
        </p:nvSpPr>
        <p:spPr>
          <a:xfrm>
            <a:off x="7543800" y="5394960"/>
            <a:ext cx="1417320" cy="502920"/>
          </a:xfrm>
          <a:prstGeom prst="rect">
            <a:avLst/>
          </a:prstGeom>
          <a:noFill/>
        </p:spPr>
        <p:txBody>
          <a:bodyPr wrap="square" anchor="t" lIns="45720" rIns="45720">
            <a:spAutoFit/>
          </a:bodyPr>
          <a:lstStyle/>
          <a:p>
            <a:pPr algn="ctr">
              <a:spcAft>
                <a:spcPts val="400"/>
              </a:spcAft>
            </a:pPr>
            <a:r>
              <a:rPr sz="1150" b="1">
                <a:solidFill>
                  <a:srgbClr val="161B26"/>
                </a:solidFill>
                <a:latin typeface="Arial"/>
              </a:rPr>
              <a:t>Aug</a:t>
            </a:r>
          </a:p>
        </p:txBody>
      </p:sp>
      <p:sp>
        <p:nvSpPr>
          <p:cNvPr id="24" name="Rectangle 23"/>
          <p:cNvSpPr/>
          <p:nvPr/>
        </p:nvSpPr>
        <p:spPr>
          <a:xfrm>
            <a:off x="896112" y="2116108"/>
            <a:ext cx="8641080" cy="22860"/>
          </a:xfrm>
          <a:prstGeom prst="rect">
            <a:avLst/>
          </a:prstGeom>
          <a:solidFill>
            <a:srgbClr val="C241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43800" y="1814356"/>
            <a:ext cx="1828800" cy="256032"/>
          </a:xfrm>
          <a:prstGeom prst="rect">
            <a:avLst/>
          </a:prstGeom>
          <a:noFill/>
        </p:spPr>
        <p:txBody>
          <a:bodyPr wrap="square" anchor="t" lIns="45720" rIns="45720">
            <a:spAutoFit/>
          </a:bodyPr>
          <a:lstStyle/>
          <a:p>
            <a:pPr algn="r">
              <a:spcAft>
                <a:spcPts val="400"/>
              </a:spcAft>
            </a:pPr>
            <a:r>
              <a:rPr sz="1050" b="1">
                <a:solidFill>
                  <a:srgbClr val="C2413B"/>
                </a:solidFill>
                <a:latin typeface="Arial"/>
              </a:rPr>
              <a:t>Target ≤ 85 kWh/t</a:t>
            </a:r>
          </a:p>
        </p:txBody>
      </p:sp>
      <p:sp>
        <p:nvSpPr>
          <p:cNvPr id="26" name="Rounded Rectangle 25"/>
          <p:cNvSpPr/>
          <p:nvPr/>
        </p:nvSpPr>
        <p:spPr>
          <a:xfrm>
            <a:off x="9464040" y="2148840"/>
            <a:ext cx="1828800" cy="256032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0" y="2395728"/>
            <a:ext cx="1371600" cy="320040"/>
          </a:xfrm>
          <a:prstGeom prst="rect">
            <a:avLst/>
          </a:prstGeom>
          <a:noFill/>
        </p:spPr>
        <p:txBody>
          <a:bodyPr wrap="square" anchor="t" lIns="45720" rIns="45720">
            <a:spAutoFit/>
          </a:bodyPr>
          <a:lstStyle/>
          <a:p>
            <a:pPr algn="ctr">
              <a:spcAft>
                <a:spcPts val="400"/>
              </a:spcAft>
            </a:pPr>
            <a:r>
              <a:rPr sz="1200" b="1">
                <a:solidFill>
                  <a:srgbClr val="16854A"/>
                </a:solidFill>
                <a:latin typeface="Arial"/>
              </a:rPr>
              <a:t>READ IT</a:t>
            </a:r>
          </a:p>
        </p:txBody>
      </p:sp>
      <p:sp>
        <p:nvSpPr>
          <p:cNvPr id="28" name="TextBox 27"/>
          <p:cNvSpPr txBox="1"/>
          <p:nvPr/>
        </p:nvSpPr>
        <p:spPr>
          <a:xfrm>
            <a:off x="9646920" y="2889504"/>
            <a:ext cx="1463040" cy="1417320"/>
          </a:xfrm>
          <a:prstGeom prst="rect">
            <a:avLst/>
          </a:prstGeom>
          <a:noFill/>
        </p:spPr>
        <p:txBody>
          <a:bodyPr wrap="square" anchor="ctr" lIns="45720" rIns="45720">
            <a:spAutoFit/>
          </a:bodyPr>
          <a:lstStyle/>
          <a:p>
            <a:pPr algn="ctr">
              <a:spcAft>
                <a:spcPts val="400"/>
              </a:spcAft>
            </a:pPr>
            <a:r>
              <a:rPr sz="1250" b="0">
                <a:solidFill>
                  <a:srgbClr val="161B26"/>
                </a:solidFill>
                <a:latin typeface="Arial"/>
              </a:rPr>
              <a:t>A chart highlights patterns. A decision still needs definitions, context, valid data and a response threshold.</a:t>
            </a:r>
          </a:p>
        </p:txBody>
      </p:sp>
      <p:sp>
        <p:nvSpPr>
          <p:cNvPr id="29" name="TextBox 2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0" name="TextBox 2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1" name="TextBox 3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THREE DIFFERENT CHECKS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Monitoring, compliance evaluation and audit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Performance and obligations</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Monitoring: collect operational/performance evidence</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Compliance evaluation: decide status against obligations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Both use defined competence, method and records</a:t>
            </a:r>
          </a:p>
        </p:txBody>
      </p:sp>
      <p:sp>
        <p:nvSpPr>
          <p:cNvPr id="19" name="Rounded Rectangle 18"/>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System assurance</a:t>
            </a:r>
          </a:p>
        </p:txBody>
      </p:sp>
      <p:sp>
        <p:nvSpPr>
          <p:cNvPr id="22" name="Oval 21"/>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4" name="TextBox 23"/>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Internal audit: evaluate EMS conformity and effectiveness</a:t>
            </a:r>
          </a:p>
        </p:txBody>
      </p:sp>
      <p:sp>
        <p:nvSpPr>
          <p:cNvPr id="25" name="Oval 24"/>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27" name="TextBox 26"/>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Certification audit: independent third-party assessment</a:t>
            </a:r>
          </a:p>
        </p:txBody>
      </p:sp>
      <p:sp>
        <p:nvSpPr>
          <p:cNvPr id="28" name="Oval 27"/>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0" name="TextBox 29"/>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None should claim legal compliance without sufficient evidence</a:t>
            </a:r>
          </a:p>
        </p:txBody>
      </p:sp>
      <p:sp>
        <p:nvSpPr>
          <p:cNvPr id="31" name="TextBox 3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2" name="TextBox 3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3" name="TextBox 3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Internal audit trail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Objective, scope and criteria</a:t>
            </a:r>
          </a:p>
        </p:txBody>
      </p:sp>
      <p:cxnSp>
        <p:nvCxnSpPr>
          <p:cNvPr id="12" name="Connector 11"/>
          <p:cNvCxnSpPr/>
          <p:nvPr/>
        </p:nvCxnSpPr>
        <p:spPr>
          <a:xfrm>
            <a:off x="2730398" y="3675887"/>
            <a:ext cx="201168" cy="0"/>
          </a:xfrm>
          <a:prstGeom prst="line">
            <a:avLst/>
          </a:prstGeom>
          <a:ln w="2794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Risk-based questions and sample</a:t>
            </a:r>
          </a:p>
        </p:txBody>
      </p:sp>
      <p:cxnSp>
        <p:nvCxnSpPr>
          <p:cNvPr id="18" name="Connector 17"/>
          <p:cNvCxnSpPr/>
          <p:nvPr/>
        </p:nvCxnSpPr>
        <p:spPr>
          <a:xfrm>
            <a:off x="4912156" y="3675887"/>
            <a:ext cx="201168" cy="0"/>
          </a:xfrm>
          <a:prstGeom prst="line">
            <a:avLst/>
          </a:prstGeom>
          <a:ln w="2794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Trace objective evidence</a:t>
            </a:r>
          </a:p>
        </p:txBody>
      </p:sp>
      <p:cxnSp>
        <p:nvCxnSpPr>
          <p:cNvPr id="24" name="Connector 23"/>
          <p:cNvCxnSpPr/>
          <p:nvPr/>
        </p:nvCxnSpPr>
        <p:spPr>
          <a:xfrm>
            <a:off x="7093914" y="3675887"/>
            <a:ext cx="201168" cy="0"/>
          </a:xfrm>
          <a:prstGeom prst="line">
            <a:avLst/>
          </a:prstGeom>
          <a:ln w="2794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Evaluate and report findings</a:t>
            </a:r>
          </a:p>
        </p:txBody>
      </p:sp>
      <p:cxnSp>
        <p:nvCxnSpPr>
          <p:cNvPr id="30" name="Connector 29"/>
          <p:cNvCxnSpPr/>
          <p:nvPr/>
        </p:nvCxnSpPr>
        <p:spPr>
          <a:xfrm>
            <a:off x="9275672" y="3675887"/>
            <a:ext cx="201168" cy="0"/>
          </a:xfrm>
          <a:prstGeom prst="line">
            <a:avLst/>
          </a:prstGeom>
          <a:ln w="2794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Correct, act and follow up</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OBJECTIVE EVIDENCE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Audit evidence triangulation</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1012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80"/>
            <a:ext cx="2880360" cy="603504"/>
          </a:xfrm>
          <a:prstGeom prst="rect">
            <a:avLst/>
          </a:prstGeom>
          <a:noFill/>
        </p:spPr>
        <p:txBody>
          <a:bodyPr wrap="square" anchor="ctr" lIns="45720" rIns="45720">
            <a:spAutoFit/>
          </a:bodyPr>
          <a:lstStyle/>
          <a:p>
            <a:pPr algn="l">
              <a:spcAft>
                <a:spcPts val="400"/>
              </a:spcAft>
            </a:pPr>
            <a:r>
              <a:rPr sz="1800" b="1">
                <a:solidFill>
                  <a:srgbClr val="1F6FEB"/>
                </a:solidFill>
                <a:latin typeface="Arial"/>
              </a:rPr>
              <a:t>Documents</a:t>
            </a:r>
          </a:p>
        </p:txBody>
      </p:sp>
      <p:sp>
        <p:nvSpPr>
          <p:cNvPr id="10" name="Oval 9"/>
          <p:cNvSpPr/>
          <p:nvPr/>
        </p:nvSpPr>
        <p:spPr>
          <a:xfrm>
            <a:off x="1005840" y="2788920"/>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What should happen</a:t>
            </a:r>
          </a:p>
        </p:txBody>
      </p:sp>
      <p:sp>
        <p:nvSpPr>
          <p:cNvPr id="12" name="Oval 11"/>
          <p:cNvSpPr/>
          <p:nvPr/>
        </p:nvSpPr>
        <p:spPr>
          <a:xfrm>
            <a:off x="1005840" y="3511296"/>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Current approved criteria</a:t>
            </a:r>
          </a:p>
        </p:txBody>
      </p:sp>
      <p:sp>
        <p:nvSpPr>
          <p:cNvPr id="14" name="Oval 13"/>
          <p:cNvSpPr/>
          <p:nvPr/>
        </p:nvSpPr>
        <p:spPr>
          <a:xfrm>
            <a:off x="1005840" y="4233672"/>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Required records</a:t>
            </a:r>
          </a:p>
        </p:txBody>
      </p:sp>
      <p:sp>
        <p:nvSpPr>
          <p:cNvPr id="16" name="Rounded Rectangle 15"/>
          <p:cNvSpPr/>
          <p:nvPr/>
        </p:nvSpPr>
        <p:spPr>
          <a:xfrm>
            <a:off x="4553712"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3712" y="1783080"/>
            <a:ext cx="3310128"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011680"/>
            <a:ext cx="2880360" cy="603504"/>
          </a:xfrm>
          <a:prstGeom prst="rect">
            <a:avLst/>
          </a:prstGeom>
          <a:noFill/>
        </p:spPr>
        <p:txBody>
          <a:bodyPr wrap="square" anchor="ctr" lIns="45720" rIns="45720">
            <a:spAutoFit/>
          </a:bodyPr>
          <a:lstStyle/>
          <a:p>
            <a:pPr algn="l">
              <a:spcAft>
                <a:spcPts val="400"/>
              </a:spcAft>
            </a:pPr>
            <a:r>
              <a:rPr sz="1800" b="1">
                <a:solidFill>
                  <a:srgbClr val="0F9D8A"/>
                </a:solidFill>
                <a:latin typeface="Arial"/>
              </a:rPr>
              <a:t>Interviews</a:t>
            </a:r>
          </a:p>
        </p:txBody>
      </p:sp>
      <p:sp>
        <p:nvSpPr>
          <p:cNvPr id="19" name="Oval 18"/>
          <p:cNvSpPr/>
          <p:nvPr/>
        </p:nvSpPr>
        <p:spPr>
          <a:xfrm>
            <a:off x="4782312" y="2788920"/>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2352"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What people understand</a:t>
            </a:r>
          </a:p>
        </p:txBody>
      </p:sp>
      <p:sp>
        <p:nvSpPr>
          <p:cNvPr id="21" name="Oval 20"/>
          <p:cNvSpPr/>
          <p:nvPr/>
        </p:nvSpPr>
        <p:spPr>
          <a:xfrm>
            <a:off x="4782312" y="3511296"/>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02352"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How decisions are made</a:t>
            </a:r>
          </a:p>
        </p:txBody>
      </p:sp>
      <p:sp>
        <p:nvSpPr>
          <p:cNvPr id="23" name="Oval 22"/>
          <p:cNvSpPr/>
          <p:nvPr/>
        </p:nvSpPr>
        <p:spPr>
          <a:xfrm>
            <a:off x="4782312" y="4233672"/>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2352"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Where variation occurs</a:t>
            </a:r>
          </a:p>
        </p:txBody>
      </p:sp>
      <p:sp>
        <p:nvSpPr>
          <p:cNvPr id="25" name="Rounded Rectangle 24"/>
          <p:cNvSpPr/>
          <p:nvPr/>
        </p:nvSpPr>
        <p:spPr>
          <a:xfrm>
            <a:off x="8330183"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30183" y="1783080"/>
            <a:ext cx="331012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39" y="2011680"/>
            <a:ext cx="2880360" cy="603504"/>
          </a:xfrm>
          <a:prstGeom prst="rect">
            <a:avLst/>
          </a:prstGeom>
          <a:noFill/>
        </p:spPr>
        <p:txBody>
          <a:bodyPr wrap="square" anchor="ctr" lIns="45720" rIns="45720">
            <a:spAutoFit/>
          </a:bodyPr>
          <a:lstStyle/>
          <a:p>
            <a:pPr algn="l">
              <a:spcAft>
                <a:spcPts val="400"/>
              </a:spcAft>
            </a:pPr>
            <a:r>
              <a:rPr sz="1800" b="1">
                <a:solidFill>
                  <a:srgbClr val="7C3AED"/>
                </a:solidFill>
                <a:latin typeface="Arial"/>
              </a:rPr>
              <a:t>Observation and records</a:t>
            </a:r>
          </a:p>
        </p:txBody>
      </p:sp>
      <p:sp>
        <p:nvSpPr>
          <p:cNvPr id="28" name="Oval 27"/>
          <p:cNvSpPr/>
          <p:nvPr/>
        </p:nvSpPr>
        <p:spPr>
          <a:xfrm>
            <a:off x="8558783" y="27889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78823"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What actually happened</a:t>
            </a:r>
          </a:p>
        </p:txBody>
      </p:sp>
      <p:sp>
        <p:nvSpPr>
          <p:cNvPr id="30" name="Oval 29"/>
          <p:cNvSpPr/>
          <p:nvPr/>
        </p:nvSpPr>
        <p:spPr>
          <a:xfrm>
            <a:off x="8558783" y="35112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3"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Traceable samples</a:t>
            </a:r>
          </a:p>
        </p:txBody>
      </p:sp>
      <p:sp>
        <p:nvSpPr>
          <p:cNvPr id="32" name="Oval 31"/>
          <p:cNvSpPr/>
          <p:nvPr/>
        </p:nvSpPr>
        <p:spPr>
          <a:xfrm>
            <a:off x="8558783" y="4233672"/>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78823"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Results and effectiveness</a:t>
            </a:r>
          </a:p>
        </p:txBody>
      </p:sp>
      <p:sp>
        <p:nvSpPr>
          <p:cNvPr id="34" name="TextBox 3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5" name="TextBox 3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AUDIT FINDINGS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Write a defensible nonconformity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Required structure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Criterion: the applicable requirement</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Evidence: specific, traceable facts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Gap: how evidence fails the criterion</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Scope: affected sample/process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Avoid</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Vague: environmental controls are poor</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Opinion: staff seemed careless</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Prescription: buy this software</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Overreach: one sample proves total failure</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9.3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Management review converts evidence into decisions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Context and prior actions</a:t>
            </a:r>
          </a:p>
        </p:txBody>
      </p:sp>
      <p:cxnSp>
        <p:nvCxnSpPr>
          <p:cNvPr id="12" name="Connector 11"/>
          <p:cNvCxnSpPr/>
          <p:nvPr/>
        </p:nvCxnSpPr>
        <p:spPr>
          <a:xfrm>
            <a:off x="2730398" y="3675887"/>
            <a:ext cx="201168" cy="0"/>
          </a:xfrm>
          <a:prstGeom prst="line">
            <a:avLst/>
          </a:prstGeom>
          <a:ln w="2794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Performance and obligations</a:t>
            </a:r>
          </a:p>
        </p:txBody>
      </p:sp>
      <p:cxnSp>
        <p:nvCxnSpPr>
          <p:cNvPr id="18" name="Connector 17"/>
          <p:cNvCxnSpPr/>
          <p:nvPr/>
        </p:nvCxnSpPr>
        <p:spPr>
          <a:xfrm>
            <a:off x="4912156" y="3675887"/>
            <a:ext cx="201168" cy="0"/>
          </a:xfrm>
          <a:prstGeom prst="line">
            <a:avLst/>
          </a:prstGeom>
          <a:ln w="2794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Audit, incidents and value chain</a:t>
            </a:r>
          </a:p>
        </p:txBody>
      </p:sp>
      <p:cxnSp>
        <p:nvCxnSpPr>
          <p:cNvPr id="24" name="Connector 23"/>
          <p:cNvCxnSpPr/>
          <p:nvPr/>
        </p:nvCxnSpPr>
        <p:spPr>
          <a:xfrm>
            <a:off x="7093914" y="3675887"/>
            <a:ext cx="201168" cy="0"/>
          </a:xfrm>
          <a:prstGeom prst="line">
            <a:avLst/>
          </a:prstGeom>
          <a:ln w="2794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Risks, resources and opportunities</a:t>
            </a:r>
          </a:p>
        </p:txBody>
      </p:sp>
      <p:cxnSp>
        <p:nvCxnSpPr>
          <p:cNvPr id="30" name="Connector 29"/>
          <p:cNvCxnSpPr/>
          <p:nvPr/>
        </p:nvCxnSpPr>
        <p:spPr>
          <a:xfrm>
            <a:off x="9275672" y="3675887"/>
            <a:ext cx="201168" cy="0"/>
          </a:xfrm>
          <a:prstGeom prst="line">
            <a:avLst/>
          </a:prstGeom>
          <a:ln w="2794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Results, decisions and follow-up</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7  |  A5, A6</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Evaluate Performance and Conduct an Internal Audit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47088"/>
            <a:ext cx="1508760" cy="457200"/>
          </a:xfrm>
          <a:prstGeom prst="round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74519"/>
            <a:ext cx="1508760" cy="393192"/>
          </a:xfrm>
          <a:prstGeom prst="rect">
            <a:avLst/>
          </a:prstGeom>
          <a:noFill/>
        </p:spPr>
        <p:txBody>
          <a:bodyPr wrap="square" anchor="ctr" lIns="45720" rIns="45720">
            <a:spAutoFit/>
          </a:bodyPr>
          <a:lstStyle/>
          <a:p>
            <a:pPr algn="ctr">
              <a:spcAft>
                <a:spcPts val="400"/>
              </a:spcAft>
            </a:pPr>
            <a:r>
              <a:rPr sz="1400" b="1">
                <a:solidFill>
                  <a:srgbClr val="FFFFFF"/>
                </a:solidFill>
                <a:latin typeface="Arial"/>
              </a:rPr>
              <a:t>ACTIVITY 7</a:t>
            </a:r>
          </a:p>
        </p:txBody>
      </p:sp>
      <p:sp>
        <p:nvSpPr>
          <p:cNvPr id="9" name="TextBox 8"/>
          <p:cNvSpPr txBox="1"/>
          <p:nvPr/>
        </p:nvSpPr>
        <p:spPr>
          <a:xfrm>
            <a:off x="777240" y="2542032"/>
            <a:ext cx="10652760" cy="1124712"/>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Analyse MEP's six-month KPI data, sample control records and conduct a process-based audit before management review.</a:t>
            </a:r>
          </a:p>
        </p:txBody>
      </p:sp>
      <p:sp>
        <p:nvSpPr>
          <p:cNvPr id="10" name="Rounded Rectangle 9"/>
          <p:cNvSpPr/>
          <p:nvPr/>
        </p:nvSpPr>
        <p:spPr>
          <a:xfrm>
            <a:off x="777240" y="3886200"/>
            <a:ext cx="10652760" cy="195681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133087"/>
            <a:ext cx="9966960" cy="310896"/>
          </a:xfrm>
          <a:prstGeom prst="rect">
            <a:avLst/>
          </a:prstGeom>
          <a:noFill/>
        </p:spPr>
        <p:txBody>
          <a:bodyPr wrap="square" anchor="t" lIns="45720" rIns="45720">
            <a:spAutoFit/>
          </a:bodyPr>
          <a:lstStyle/>
          <a:p>
            <a:pPr algn="l">
              <a:spcAft>
                <a:spcPts val="400"/>
              </a:spcAft>
            </a:pPr>
            <a:r>
              <a:rPr sz="1150" b="1">
                <a:solidFill>
                  <a:srgbClr val="1F6FEB"/>
                </a:solidFill>
                <a:latin typeface="Arial"/>
              </a:rPr>
              <a:t>EXPECTED OUTPUT</a:t>
            </a:r>
          </a:p>
        </p:txBody>
      </p:sp>
      <p:sp>
        <p:nvSpPr>
          <p:cNvPr id="12" name="TextBox 11"/>
          <p:cNvSpPr txBox="1"/>
          <p:nvPr/>
        </p:nvSpPr>
        <p:spPr>
          <a:xfrm>
            <a:off x="1024128" y="4480560"/>
            <a:ext cx="9966960" cy="621792"/>
          </a:xfrm>
          <a:prstGeom prst="rect">
            <a:avLst/>
          </a:prstGeom>
          <a:noFill/>
        </p:spPr>
        <p:txBody>
          <a:bodyPr wrap="square" anchor="ctr" lIns="45720" rIns="45720">
            <a:spAutoFit/>
          </a:bodyPr>
          <a:lstStyle/>
          <a:p>
            <a:pPr algn="l">
              <a:spcAft>
                <a:spcPts val="400"/>
              </a:spcAft>
            </a:pPr>
            <a:r>
              <a:rPr sz="1700" b="1">
                <a:solidFill>
                  <a:srgbClr val="161B26"/>
                </a:solidFill>
                <a:latin typeface="Arial"/>
              </a:rPr>
              <a:t>A KPI interpretation, compliance-evaluation record, audit plan, evidence log and defensible findings.</a:t>
            </a:r>
          </a:p>
        </p:txBody>
      </p:sp>
      <p:sp>
        <p:nvSpPr>
          <p:cNvPr id="13" name="TextBox 12"/>
          <p:cNvSpPr txBox="1"/>
          <p:nvPr/>
        </p:nvSpPr>
        <p:spPr>
          <a:xfrm>
            <a:off x="1024128" y="5230368"/>
            <a:ext cx="9966960" cy="411480"/>
          </a:xfrm>
          <a:prstGeom prst="rect">
            <a:avLst/>
          </a:prstGeom>
          <a:noFill/>
        </p:spPr>
        <p:txBody>
          <a:bodyPr wrap="square" anchor="t" lIns="45720" rIns="45720">
            <a:spAutoFit/>
          </a:bodyPr>
          <a:lstStyle/>
          <a:p>
            <a:pPr algn="l">
              <a:spcAft>
                <a:spcPts val="400"/>
              </a:spcAft>
            </a:pPr>
            <a:r>
              <a:rPr sz="1230" b="0">
                <a:solidFill>
                  <a:srgbClr val="5B6372"/>
                </a:solidFill>
                <a:latin typeface="Arial"/>
              </a:rPr>
              <a:t>Resources: Performance and Audit Workbook (Excel), audit role-play evidence pack and checklist PDF</a:t>
            </a:r>
          </a:p>
        </p:txBody>
      </p:sp>
      <p:sp>
        <p:nvSpPr>
          <p:cNvPr id="14" name="TextBox 1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5" name="TextBox 1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6" name="TextBox 1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7  |  DECISION PROMPT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Evaluate Performance and Conduct an Internal Audit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12848"/>
            <a:ext cx="1325880" cy="13258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12848"/>
            <a:ext cx="1325880" cy="1325880"/>
          </a:xfrm>
          <a:prstGeom prst="rect">
            <a:avLst/>
          </a:prstGeom>
          <a:noFill/>
        </p:spPr>
        <p:txBody>
          <a:bodyPr wrap="square" anchor="ctr" lIns="45720" rIns="45720">
            <a:spAutoFit/>
          </a:bodyPr>
          <a:lstStyle/>
          <a:p>
            <a:pPr algn="ctr">
              <a:spcAft>
                <a:spcPts val="400"/>
              </a:spcAft>
            </a:pPr>
            <a:r>
              <a:rPr sz="4200" b="1">
                <a:solidFill>
                  <a:srgbClr val="FFFFFF"/>
                </a:solidFill>
                <a:latin typeface="Arial"/>
              </a:rPr>
              <a:t>?</a:t>
            </a:r>
          </a:p>
        </p:txBody>
      </p:sp>
      <p:sp>
        <p:nvSpPr>
          <p:cNvPr id="9" name="TextBox 8"/>
          <p:cNvSpPr txBox="1"/>
          <p:nvPr/>
        </p:nvSpPr>
        <p:spPr>
          <a:xfrm>
            <a:off x="2423160" y="2029968"/>
            <a:ext cx="8887968" cy="169164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MEP reports that waste diversion improved, but production volume changed and two months of wastewater data are missing. The prior audit programme covered every department equally and did not state objectives.</a:t>
            </a:r>
          </a:p>
        </p:txBody>
      </p:sp>
      <p:sp>
        <p:nvSpPr>
          <p:cNvPr id="10" name="Rounded Rectangle 9"/>
          <p:cNvSpPr/>
          <p:nvPr/>
        </p:nvSpPr>
        <p:spPr>
          <a:xfrm>
            <a:off x="2423160" y="3886200"/>
            <a:ext cx="8887968" cy="150876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4096512"/>
            <a:ext cx="8366760" cy="1078992"/>
          </a:xfrm>
          <a:prstGeom prst="rect">
            <a:avLst/>
          </a:prstGeom>
          <a:noFill/>
        </p:spPr>
        <p:txBody>
          <a:bodyPr wrap="square" anchor="ctr" lIns="45720" rIns="45720">
            <a:spAutoFit/>
          </a:bodyPr>
          <a:lstStyle/>
          <a:p>
            <a:pPr algn="l">
              <a:spcAft>
                <a:spcPts val="400"/>
              </a:spcAft>
            </a:pPr>
            <a:r>
              <a:rPr sz="1700" b="1">
                <a:solidFill>
                  <a:srgbClr val="1F6FEB"/>
                </a:solidFill>
                <a:latin typeface="Arial"/>
              </a:rPr>
              <a:t>Decide what evidence you need, what method fits, and how you will know the result is credible.</a:t>
            </a:r>
          </a:p>
        </p:txBody>
      </p:sp>
      <p:sp>
        <p:nvSpPr>
          <p:cNvPr id="12" name="TextBox 11"/>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3" name="TextBox 12"/>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4" name="TextBox 13"/>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ACTIVITY 7  |  VERIFY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Evaluate Performance and Conduct an Internal Audit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93392"/>
            <a:ext cx="10652760" cy="329184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04288"/>
            <a:ext cx="9966960" cy="438912"/>
          </a:xfrm>
          <a:prstGeom prst="rect">
            <a:avLst/>
          </a:prstGeom>
          <a:noFill/>
        </p:spPr>
        <p:txBody>
          <a:bodyPr wrap="square" anchor="t" lIns="45720" rIns="45720">
            <a:spAutoFit/>
          </a:bodyPr>
          <a:lstStyle/>
          <a:p>
            <a:pPr algn="l">
              <a:spcAft>
                <a:spcPts val="400"/>
              </a:spcAft>
            </a:pPr>
            <a:r>
              <a:rPr sz="1500" b="1">
                <a:solidFill>
                  <a:srgbClr val="16854A"/>
                </a:solidFill>
                <a:latin typeface="Arial"/>
              </a:rPr>
              <a:t>CHECK YOUR EVIDENCE</a:t>
            </a:r>
          </a:p>
        </p:txBody>
      </p:sp>
      <p:sp>
        <p:nvSpPr>
          <p:cNvPr id="9" name="TextBox 8"/>
          <p:cNvSpPr txBox="1"/>
          <p:nvPr/>
        </p:nvSpPr>
        <p:spPr>
          <a:xfrm>
            <a:off x="1097280" y="2871216"/>
            <a:ext cx="9966960" cy="132588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Conclusions respect data limitations; compliance status is evidence-based; the audit trail is reproducible; every finding contains criterion, evidence and gap; training follow-up is tied to observed competence needs.</a:t>
            </a:r>
          </a:p>
        </p:txBody>
      </p:sp>
      <p:sp>
        <p:nvSpPr>
          <p:cNvPr id="10" name="TextBox 9"/>
          <p:cNvSpPr txBox="1"/>
          <p:nvPr/>
        </p:nvSpPr>
        <p:spPr>
          <a:xfrm>
            <a:off x="1097280" y="4590288"/>
            <a:ext cx="9966960" cy="365760"/>
          </a:xfrm>
          <a:prstGeom prst="rect">
            <a:avLst/>
          </a:prstGeom>
          <a:noFill/>
        </p:spPr>
        <p:txBody>
          <a:bodyPr wrap="square" anchor="t" lIns="45720" rIns="45720">
            <a:spAutoFit/>
          </a:bodyPr>
          <a:lstStyle/>
          <a:p>
            <a:pPr algn="l">
              <a:spcAft>
                <a:spcPts val="400"/>
              </a:spcAft>
            </a:pPr>
            <a:r>
              <a:rPr sz="1250" b="0">
                <a:solidFill>
                  <a:srgbClr val="5B6372"/>
                </a:solidFill>
                <a:latin typeface="Arial"/>
              </a:rPr>
              <a:t>Detailed steps, scenario exhibits and templates are in the Learner Guide and activity folder.</a:t>
            </a:r>
          </a:p>
        </p:txBody>
      </p:sp>
      <p:sp>
        <p:nvSpPr>
          <p:cNvPr id="11" name="TextBox 1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2" name="TextBox 1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3" name="TextBox 1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892040" y="2176272"/>
            <a:ext cx="2404872" cy="8229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78608"/>
            <a:ext cx="12191695" cy="1051560"/>
          </a:xfrm>
          <a:prstGeom prst="rect">
            <a:avLst/>
          </a:prstGeom>
          <a:noFill/>
        </p:spPr>
        <p:txBody>
          <a:bodyPr wrap="square" anchor="t" lIns="45720" rIns="45720">
            <a:spAutoFit/>
          </a:bodyPr>
          <a:lstStyle/>
          <a:p>
            <a:pPr algn="ctr">
              <a:spcAft>
                <a:spcPts val="400"/>
              </a:spcAft>
            </a:pPr>
            <a:r>
              <a:rPr sz="4500" b="1">
                <a:solidFill>
                  <a:srgbClr val="161B26"/>
                </a:solidFill>
                <a:latin typeface="Arial"/>
              </a:rPr>
              <a:t>Lunch Break</a:t>
            </a:r>
          </a:p>
        </p:txBody>
      </p:sp>
      <p:sp>
        <p:nvSpPr>
          <p:cNvPr id="7" name="TextBox 6"/>
          <p:cNvSpPr txBox="1"/>
          <p:nvPr/>
        </p:nvSpPr>
        <p:spPr>
          <a:xfrm>
            <a:off x="0" y="3803904"/>
            <a:ext cx="12191695" cy="548640"/>
          </a:xfrm>
          <a:prstGeom prst="rect">
            <a:avLst/>
          </a:prstGeom>
          <a:noFill/>
        </p:spPr>
        <p:txBody>
          <a:bodyPr wrap="square" anchor="t" lIns="45720" rIns="45720">
            <a:spAutoFit/>
          </a:bodyPr>
          <a:lstStyle/>
          <a:p>
            <a:pPr algn="ctr">
              <a:spcAft>
                <a:spcPts val="400"/>
              </a:spcAft>
            </a:pPr>
            <a:r>
              <a:rPr sz="1900" b="1">
                <a:solidFill>
                  <a:srgbClr val="D97706"/>
                </a:solidFill>
                <a:latin typeface="Arial"/>
              </a:rPr>
              <a:t>45 minutes | return ready for Topic 4</a:t>
            </a:r>
          </a:p>
        </p:txBody>
      </p:sp>
      <p:sp>
        <p:nvSpPr>
          <p:cNvPr id="8" name="TextBox 7"/>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9" name="TextBox 8"/>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0" name="TextBox 9"/>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267712"/>
            <a:ext cx="109728" cy="182880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 y="2148840"/>
            <a:ext cx="9875520" cy="384048"/>
          </a:xfrm>
          <a:prstGeom prst="rect">
            <a:avLst/>
          </a:prstGeom>
          <a:noFill/>
        </p:spPr>
        <p:txBody>
          <a:bodyPr wrap="square" anchor="t" lIns="45720" rIns="45720">
            <a:spAutoFit/>
          </a:bodyPr>
          <a:lstStyle/>
          <a:p>
            <a:pPr algn="l">
              <a:spcAft>
                <a:spcPts val="400"/>
              </a:spcAft>
            </a:pPr>
            <a:r>
              <a:rPr sz="1500" b="1">
                <a:solidFill>
                  <a:srgbClr val="D97706"/>
                </a:solidFill>
                <a:latin typeface="Arial"/>
              </a:rPr>
              <a:t>TOPIC 4</a:t>
            </a:r>
          </a:p>
        </p:txBody>
      </p:sp>
      <p:sp>
        <p:nvSpPr>
          <p:cNvPr id="6" name="TextBox 5"/>
          <p:cNvSpPr txBox="1"/>
          <p:nvPr/>
        </p:nvSpPr>
        <p:spPr>
          <a:xfrm>
            <a:off x="1161288" y="2587752"/>
            <a:ext cx="9875520" cy="1325880"/>
          </a:xfrm>
          <a:prstGeom prst="rect">
            <a:avLst/>
          </a:prstGeom>
          <a:noFill/>
        </p:spPr>
        <p:txBody>
          <a:bodyPr wrap="square" anchor="ctr" lIns="45720" rIns="45720">
            <a:spAutoFit/>
          </a:bodyPr>
          <a:lstStyle/>
          <a:p>
            <a:pPr algn="l">
              <a:spcAft>
                <a:spcPts val="400"/>
              </a:spcAft>
            </a:pPr>
            <a:r>
              <a:rPr sz="3900" b="1">
                <a:solidFill>
                  <a:srgbClr val="161B26"/>
                </a:solidFill>
                <a:latin typeface="Arial"/>
              </a:rPr>
              <a:t>Continual improvement</a:t>
            </a:r>
          </a:p>
        </p:txBody>
      </p:sp>
      <p:sp>
        <p:nvSpPr>
          <p:cNvPr id="7" name="TextBox 6"/>
          <p:cNvSpPr txBox="1"/>
          <p:nvPr/>
        </p:nvSpPr>
        <p:spPr>
          <a:xfrm>
            <a:off x="1170432" y="4096512"/>
            <a:ext cx="9875520" cy="731520"/>
          </a:xfrm>
          <a:prstGeom prst="rect">
            <a:avLst/>
          </a:prstGeom>
          <a:noFill/>
        </p:spPr>
        <p:txBody>
          <a:bodyPr wrap="square" anchor="t" lIns="45720" rIns="45720">
            <a:spAutoFit/>
          </a:bodyPr>
          <a:lstStyle/>
          <a:p>
            <a:pPr algn="l">
              <a:spcAft>
                <a:spcPts val="400"/>
              </a:spcAft>
            </a:pPr>
            <a:r>
              <a:rPr sz="1600" b="0">
                <a:solidFill>
                  <a:srgbClr val="5B6372"/>
                </a:solidFill>
                <a:latin typeface="Arial"/>
              </a:rPr>
              <a:t>Incident learning - nonconformity - root cause - corrective action - effectiveness - transition</a:t>
            </a:r>
          </a:p>
        </p:txBody>
      </p:sp>
      <p:sp>
        <p:nvSpPr>
          <p:cNvPr id="8" name="TextBox 7"/>
          <p:cNvSpPr txBox="1"/>
          <p:nvPr/>
        </p:nvSpPr>
        <p:spPr>
          <a:xfrm>
            <a:off x="9464040" y="502920"/>
            <a:ext cx="2103120" cy="1234440"/>
          </a:xfrm>
          <a:prstGeom prst="rect">
            <a:avLst/>
          </a:prstGeom>
          <a:noFill/>
        </p:spPr>
        <p:txBody>
          <a:bodyPr wrap="square" anchor="t" lIns="45720" rIns="45720">
            <a:spAutoFit/>
          </a:bodyPr>
          <a:lstStyle/>
          <a:p>
            <a:pPr algn="r">
              <a:spcAft>
                <a:spcPts val="400"/>
              </a:spcAft>
            </a:pPr>
            <a:r>
              <a:rPr sz="6800" b="1">
                <a:solidFill>
                  <a:srgbClr val="E2E8F0"/>
                </a:solidFill>
                <a:latin typeface="Arial"/>
              </a:rPr>
              <a:t>4</a:t>
            </a:r>
          </a:p>
        </p:txBody>
      </p:sp>
      <p:sp>
        <p:nvSpPr>
          <p:cNvPr id="9" name="TextBox 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0" name="TextBox 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1" name="TextBox 1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129</a:t>
            </a:r>
          </a:p>
        </p:txBody>
      </p:sp>
    </p:spTree>
  </p:cSld>
  <p:clrMapOvr>
    <a:masterClrMapping/>
  </p:clrMapOvr>
  <p:transition spd="med" advClick="1">
    <p:push dir="l"/>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10.1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10.1 Improvement - general: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Determine opportunities and implement actions needed to achieve intended EMS outcomes.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Use performance, audit, incident and review evidence.</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Improve environmental performance as well as EMS processes.</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Prioritise by risk, obligation, impact and strategic value.</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10.1</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10.1 Improvement - general: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Improvement pipeline</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Business/environmental case</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Implementation evidence</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Benefits and learning review</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Too many unprioritised ideas</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Improvement means documentation only</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 baseline or outcome</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Local benefit transfers impact elsewhere</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10.2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10.2 Nonconformity and corrective action: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React, control consequences, eliminate causes and verify effectiveness.</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Correct and mitigate adverse environmental impacts.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Determine cause and whether similar nonconformities exist or could occur.</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Implement action, review effectiveness and update EMS risks, controls or information.</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10.2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10.2 Nonconformity and corrective action: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NCR and containment evidence</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Root-cause verification</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Cause-linked action plan</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Effectiveness and system-update evidence</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Correction confused with corrective action</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Root cause is person error</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Similar situations not reviewed</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Closure based on due date only</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10.3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10.3 Continual improvement: intent and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54889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Intent</a:t>
            </a:r>
          </a:p>
          <a:p>
            <a:pPr algn="l">
              <a:spcAft>
                <a:spcPts val="300"/>
              </a:spcAft>
            </a:pPr>
            <a:r>
              <a:rPr sz="1220" b="0">
                <a:solidFill>
                  <a:srgbClr val="5B6372"/>
                </a:solidFill>
                <a:latin typeface="Arial"/>
              </a:rPr>
              <a:t>Continually improve EMS suitability, adequacy and effectiveness to enhance environmental performance.</a:t>
            </a:r>
          </a:p>
        </p:txBody>
      </p:sp>
      <p:sp>
        <p:nvSpPr>
          <p:cNvPr id="12" name="Rounded Rectangle 11"/>
          <p:cNvSpPr/>
          <p:nvPr/>
        </p:nvSpPr>
        <p:spPr>
          <a:xfrm>
            <a:off x="6231636" y="1783080"/>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206197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48890"/>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48890"/>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1</a:t>
            </a:r>
          </a:p>
          <a:p>
            <a:pPr algn="l">
              <a:spcAft>
                <a:spcPts val="300"/>
              </a:spcAft>
            </a:pPr>
            <a:r>
              <a:rPr sz="1220" b="0">
                <a:solidFill>
                  <a:srgbClr val="5B6372"/>
                </a:solidFill>
                <a:latin typeface="Arial"/>
              </a:rPr>
              <a:t>Use analysis and management-review results to select priorities.</a:t>
            </a:r>
          </a:p>
        </p:txBody>
      </p:sp>
      <p:sp>
        <p:nvSpPr>
          <p:cNvPr id="17" name="Rounded Rectangle 16"/>
          <p:cNvSpPr/>
          <p:nvPr/>
        </p:nvSpPr>
        <p:spPr>
          <a:xfrm>
            <a:off x="777240"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83031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2</a:t>
            </a:r>
          </a:p>
          <a:p>
            <a:pPr algn="l">
              <a:spcAft>
                <a:spcPts val="300"/>
              </a:spcAft>
            </a:pPr>
            <a:r>
              <a:rPr sz="1220" b="0">
                <a:solidFill>
                  <a:srgbClr val="5B6372"/>
                </a:solidFill>
                <a:latin typeface="Arial"/>
              </a:rPr>
              <a:t>Standardise successful changes and preserve competence/evidence.</a:t>
            </a:r>
          </a:p>
        </p:txBody>
      </p:sp>
      <p:sp>
        <p:nvSpPr>
          <p:cNvPr id="22" name="Rounded Rectangle 21"/>
          <p:cNvSpPr/>
          <p:nvPr/>
        </p:nvSpPr>
        <p:spPr>
          <a:xfrm>
            <a:off x="6231636" y="4064508"/>
            <a:ext cx="5198364" cy="206197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64508"/>
            <a:ext cx="82296" cy="206197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30318"/>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30318"/>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4174236"/>
            <a:ext cx="4027932" cy="1879092"/>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 3</a:t>
            </a:r>
          </a:p>
          <a:p>
            <a:pPr algn="l">
              <a:spcAft>
                <a:spcPts val="300"/>
              </a:spcAft>
            </a:pPr>
            <a:r>
              <a:rPr sz="1220" b="0">
                <a:solidFill>
                  <a:srgbClr val="5B6372"/>
                </a:solidFill>
                <a:latin typeface="Arial"/>
              </a:rPr>
              <a:t>Review residual impacts, unintended effects and next opportunities.</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134</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CLAUSE 10.3</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10.3 Continual improvement: evidence check</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objective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Improvement portfolio</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Before/after environmental results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Updated standard work and competence</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Lessons and next-review decision</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Common weak practice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One-off campaign with no sustainment</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Activity reported without outcome</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Success claimed from incomplete data</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Learning not applied across the system</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D97706"/>
                </a:solidFill>
                <a:latin typeface="Arial"/>
              </a:rPr>
              <a:t>NONCONFORMITY RESPONSE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Three different responses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1012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80"/>
            <a:ext cx="2880360" cy="603504"/>
          </a:xfrm>
          <a:prstGeom prst="rect">
            <a:avLst/>
          </a:prstGeom>
          <a:noFill/>
        </p:spPr>
        <p:txBody>
          <a:bodyPr wrap="square" anchor="ctr" lIns="45720" rIns="45720">
            <a:spAutoFit/>
          </a:bodyPr>
          <a:lstStyle/>
          <a:p>
            <a:pPr algn="l">
              <a:spcAft>
                <a:spcPts val="400"/>
              </a:spcAft>
            </a:pPr>
            <a:r>
              <a:rPr sz="1800" b="1">
                <a:solidFill>
                  <a:srgbClr val="1F6FEB"/>
                </a:solidFill>
                <a:latin typeface="Arial"/>
              </a:rPr>
              <a:t>Correction</a:t>
            </a:r>
          </a:p>
        </p:txBody>
      </p:sp>
      <p:sp>
        <p:nvSpPr>
          <p:cNvPr id="10" name="Oval 9"/>
          <p:cNvSpPr/>
          <p:nvPr/>
        </p:nvSpPr>
        <p:spPr>
          <a:xfrm>
            <a:off x="1005840" y="2788920"/>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Fix the detected problem</a:t>
            </a:r>
          </a:p>
        </p:txBody>
      </p:sp>
      <p:sp>
        <p:nvSpPr>
          <p:cNvPr id="12" name="Oval 11"/>
          <p:cNvSpPr/>
          <p:nvPr/>
        </p:nvSpPr>
        <p:spPr>
          <a:xfrm>
            <a:off x="1005840" y="3511296"/>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Restore control or clean up</a:t>
            </a:r>
          </a:p>
        </p:txBody>
      </p:sp>
      <p:sp>
        <p:nvSpPr>
          <p:cNvPr id="14" name="Oval 13"/>
          <p:cNvSpPr/>
          <p:nvPr/>
        </p:nvSpPr>
        <p:spPr>
          <a:xfrm>
            <a:off x="1005840" y="4233672"/>
            <a:ext cx="201168" cy="2011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Immediate condition focus</a:t>
            </a:r>
          </a:p>
        </p:txBody>
      </p:sp>
      <p:sp>
        <p:nvSpPr>
          <p:cNvPr id="16" name="Rounded Rectangle 15"/>
          <p:cNvSpPr/>
          <p:nvPr/>
        </p:nvSpPr>
        <p:spPr>
          <a:xfrm>
            <a:off x="4553712"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3712" y="1783080"/>
            <a:ext cx="3310128"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011680"/>
            <a:ext cx="2880360" cy="603504"/>
          </a:xfrm>
          <a:prstGeom prst="rect">
            <a:avLst/>
          </a:prstGeom>
          <a:noFill/>
        </p:spPr>
        <p:txBody>
          <a:bodyPr wrap="square" anchor="ctr" lIns="45720" rIns="45720">
            <a:spAutoFit/>
          </a:bodyPr>
          <a:lstStyle/>
          <a:p>
            <a:pPr algn="l">
              <a:spcAft>
                <a:spcPts val="400"/>
              </a:spcAft>
            </a:pPr>
            <a:r>
              <a:rPr sz="1800" b="1">
                <a:solidFill>
                  <a:srgbClr val="0F9D8A"/>
                </a:solidFill>
                <a:latin typeface="Arial"/>
              </a:rPr>
              <a:t>Containment/mitigation</a:t>
            </a:r>
          </a:p>
        </p:txBody>
      </p:sp>
      <p:sp>
        <p:nvSpPr>
          <p:cNvPr id="19" name="Oval 18"/>
          <p:cNvSpPr/>
          <p:nvPr/>
        </p:nvSpPr>
        <p:spPr>
          <a:xfrm>
            <a:off x="4782312" y="2788920"/>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2352"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Control affected scope</a:t>
            </a:r>
          </a:p>
        </p:txBody>
      </p:sp>
      <p:sp>
        <p:nvSpPr>
          <p:cNvPr id="21" name="Oval 20"/>
          <p:cNvSpPr/>
          <p:nvPr/>
        </p:nvSpPr>
        <p:spPr>
          <a:xfrm>
            <a:off x="4782312" y="3511296"/>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02352"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Protect people and receptors</a:t>
            </a:r>
          </a:p>
        </p:txBody>
      </p:sp>
      <p:sp>
        <p:nvSpPr>
          <p:cNvPr id="23" name="Oval 22"/>
          <p:cNvSpPr/>
          <p:nvPr/>
        </p:nvSpPr>
        <p:spPr>
          <a:xfrm>
            <a:off x="4782312" y="4233672"/>
            <a:ext cx="201168" cy="20116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2352"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Limit consequences</a:t>
            </a:r>
          </a:p>
        </p:txBody>
      </p:sp>
      <p:sp>
        <p:nvSpPr>
          <p:cNvPr id="25" name="Rounded Rectangle 24"/>
          <p:cNvSpPr/>
          <p:nvPr/>
        </p:nvSpPr>
        <p:spPr>
          <a:xfrm>
            <a:off x="8330183" y="1783080"/>
            <a:ext cx="3310128" cy="431596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30183" y="1783080"/>
            <a:ext cx="331012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39" y="2011680"/>
            <a:ext cx="2880360" cy="603504"/>
          </a:xfrm>
          <a:prstGeom prst="rect">
            <a:avLst/>
          </a:prstGeom>
          <a:noFill/>
        </p:spPr>
        <p:txBody>
          <a:bodyPr wrap="square" anchor="ctr" lIns="45720" rIns="45720">
            <a:spAutoFit/>
          </a:bodyPr>
          <a:lstStyle/>
          <a:p>
            <a:pPr algn="l">
              <a:spcAft>
                <a:spcPts val="400"/>
              </a:spcAft>
            </a:pPr>
            <a:r>
              <a:rPr sz="1800" b="1">
                <a:solidFill>
                  <a:srgbClr val="7C3AED"/>
                </a:solidFill>
                <a:latin typeface="Arial"/>
              </a:rPr>
              <a:t>Corrective action</a:t>
            </a:r>
          </a:p>
        </p:txBody>
      </p:sp>
      <p:sp>
        <p:nvSpPr>
          <p:cNvPr id="28" name="Oval 27"/>
          <p:cNvSpPr/>
          <p:nvPr/>
        </p:nvSpPr>
        <p:spPr>
          <a:xfrm>
            <a:off x="8558783" y="27889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78823" y="2697479"/>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Eliminate verified cause</a:t>
            </a:r>
          </a:p>
        </p:txBody>
      </p:sp>
      <p:sp>
        <p:nvSpPr>
          <p:cNvPr id="30" name="Oval 29"/>
          <p:cNvSpPr/>
          <p:nvPr/>
        </p:nvSpPr>
        <p:spPr>
          <a:xfrm>
            <a:off x="8558783" y="35112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3" y="3419856"/>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Prevent recurrence elsewhere</a:t>
            </a:r>
          </a:p>
        </p:txBody>
      </p:sp>
      <p:sp>
        <p:nvSpPr>
          <p:cNvPr id="32" name="Oval 31"/>
          <p:cNvSpPr/>
          <p:nvPr/>
        </p:nvSpPr>
        <p:spPr>
          <a:xfrm>
            <a:off x="8558783" y="4233672"/>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78823" y="4142232"/>
            <a:ext cx="2487168" cy="658368"/>
          </a:xfrm>
          <a:prstGeom prst="rect">
            <a:avLst/>
          </a:prstGeom>
          <a:noFill/>
        </p:spPr>
        <p:txBody>
          <a:bodyPr wrap="square" anchor="ctr" lIns="45720" rIns="45720">
            <a:spAutoFit/>
          </a:bodyPr>
          <a:lstStyle/>
          <a:p>
            <a:pPr algn="l">
              <a:spcAft>
                <a:spcPts val="400"/>
              </a:spcAft>
            </a:pPr>
            <a:r>
              <a:rPr sz="1320" b="0">
                <a:solidFill>
                  <a:srgbClr val="161B26"/>
                </a:solidFill>
                <a:latin typeface="Arial"/>
              </a:rPr>
              <a:t>System focus</a:t>
            </a:r>
          </a:p>
        </p:txBody>
      </p:sp>
      <p:sp>
        <p:nvSpPr>
          <p:cNvPr id="34" name="TextBox 3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5" name="TextBox 3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D97706"/>
                </a:solidFill>
                <a:latin typeface="Arial"/>
              </a:rPr>
              <a:t>CLAUSE 10.2</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CAPA logic</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Describe and contain</a:t>
            </a:r>
          </a:p>
        </p:txBody>
      </p:sp>
      <p:cxnSp>
        <p:nvCxnSpPr>
          <p:cNvPr id="12" name="Connector 11"/>
          <p:cNvCxnSpPr/>
          <p:nvPr/>
        </p:nvCxnSpPr>
        <p:spPr>
          <a:xfrm>
            <a:off x="2730398"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Assess scope and consequences</a:t>
            </a:r>
          </a:p>
        </p:txBody>
      </p:sp>
      <p:cxnSp>
        <p:nvCxnSpPr>
          <p:cNvPr id="18" name="Connector 17"/>
          <p:cNvCxnSpPr/>
          <p:nvPr/>
        </p:nvCxnSpPr>
        <p:spPr>
          <a:xfrm>
            <a:off x="4912156"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Find and verify causes</a:t>
            </a:r>
          </a:p>
        </p:txBody>
      </p:sp>
      <p:cxnSp>
        <p:nvCxnSpPr>
          <p:cNvPr id="24" name="Connector 23"/>
          <p:cNvCxnSpPr/>
          <p:nvPr/>
        </p:nvCxnSpPr>
        <p:spPr>
          <a:xfrm>
            <a:off x="7093914"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Implement cause-linked actions</a:t>
            </a:r>
          </a:p>
        </p:txBody>
      </p:sp>
      <p:cxnSp>
        <p:nvCxnSpPr>
          <p:cNvPr id="30" name="Connector 29"/>
          <p:cNvCxnSpPr/>
          <p:nvPr/>
        </p:nvCxnSpPr>
        <p:spPr>
          <a:xfrm>
            <a:off x="9275672"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Review effectiveness and update</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137</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D97706"/>
                </a:solidFill>
                <a:latin typeface="Arial"/>
              </a:rPr>
              <a:t>ROOT-CAUSE ANALYSIS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Root cause: evidence before certainty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Useful methods</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5 Whys for causal chain</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Barrier analysis for failed defences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Process map for interfaces</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Data stratification for patterns</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Reasoning traps</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Stop at human error</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Choose a favourite cause</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Confuse correlation with cause</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Skip verification against evidence</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D97706"/>
                </a:solidFill>
                <a:latin typeface="Arial"/>
              </a:rPr>
              <a:t>CAPA</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Corrective-action quality test</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16865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Cause linked</a:t>
            </a:r>
          </a:p>
          <a:p>
            <a:pPr algn="l">
              <a:spcAft>
                <a:spcPts val="300"/>
              </a:spcAft>
            </a:pPr>
            <a:r>
              <a:rPr sz="1220" b="0">
                <a:solidFill>
                  <a:srgbClr val="5B6372"/>
                </a:solidFill>
                <a:latin typeface="Arial"/>
              </a:rPr>
              <a:t>Each action addresses a verified cause.</a:t>
            </a:r>
          </a:p>
        </p:txBody>
      </p:sp>
      <p:sp>
        <p:nvSpPr>
          <p:cNvPr id="12" name="Rounded Rectangle 11"/>
          <p:cNvSpPr/>
          <p:nvPr/>
        </p:nvSpPr>
        <p:spPr>
          <a:xfrm>
            <a:off x="6231636"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68652"/>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Owned</a:t>
            </a:r>
          </a:p>
          <a:p>
            <a:pPr algn="l">
              <a:spcAft>
                <a:spcPts val="300"/>
              </a:spcAft>
            </a:pPr>
            <a:r>
              <a:rPr sz="1220" b="0">
                <a:solidFill>
                  <a:srgbClr val="5B6372"/>
                </a:solidFill>
                <a:latin typeface="Arial"/>
              </a:rPr>
              <a:t>One accountable owner has authority and resources.</a:t>
            </a:r>
          </a:p>
        </p:txBody>
      </p:sp>
      <p:sp>
        <p:nvSpPr>
          <p:cNvPr id="17" name="Rounded Rectangle 16"/>
          <p:cNvSpPr/>
          <p:nvPr/>
        </p:nvSpPr>
        <p:spPr>
          <a:xfrm>
            <a:off x="777240"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4032"/>
            <a:ext cx="82296" cy="13014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68960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Timed</a:t>
            </a:r>
          </a:p>
          <a:p>
            <a:pPr algn="l">
              <a:spcAft>
                <a:spcPts val="300"/>
              </a:spcAft>
            </a:pPr>
            <a:r>
              <a:rPr sz="1220" b="0">
                <a:solidFill>
                  <a:srgbClr val="5B6372"/>
                </a:solidFill>
                <a:latin typeface="Arial"/>
              </a:rPr>
              <a:t>Due date reflects risk and implementation reality.</a:t>
            </a:r>
          </a:p>
        </p:txBody>
      </p:sp>
      <p:sp>
        <p:nvSpPr>
          <p:cNvPr id="22" name="Rounded Rectangle 21"/>
          <p:cNvSpPr/>
          <p:nvPr/>
        </p:nvSpPr>
        <p:spPr>
          <a:xfrm>
            <a:off x="6231636"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04032"/>
            <a:ext cx="82296" cy="13014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689604"/>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Systemic</a:t>
            </a:r>
          </a:p>
          <a:p>
            <a:pPr algn="l">
              <a:spcAft>
                <a:spcPts val="300"/>
              </a:spcAft>
            </a:pPr>
            <a:r>
              <a:rPr sz="1220" b="0">
                <a:solidFill>
                  <a:srgbClr val="5B6372"/>
                </a:solidFill>
                <a:latin typeface="Arial"/>
              </a:rPr>
              <a:t>Similar aspects, shifts and providers are considered.</a:t>
            </a:r>
          </a:p>
        </p:txBody>
      </p:sp>
      <p:sp>
        <p:nvSpPr>
          <p:cNvPr id="27" name="Rounded Rectangle 26"/>
          <p:cNvSpPr/>
          <p:nvPr/>
        </p:nvSpPr>
        <p:spPr>
          <a:xfrm>
            <a:off x="777240"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4984"/>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521055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737360"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Measured</a:t>
            </a:r>
          </a:p>
          <a:p>
            <a:pPr algn="l">
              <a:spcAft>
                <a:spcPts val="300"/>
              </a:spcAft>
            </a:pPr>
            <a:r>
              <a:rPr sz="1220" b="0">
                <a:solidFill>
                  <a:srgbClr val="5B6372"/>
                </a:solidFill>
                <a:latin typeface="Arial"/>
              </a:rPr>
              <a:t>Effectiveness criteria are defined before closure.</a:t>
            </a:r>
          </a:p>
        </p:txBody>
      </p:sp>
      <p:sp>
        <p:nvSpPr>
          <p:cNvPr id="32" name="Rounded Rectangle 31"/>
          <p:cNvSpPr/>
          <p:nvPr/>
        </p:nvSpPr>
        <p:spPr>
          <a:xfrm>
            <a:off x="6231636"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24984"/>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10556"/>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191756"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Sustained</a:t>
            </a:r>
          </a:p>
          <a:p>
            <a:pPr algn="l">
              <a:spcAft>
                <a:spcPts val="300"/>
              </a:spcAft>
            </a:pPr>
            <a:r>
              <a:rPr sz="1220" b="0">
                <a:solidFill>
                  <a:srgbClr val="5B6372"/>
                </a:solidFill>
                <a:latin typeface="Arial"/>
              </a:rPr>
              <a:t>Documents, competence and controls are updated.</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D97706"/>
                </a:solidFill>
                <a:latin typeface="Arial"/>
              </a:rPr>
              <a:t>VERIFY THE RESULT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Effectiveness is not completion</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0235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1" y="1993392"/>
            <a:ext cx="4572000" cy="365760"/>
          </a:xfrm>
          <a:prstGeom prst="rect">
            <a:avLst/>
          </a:prstGeom>
          <a:noFill/>
        </p:spPr>
        <p:txBody>
          <a:bodyPr wrap="square" anchor="t" lIns="45720" rIns="45720">
            <a:spAutoFit/>
          </a:bodyPr>
          <a:lstStyle/>
          <a:p>
            <a:pPr algn="l">
              <a:spcAft>
                <a:spcPts val="400"/>
              </a:spcAft>
            </a:pPr>
            <a:r>
              <a:rPr sz="1600" b="1">
                <a:solidFill>
                  <a:srgbClr val="1F6FEB"/>
                </a:solidFill>
                <a:latin typeface="Arial"/>
              </a:rPr>
              <a:t>Implementation evidence</a:t>
            </a:r>
          </a:p>
        </p:txBody>
      </p:sp>
      <p:sp>
        <p:nvSpPr>
          <p:cNvPr id="10" name="Oval 9"/>
          <p:cNvSpPr/>
          <p:nvPr/>
        </p:nvSpPr>
        <p:spPr>
          <a:xfrm>
            <a:off x="1033271" y="252374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12" name="TextBox 11"/>
          <p:cNvSpPr txBox="1"/>
          <p:nvPr/>
        </p:nvSpPr>
        <p:spPr>
          <a:xfrm>
            <a:off x="1554480"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Action implemented as planned</a:t>
            </a:r>
          </a:p>
        </p:txBody>
      </p:sp>
      <p:sp>
        <p:nvSpPr>
          <p:cNvPr id="13" name="Oval 12"/>
          <p:cNvSpPr/>
          <p:nvPr/>
        </p:nvSpPr>
        <p:spPr>
          <a:xfrm>
            <a:off x="1033271" y="335584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15" name="TextBox 14"/>
          <p:cNvSpPr txBox="1"/>
          <p:nvPr/>
        </p:nvSpPr>
        <p:spPr>
          <a:xfrm>
            <a:off x="1554480"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Evidence shows the new control operates</a:t>
            </a:r>
          </a:p>
        </p:txBody>
      </p:sp>
      <p:sp>
        <p:nvSpPr>
          <p:cNvPr id="16" name="Oval 15"/>
          <p:cNvSpPr/>
          <p:nvPr/>
        </p:nvSpPr>
        <p:spPr>
          <a:xfrm>
            <a:off x="1033271" y="4187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18" name="TextBox 17"/>
          <p:cNvSpPr txBox="1"/>
          <p:nvPr/>
        </p:nvSpPr>
        <p:spPr>
          <a:xfrm>
            <a:off x="1554480"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People demonstrate competence</a:t>
            </a:r>
          </a:p>
        </p:txBody>
      </p:sp>
      <p:sp>
        <p:nvSpPr>
          <p:cNvPr id="19" name="Oval 18"/>
          <p:cNvSpPr/>
          <p:nvPr/>
        </p:nvSpPr>
        <p:spPr>
          <a:xfrm>
            <a:off x="1033271" y="502005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21" name="TextBox 20"/>
          <p:cNvSpPr txBox="1"/>
          <p:nvPr/>
        </p:nvSpPr>
        <p:spPr>
          <a:xfrm>
            <a:off x="1554480"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Documents and systems are current</a:t>
            </a:r>
          </a:p>
        </p:txBody>
      </p:sp>
      <p:sp>
        <p:nvSpPr>
          <p:cNvPr id="22" name="Rounded Rectangle 21"/>
          <p:cNvSpPr/>
          <p:nvPr/>
        </p:nvSpPr>
        <p:spPr>
          <a:xfrm>
            <a:off x="6336792" y="1783080"/>
            <a:ext cx="5102352" cy="43434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36792" y="1783080"/>
            <a:ext cx="5102352" cy="100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2824" y="1993392"/>
            <a:ext cx="4572000" cy="365760"/>
          </a:xfrm>
          <a:prstGeom prst="rect">
            <a:avLst/>
          </a:prstGeom>
          <a:noFill/>
        </p:spPr>
        <p:txBody>
          <a:bodyPr wrap="square" anchor="t" lIns="45720" rIns="45720">
            <a:spAutoFit/>
          </a:bodyPr>
          <a:lstStyle/>
          <a:p>
            <a:pPr algn="l">
              <a:spcAft>
                <a:spcPts val="400"/>
              </a:spcAft>
            </a:pPr>
            <a:r>
              <a:rPr sz="1600" b="1">
                <a:solidFill>
                  <a:srgbClr val="0F9D8A"/>
                </a:solidFill>
                <a:latin typeface="Arial"/>
              </a:rPr>
              <a:t>Effectiveness evidence</a:t>
            </a:r>
          </a:p>
        </p:txBody>
      </p:sp>
      <p:sp>
        <p:nvSpPr>
          <p:cNvPr id="25" name="Oval 24"/>
          <p:cNvSpPr/>
          <p:nvPr/>
        </p:nvSpPr>
        <p:spPr>
          <a:xfrm>
            <a:off x="6592824" y="2523744"/>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2824" y="2523744"/>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1</a:t>
            </a:r>
          </a:p>
        </p:txBody>
      </p:sp>
      <p:sp>
        <p:nvSpPr>
          <p:cNvPr id="27" name="TextBox 26"/>
          <p:cNvSpPr txBox="1"/>
          <p:nvPr/>
        </p:nvSpPr>
        <p:spPr>
          <a:xfrm>
            <a:off x="7114031" y="2505456"/>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Problem does not recur over a meaningful interval</a:t>
            </a:r>
          </a:p>
        </p:txBody>
      </p:sp>
      <p:sp>
        <p:nvSpPr>
          <p:cNvPr id="28" name="Oval 27"/>
          <p:cNvSpPr/>
          <p:nvPr/>
        </p:nvSpPr>
        <p:spPr>
          <a:xfrm>
            <a:off x="6592824" y="3355848"/>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92824" y="3355848"/>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2</a:t>
            </a:r>
          </a:p>
        </p:txBody>
      </p:sp>
      <p:sp>
        <p:nvSpPr>
          <p:cNvPr id="30" name="TextBox 29"/>
          <p:cNvSpPr txBox="1"/>
          <p:nvPr/>
        </p:nvSpPr>
        <p:spPr>
          <a:xfrm>
            <a:off x="7114031" y="3337560"/>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Environmental trend moves toward target</a:t>
            </a:r>
          </a:p>
        </p:txBody>
      </p:sp>
      <p:sp>
        <p:nvSpPr>
          <p:cNvPr id="31" name="Oval 30"/>
          <p:cNvSpPr/>
          <p:nvPr/>
        </p:nvSpPr>
        <p:spPr>
          <a:xfrm>
            <a:off x="6592824" y="4187952"/>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187952"/>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3</a:t>
            </a:r>
          </a:p>
        </p:txBody>
      </p:sp>
      <p:sp>
        <p:nvSpPr>
          <p:cNvPr id="33" name="TextBox 32"/>
          <p:cNvSpPr txBox="1"/>
          <p:nvPr/>
        </p:nvSpPr>
        <p:spPr>
          <a:xfrm>
            <a:off x="7114031" y="4169664"/>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Audit sample confirms sustained control</a:t>
            </a:r>
          </a:p>
        </p:txBody>
      </p:sp>
      <p:sp>
        <p:nvSpPr>
          <p:cNvPr id="34" name="Oval 33"/>
          <p:cNvSpPr/>
          <p:nvPr/>
        </p:nvSpPr>
        <p:spPr>
          <a:xfrm>
            <a:off x="6592824" y="5020056"/>
            <a:ext cx="384048" cy="384048"/>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92824" y="5020056"/>
            <a:ext cx="384048" cy="384048"/>
          </a:xfrm>
          <a:prstGeom prst="rect">
            <a:avLst/>
          </a:prstGeom>
          <a:noFill/>
        </p:spPr>
        <p:txBody>
          <a:bodyPr wrap="square" anchor="ctr" lIns="45720" rIns="45720">
            <a:spAutoFit/>
          </a:bodyPr>
          <a:lstStyle/>
          <a:p>
            <a:pPr algn="ctr">
              <a:spcAft>
                <a:spcPts val="400"/>
              </a:spcAft>
            </a:pPr>
            <a:r>
              <a:rPr sz="1100" b="1">
                <a:solidFill>
                  <a:srgbClr val="FFFFFF"/>
                </a:solidFill>
                <a:latin typeface="Arial"/>
              </a:rPr>
              <a:t>4</a:t>
            </a:r>
          </a:p>
        </p:txBody>
      </p:sp>
      <p:sp>
        <p:nvSpPr>
          <p:cNvPr id="36" name="TextBox 35"/>
          <p:cNvSpPr txBox="1"/>
          <p:nvPr/>
        </p:nvSpPr>
        <p:spPr>
          <a:xfrm>
            <a:off x="7114031" y="5001768"/>
            <a:ext cx="3977639" cy="713232"/>
          </a:xfrm>
          <a:prstGeom prst="rect">
            <a:avLst/>
          </a:prstGeom>
          <a:noFill/>
        </p:spPr>
        <p:txBody>
          <a:bodyPr wrap="square" anchor="ctr" lIns="45720" rIns="45720">
            <a:spAutoFit/>
          </a:bodyPr>
          <a:lstStyle/>
          <a:p>
            <a:pPr algn="l">
              <a:spcAft>
                <a:spcPts val="400"/>
              </a:spcAft>
            </a:pPr>
            <a:r>
              <a:rPr sz="1400" b="0">
                <a:solidFill>
                  <a:srgbClr val="161B26"/>
                </a:solidFill>
                <a:latin typeface="Arial"/>
              </a:rPr>
              <a:t>No impact is transferred elsewhere</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D97706"/>
                </a:solidFill>
                <a:latin typeface="Arial"/>
              </a:rPr>
              <a:t>CONTROLLED CHANGE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ISO 14001:2026 transition gap review</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16865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Context</a:t>
            </a:r>
          </a:p>
          <a:p>
            <a:pPr algn="l">
              <a:spcAft>
                <a:spcPts val="300"/>
              </a:spcAft>
            </a:pPr>
            <a:r>
              <a:rPr sz="1220" b="0">
                <a:solidFill>
                  <a:srgbClr val="5B6372"/>
                </a:solidFill>
                <a:latin typeface="Arial"/>
              </a:rPr>
              <a:t>Broader environmental conditions and interested-party implications.</a:t>
            </a:r>
          </a:p>
        </p:txBody>
      </p:sp>
      <p:sp>
        <p:nvSpPr>
          <p:cNvPr id="12" name="Rounded Rectangle 11"/>
          <p:cNvSpPr/>
          <p:nvPr/>
        </p:nvSpPr>
        <p:spPr>
          <a:xfrm>
            <a:off x="6231636"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68652"/>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Leadership</a:t>
            </a:r>
          </a:p>
          <a:p>
            <a:pPr algn="l">
              <a:spcAft>
                <a:spcPts val="300"/>
              </a:spcAft>
            </a:pPr>
            <a:r>
              <a:rPr sz="1220" b="0">
                <a:solidFill>
                  <a:srgbClr val="5B6372"/>
                </a:solidFill>
                <a:latin typeface="Arial"/>
              </a:rPr>
              <a:t>Accountability and support for all relevant roles.</a:t>
            </a:r>
          </a:p>
        </p:txBody>
      </p:sp>
      <p:sp>
        <p:nvSpPr>
          <p:cNvPr id="17" name="Rounded Rectangle 16"/>
          <p:cNvSpPr/>
          <p:nvPr/>
        </p:nvSpPr>
        <p:spPr>
          <a:xfrm>
            <a:off x="777240"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4032"/>
            <a:ext cx="82296" cy="13014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68960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Planning</a:t>
            </a:r>
          </a:p>
          <a:p>
            <a:pPr algn="l">
              <a:spcAft>
                <a:spcPts val="300"/>
              </a:spcAft>
            </a:pPr>
            <a:r>
              <a:rPr sz="1220" b="0">
                <a:solidFill>
                  <a:srgbClr val="5B6372"/>
                </a:solidFill>
                <a:latin typeface="Arial"/>
              </a:rPr>
              <a:t>Clearer risks/opportunities and new Clause 6.3 change management.</a:t>
            </a:r>
          </a:p>
        </p:txBody>
      </p:sp>
      <p:sp>
        <p:nvSpPr>
          <p:cNvPr id="22" name="Rounded Rectangle 21"/>
          <p:cNvSpPr/>
          <p:nvPr/>
        </p:nvSpPr>
        <p:spPr>
          <a:xfrm>
            <a:off x="6231636"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04032"/>
            <a:ext cx="82296" cy="13014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689604"/>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Operation</a:t>
            </a:r>
          </a:p>
          <a:p>
            <a:pPr algn="l">
              <a:spcAft>
                <a:spcPts val="300"/>
              </a:spcAft>
            </a:pPr>
            <a:r>
              <a:rPr sz="1220" b="0">
                <a:solidFill>
                  <a:srgbClr val="5B6372"/>
                </a:solidFill>
                <a:latin typeface="Arial"/>
              </a:rPr>
              <a:t>Externally provided processes/products/services and life-cycle controls.</a:t>
            </a:r>
          </a:p>
        </p:txBody>
      </p:sp>
      <p:sp>
        <p:nvSpPr>
          <p:cNvPr id="27" name="Rounded Rectangle 26"/>
          <p:cNvSpPr/>
          <p:nvPr/>
        </p:nvSpPr>
        <p:spPr>
          <a:xfrm>
            <a:off x="777240"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4984"/>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521055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737360"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Emergency</a:t>
            </a:r>
          </a:p>
          <a:p>
            <a:pPr algn="l">
              <a:spcAft>
                <a:spcPts val="300"/>
              </a:spcAft>
            </a:pPr>
            <a:r>
              <a:rPr sz="1220" b="0">
                <a:solidFill>
                  <a:srgbClr val="5B6372"/>
                </a:solidFill>
                <a:latin typeface="Arial"/>
              </a:rPr>
              <a:t>All identified potential emergency situations and learning.</a:t>
            </a:r>
          </a:p>
        </p:txBody>
      </p:sp>
      <p:sp>
        <p:nvSpPr>
          <p:cNvPr id="32" name="Rounded Rectangle 31"/>
          <p:cNvSpPr/>
          <p:nvPr/>
        </p:nvSpPr>
        <p:spPr>
          <a:xfrm>
            <a:off x="6231636"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24984"/>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10556"/>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191756"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Governance</a:t>
            </a:r>
          </a:p>
          <a:p>
            <a:pPr algn="l">
              <a:spcAft>
                <a:spcPts val="300"/>
              </a:spcAft>
            </a:pPr>
            <a:r>
              <a:rPr sz="1220" b="0">
                <a:solidFill>
                  <a:srgbClr val="5B6372"/>
                </a:solidFill>
                <a:latin typeface="Arial"/>
              </a:rPr>
              <a:t>Audit programme objectives, management-review results and measurable outcomes.</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D97706"/>
                </a:solidFill>
                <a:latin typeface="Arial"/>
              </a:rPr>
              <a:t>ISO 14001:2026</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Transition without losing control</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Confirm current edition and guidance</a:t>
            </a:r>
          </a:p>
        </p:txBody>
      </p:sp>
      <p:cxnSp>
        <p:nvCxnSpPr>
          <p:cNvPr id="12" name="Connector 11"/>
          <p:cNvCxnSpPr/>
          <p:nvPr/>
        </p:nvCxnSpPr>
        <p:spPr>
          <a:xfrm>
            <a:off x="2730398"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Map clauses to current evidence</a:t>
            </a:r>
          </a:p>
        </p:txBody>
      </p:sp>
      <p:cxnSp>
        <p:nvCxnSpPr>
          <p:cNvPr id="18" name="Connector 17"/>
          <p:cNvCxnSpPr/>
          <p:nvPr/>
        </p:nvCxnSpPr>
        <p:spPr>
          <a:xfrm>
            <a:off x="4912156"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Prioritise material gaps</a:t>
            </a:r>
          </a:p>
        </p:txBody>
      </p:sp>
      <p:cxnSp>
        <p:nvCxnSpPr>
          <p:cNvPr id="24" name="Connector 23"/>
          <p:cNvCxnSpPr/>
          <p:nvPr/>
        </p:nvCxnSpPr>
        <p:spPr>
          <a:xfrm>
            <a:off x="7093914"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Implement controlled changes</a:t>
            </a:r>
          </a:p>
        </p:txBody>
      </p:sp>
      <p:cxnSp>
        <p:nvCxnSpPr>
          <p:cNvPr id="30" name="Connector 29"/>
          <p:cNvCxnSpPr/>
          <p:nvPr/>
        </p:nvCxnSpPr>
        <p:spPr>
          <a:xfrm>
            <a:off x="9275672"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Audit, review and demonstrate results</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142</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8  |  A7, A8</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Close Corrective Action and Plan the 2026 Transition</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47088"/>
            <a:ext cx="1508760" cy="457200"/>
          </a:xfrm>
          <a:prstGeom prst="round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74519"/>
            <a:ext cx="1508760" cy="393192"/>
          </a:xfrm>
          <a:prstGeom prst="rect">
            <a:avLst/>
          </a:prstGeom>
          <a:noFill/>
        </p:spPr>
        <p:txBody>
          <a:bodyPr wrap="square" anchor="ctr" lIns="45720" rIns="45720">
            <a:spAutoFit/>
          </a:bodyPr>
          <a:lstStyle/>
          <a:p>
            <a:pPr algn="ctr">
              <a:spcAft>
                <a:spcPts val="400"/>
              </a:spcAft>
            </a:pPr>
            <a:r>
              <a:rPr sz="1400" b="1">
                <a:solidFill>
                  <a:srgbClr val="FFFFFF"/>
                </a:solidFill>
                <a:latin typeface="Arial"/>
              </a:rPr>
              <a:t>ACTIVITY 8</a:t>
            </a:r>
          </a:p>
        </p:txBody>
      </p:sp>
      <p:sp>
        <p:nvSpPr>
          <p:cNvPr id="9" name="TextBox 8"/>
          <p:cNvSpPr txBox="1"/>
          <p:nvPr/>
        </p:nvSpPr>
        <p:spPr>
          <a:xfrm>
            <a:off x="777240" y="2542032"/>
            <a:ext cx="10652760" cy="1124712"/>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Close the spill-response weakness and convert ISO 14001:2026 gaps into a prioritised transition roadmap.</a:t>
            </a:r>
          </a:p>
        </p:txBody>
      </p:sp>
      <p:sp>
        <p:nvSpPr>
          <p:cNvPr id="10" name="Rounded Rectangle 9"/>
          <p:cNvSpPr/>
          <p:nvPr/>
        </p:nvSpPr>
        <p:spPr>
          <a:xfrm>
            <a:off x="777240" y="3886200"/>
            <a:ext cx="10652760" cy="195681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133087"/>
            <a:ext cx="9966960" cy="310896"/>
          </a:xfrm>
          <a:prstGeom prst="rect">
            <a:avLst/>
          </a:prstGeom>
          <a:noFill/>
        </p:spPr>
        <p:txBody>
          <a:bodyPr wrap="square" anchor="t" lIns="45720" rIns="45720">
            <a:spAutoFit/>
          </a:bodyPr>
          <a:lstStyle/>
          <a:p>
            <a:pPr algn="l">
              <a:spcAft>
                <a:spcPts val="400"/>
              </a:spcAft>
            </a:pPr>
            <a:r>
              <a:rPr sz="1150" b="1">
                <a:solidFill>
                  <a:srgbClr val="1F6FEB"/>
                </a:solidFill>
                <a:latin typeface="Arial"/>
              </a:rPr>
              <a:t>EXPECTED OUTPUT</a:t>
            </a:r>
          </a:p>
        </p:txBody>
      </p:sp>
      <p:sp>
        <p:nvSpPr>
          <p:cNvPr id="12" name="TextBox 11"/>
          <p:cNvSpPr txBox="1"/>
          <p:nvPr/>
        </p:nvSpPr>
        <p:spPr>
          <a:xfrm>
            <a:off x="1024128" y="4480560"/>
            <a:ext cx="9966960" cy="621792"/>
          </a:xfrm>
          <a:prstGeom prst="rect">
            <a:avLst/>
          </a:prstGeom>
          <a:noFill/>
        </p:spPr>
        <p:txBody>
          <a:bodyPr wrap="square" anchor="ctr" lIns="45720" rIns="45720">
            <a:spAutoFit/>
          </a:bodyPr>
          <a:lstStyle/>
          <a:p>
            <a:pPr algn="l">
              <a:spcAft>
                <a:spcPts val="400"/>
              </a:spcAft>
            </a:pPr>
            <a:r>
              <a:rPr sz="1700" b="1">
                <a:solidFill>
                  <a:srgbClr val="161B26"/>
                </a:solidFill>
                <a:latin typeface="Arial"/>
              </a:rPr>
              <a:t>An NCR/CAPA record, effectiveness review, continual-improvement report and controlled transition plan.</a:t>
            </a:r>
          </a:p>
        </p:txBody>
      </p:sp>
      <p:sp>
        <p:nvSpPr>
          <p:cNvPr id="13" name="TextBox 12"/>
          <p:cNvSpPr txBox="1"/>
          <p:nvPr/>
        </p:nvSpPr>
        <p:spPr>
          <a:xfrm>
            <a:off x="1024128" y="5230368"/>
            <a:ext cx="9966960" cy="411480"/>
          </a:xfrm>
          <a:prstGeom prst="rect">
            <a:avLst/>
          </a:prstGeom>
          <a:noFill/>
        </p:spPr>
        <p:txBody>
          <a:bodyPr wrap="square" anchor="t" lIns="45720" rIns="45720">
            <a:spAutoFit/>
          </a:bodyPr>
          <a:lstStyle/>
          <a:p>
            <a:pPr algn="l">
              <a:spcAft>
                <a:spcPts val="400"/>
              </a:spcAft>
            </a:pPr>
            <a:r>
              <a:rPr sz="1230" b="0">
                <a:solidFill>
                  <a:srgbClr val="5B6372"/>
                </a:solidFill>
                <a:latin typeface="Arial"/>
              </a:rPr>
              <a:t>Resources: Corrective Action and Transition Workbook (Excel), report-quality checklist PDF</a:t>
            </a:r>
          </a:p>
        </p:txBody>
      </p:sp>
      <p:sp>
        <p:nvSpPr>
          <p:cNvPr id="14" name="TextBox 13"/>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5" name="TextBox 14"/>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6" name="TextBox 15"/>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143</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0F9D8A"/>
                </a:solidFill>
                <a:latin typeface="Arial"/>
              </a:rPr>
              <a:t>ACTIVITY 8  |  DECISION PROMPT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Close Corrective Action and Plan the 2026 Transition</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12848"/>
            <a:ext cx="1325880" cy="13258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12848"/>
            <a:ext cx="1325880" cy="1325880"/>
          </a:xfrm>
          <a:prstGeom prst="rect">
            <a:avLst/>
          </a:prstGeom>
          <a:noFill/>
        </p:spPr>
        <p:txBody>
          <a:bodyPr wrap="square" anchor="ctr" lIns="45720" rIns="45720">
            <a:spAutoFit/>
          </a:bodyPr>
          <a:lstStyle/>
          <a:p>
            <a:pPr algn="ctr">
              <a:spcAft>
                <a:spcPts val="400"/>
              </a:spcAft>
            </a:pPr>
            <a:r>
              <a:rPr sz="4200" b="1">
                <a:solidFill>
                  <a:srgbClr val="FFFFFF"/>
                </a:solidFill>
                <a:latin typeface="Arial"/>
              </a:rPr>
              <a:t>?</a:t>
            </a:r>
          </a:p>
        </p:txBody>
      </p:sp>
      <p:sp>
        <p:nvSpPr>
          <p:cNvPr id="9" name="TextBox 8"/>
          <p:cNvSpPr txBox="1"/>
          <p:nvPr/>
        </p:nvSpPr>
        <p:spPr>
          <a:xfrm>
            <a:off x="2423160" y="2029968"/>
            <a:ext cx="8887968" cy="169164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The tabletop showed that drain isolation ownership was unclear and contractor contact data was obsolete. Leadership also needs a structured gap review for the 2026 edition, including value-chain oversight and planned change.</a:t>
            </a:r>
          </a:p>
        </p:txBody>
      </p:sp>
      <p:sp>
        <p:nvSpPr>
          <p:cNvPr id="10" name="Rounded Rectangle 9"/>
          <p:cNvSpPr/>
          <p:nvPr/>
        </p:nvSpPr>
        <p:spPr>
          <a:xfrm>
            <a:off x="2423160" y="3886200"/>
            <a:ext cx="8887968" cy="150876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4096512"/>
            <a:ext cx="8366760" cy="1078992"/>
          </a:xfrm>
          <a:prstGeom prst="rect">
            <a:avLst/>
          </a:prstGeom>
          <a:noFill/>
        </p:spPr>
        <p:txBody>
          <a:bodyPr wrap="square" anchor="ctr" lIns="45720" rIns="45720">
            <a:spAutoFit/>
          </a:bodyPr>
          <a:lstStyle/>
          <a:p>
            <a:pPr algn="l">
              <a:spcAft>
                <a:spcPts val="400"/>
              </a:spcAft>
            </a:pPr>
            <a:r>
              <a:rPr sz="1700" b="1">
                <a:solidFill>
                  <a:srgbClr val="1F6FEB"/>
                </a:solidFill>
                <a:latin typeface="Arial"/>
              </a:rPr>
              <a:t>Decide what evidence you need, what method fits, and how you will know the result is credible.</a:t>
            </a:r>
          </a:p>
        </p:txBody>
      </p:sp>
      <p:sp>
        <p:nvSpPr>
          <p:cNvPr id="12" name="TextBox 11"/>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3" name="TextBox 12"/>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4" name="TextBox 13"/>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ACTIVITY 8  |  VERIFY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Close Corrective Action and Plan the 2026 Transition</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93392"/>
            <a:ext cx="10652760" cy="329184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04288"/>
            <a:ext cx="9966960" cy="438912"/>
          </a:xfrm>
          <a:prstGeom prst="rect">
            <a:avLst/>
          </a:prstGeom>
          <a:noFill/>
        </p:spPr>
        <p:txBody>
          <a:bodyPr wrap="square" anchor="t" lIns="45720" rIns="45720">
            <a:spAutoFit/>
          </a:bodyPr>
          <a:lstStyle/>
          <a:p>
            <a:pPr algn="l">
              <a:spcAft>
                <a:spcPts val="400"/>
              </a:spcAft>
            </a:pPr>
            <a:r>
              <a:rPr sz="1500" b="1">
                <a:solidFill>
                  <a:srgbClr val="16854A"/>
                </a:solidFill>
                <a:latin typeface="Arial"/>
              </a:rPr>
              <a:t>CHECK YOUR EVIDENCE</a:t>
            </a:r>
          </a:p>
        </p:txBody>
      </p:sp>
      <p:sp>
        <p:nvSpPr>
          <p:cNvPr id="9" name="TextBox 8"/>
          <p:cNvSpPr txBox="1"/>
          <p:nvPr/>
        </p:nvSpPr>
        <p:spPr>
          <a:xfrm>
            <a:off x="1097280" y="2871216"/>
            <a:ext cx="9966960" cy="1325880"/>
          </a:xfrm>
          <a:prstGeom prst="rect">
            <a:avLst/>
          </a:prstGeom>
          <a:noFill/>
        </p:spPr>
        <p:txBody>
          <a:bodyPr wrap="square" anchor="ctr" lIns="45720" rIns="45720">
            <a:spAutoFit/>
          </a:bodyPr>
          <a:lstStyle/>
          <a:p>
            <a:pPr algn="l">
              <a:spcAft>
                <a:spcPts val="400"/>
              </a:spcAft>
            </a:pPr>
            <a:r>
              <a:rPr sz="2000" b="0">
                <a:solidFill>
                  <a:srgbClr val="161B26"/>
                </a:solidFill>
                <a:latin typeface="Arial"/>
              </a:rPr>
              <a:t>Actions address verified causes, transition priorities are traceable to current requirements, effectiveness is measured after an appropriate interval, and a reviewer can reconstruct decisions, ownership, evidence and residual risk.</a:t>
            </a:r>
          </a:p>
        </p:txBody>
      </p:sp>
      <p:sp>
        <p:nvSpPr>
          <p:cNvPr id="10" name="TextBox 9"/>
          <p:cNvSpPr txBox="1"/>
          <p:nvPr/>
        </p:nvSpPr>
        <p:spPr>
          <a:xfrm>
            <a:off x="1097280" y="4590288"/>
            <a:ext cx="9966960" cy="365760"/>
          </a:xfrm>
          <a:prstGeom prst="rect">
            <a:avLst/>
          </a:prstGeom>
          <a:noFill/>
        </p:spPr>
        <p:txBody>
          <a:bodyPr wrap="square" anchor="t" lIns="45720" rIns="45720">
            <a:spAutoFit/>
          </a:bodyPr>
          <a:lstStyle/>
          <a:p>
            <a:pPr algn="l">
              <a:spcAft>
                <a:spcPts val="400"/>
              </a:spcAft>
            </a:pPr>
            <a:r>
              <a:rPr sz="1250" b="0">
                <a:solidFill>
                  <a:srgbClr val="5B6372"/>
                </a:solidFill>
                <a:latin typeface="Arial"/>
              </a:rPr>
              <a:t>Detailed steps, scenario exhibits and templates are in the Learner Guide and activity folder.</a:t>
            </a:r>
          </a:p>
        </p:txBody>
      </p:sp>
      <p:sp>
        <p:nvSpPr>
          <p:cNvPr id="11" name="TextBox 10"/>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12" name="TextBox 11"/>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13" name="TextBox 12"/>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D97706"/>
                </a:solidFill>
                <a:latin typeface="Arial"/>
              </a:rPr>
              <a:t>A8 | REPORTING</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Improvement report storyline</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Problem and baseline</a:t>
            </a:r>
          </a:p>
        </p:txBody>
      </p:sp>
      <p:cxnSp>
        <p:nvCxnSpPr>
          <p:cNvPr id="12" name="Connector 11"/>
          <p:cNvCxnSpPr/>
          <p:nvPr/>
        </p:nvCxnSpPr>
        <p:spPr>
          <a:xfrm>
            <a:off x="2730398"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Analysis and selected action</a:t>
            </a:r>
          </a:p>
        </p:txBody>
      </p:sp>
      <p:cxnSp>
        <p:nvCxnSpPr>
          <p:cNvPr id="18" name="Connector 17"/>
          <p:cNvCxnSpPr/>
          <p:nvPr/>
        </p:nvCxnSpPr>
        <p:spPr>
          <a:xfrm>
            <a:off x="4912156"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Implementation and ownership</a:t>
            </a:r>
          </a:p>
        </p:txBody>
      </p:sp>
      <p:cxnSp>
        <p:nvCxnSpPr>
          <p:cNvPr id="24" name="Connector 23"/>
          <p:cNvCxnSpPr/>
          <p:nvPr/>
        </p:nvCxnSpPr>
        <p:spPr>
          <a:xfrm>
            <a:off x="7093914"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Results and effectiveness</a:t>
            </a:r>
          </a:p>
        </p:txBody>
      </p:sp>
      <p:cxnSp>
        <p:nvCxnSpPr>
          <p:cNvPr id="30" name="Connector 29"/>
          <p:cNvCxnSpPr/>
          <p:nvPr/>
        </p:nvCxnSpPr>
        <p:spPr>
          <a:xfrm>
            <a:off x="9275672" y="3675887"/>
            <a:ext cx="201168" cy="0"/>
          </a:xfrm>
          <a:prstGeom prst="line">
            <a:avLst/>
          </a:prstGeom>
          <a:ln w="27940">
            <a:solidFill>
              <a:srgbClr val="D97706"/>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Learning, residual risk and next decision</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146</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IMPLEMENTATION ROADMAP</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From course to workplace</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Diagnose context and aspects</a:t>
            </a:r>
          </a:p>
        </p:txBody>
      </p:sp>
      <p:cxnSp>
        <p:nvCxnSpPr>
          <p:cNvPr id="12" name="Connector 11"/>
          <p:cNvCxnSpPr/>
          <p:nvPr/>
        </p:nvCxnSpPr>
        <p:spPr>
          <a:xfrm>
            <a:off x="2730398"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Plan obligations and controls</a:t>
            </a:r>
          </a:p>
        </p:txBody>
      </p:sp>
      <p:cxnSp>
        <p:nvCxnSpPr>
          <p:cNvPr id="18" name="Connector 17"/>
          <p:cNvCxnSpPr/>
          <p:nvPr/>
        </p:nvCxnSpPr>
        <p:spPr>
          <a:xfrm>
            <a:off x="4912156"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Operate and build evidence</a:t>
            </a:r>
          </a:p>
        </p:txBody>
      </p:sp>
      <p:cxnSp>
        <p:nvCxnSpPr>
          <p:cNvPr id="24" name="Connector 23"/>
          <p:cNvCxnSpPr/>
          <p:nvPr/>
        </p:nvCxnSpPr>
        <p:spPr>
          <a:xfrm>
            <a:off x="7093914"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Evaluate, audit and review</a:t>
            </a:r>
          </a:p>
        </p:txBody>
      </p:sp>
      <p:cxnSp>
        <p:nvCxnSpPr>
          <p:cNvPr id="30" name="Connector 29"/>
          <p:cNvCxnSpPr/>
          <p:nvPr/>
        </p:nvCxnSpPr>
        <p:spPr>
          <a:xfrm>
            <a:off x="9275672"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Improve and manage transition</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COURSE SUMMARY</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What you can now do</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16865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737360"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Identify</a:t>
            </a:r>
          </a:p>
          <a:p>
            <a:pPr algn="l">
              <a:spcAft>
                <a:spcPts val="300"/>
              </a:spcAft>
            </a:pPr>
            <a:r>
              <a:rPr sz="1220" b="0">
                <a:solidFill>
                  <a:srgbClr val="5B6372"/>
                </a:solidFill>
                <a:latin typeface="Arial"/>
              </a:rPr>
              <a:t>Find environmental hazards, aspects and impacts.</a:t>
            </a:r>
          </a:p>
        </p:txBody>
      </p:sp>
      <p:sp>
        <p:nvSpPr>
          <p:cNvPr id="12" name="Rounded Rectangle 11"/>
          <p:cNvSpPr/>
          <p:nvPr/>
        </p:nvSpPr>
        <p:spPr>
          <a:xfrm>
            <a:off x="6231636" y="1783080"/>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68652"/>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68652"/>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191756" y="1892808"/>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Assess</a:t>
            </a:r>
          </a:p>
          <a:p>
            <a:pPr algn="l">
              <a:spcAft>
                <a:spcPts val="300"/>
              </a:spcAft>
            </a:pPr>
            <a:r>
              <a:rPr sz="1220" b="0">
                <a:solidFill>
                  <a:srgbClr val="5B6372"/>
                </a:solidFill>
                <a:latin typeface="Arial"/>
              </a:rPr>
              <a:t>Prioritise significance, risks and opportunities.</a:t>
            </a:r>
          </a:p>
        </p:txBody>
      </p:sp>
      <p:sp>
        <p:nvSpPr>
          <p:cNvPr id="17" name="Rounded Rectangle 16"/>
          <p:cNvSpPr/>
          <p:nvPr/>
        </p:nvSpPr>
        <p:spPr>
          <a:xfrm>
            <a:off x="777240"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4032"/>
            <a:ext cx="82296" cy="13014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68960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737360"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Prepare</a:t>
            </a:r>
          </a:p>
          <a:p>
            <a:pPr algn="l">
              <a:spcAft>
                <a:spcPts val="300"/>
              </a:spcAft>
            </a:pPr>
            <a:r>
              <a:rPr sz="1220" b="0">
                <a:solidFill>
                  <a:srgbClr val="5B6372"/>
                </a:solidFill>
                <a:latin typeface="Arial"/>
              </a:rPr>
              <a:t>Plan incident action, escalation and reporting.</a:t>
            </a:r>
          </a:p>
        </p:txBody>
      </p:sp>
      <p:sp>
        <p:nvSpPr>
          <p:cNvPr id="22" name="Rounded Rectangle 21"/>
          <p:cNvSpPr/>
          <p:nvPr/>
        </p:nvSpPr>
        <p:spPr>
          <a:xfrm>
            <a:off x="6231636" y="3304032"/>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04032"/>
            <a:ext cx="82296" cy="13014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689604"/>
            <a:ext cx="530352" cy="53035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689604"/>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191756" y="3413760"/>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Control</a:t>
            </a:r>
          </a:p>
          <a:p>
            <a:pPr algn="l">
              <a:spcAft>
                <a:spcPts val="300"/>
              </a:spcAft>
            </a:pPr>
            <a:r>
              <a:rPr sz="1220" b="0">
                <a:solidFill>
                  <a:srgbClr val="5B6372"/>
                </a:solidFill>
                <a:latin typeface="Arial"/>
              </a:rPr>
              <a:t>Design life-cycle operational and competence controls.</a:t>
            </a:r>
          </a:p>
        </p:txBody>
      </p:sp>
      <p:sp>
        <p:nvSpPr>
          <p:cNvPr id="27" name="Rounded Rectangle 26"/>
          <p:cNvSpPr/>
          <p:nvPr/>
        </p:nvSpPr>
        <p:spPr>
          <a:xfrm>
            <a:off x="777240"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4984"/>
            <a:ext cx="82296" cy="13014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521055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737360"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Evaluate</a:t>
            </a:r>
          </a:p>
          <a:p>
            <a:pPr algn="l">
              <a:spcAft>
                <a:spcPts val="300"/>
              </a:spcAft>
            </a:pPr>
            <a:r>
              <a:rPr sz="1220" b="0">
                <a:solidFill>
                  <a:srgbClr val="5B6372"/>
                </a:solidFill>
                <a:latin typeface="Arial"/>
              </a:rPr>
              <a:t>Use performance, compliance and audit evidence.</a:t>
            </a:r>
          </a:p>
        </p:txBody>
      </p:sp>
      <p:sp>
        <p:nvSpPr>
          <p:cNvPr id="32" name="Rounded Rectangle 31"/>
          <p:cNvSpPr/>
          <p:nvPr/>
        </p:nvSpPr>
        <p:spPr>
          <a:xfrm>
            <a:off x="6231636" y="4824984"/>
            <a:ext cx="5198364" cy="130149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24984"/>
            <a:ext cx="82296" cy="130149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10556"/>
            <a:ext cx="530352" cy="530352"/>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10556"/>
            <a:ext cx="530352" cy="530352"/>
          </a:xfrm>
          <a:prstGeom prst="rect">
            <a:avLst/>
          </a:prstGeom>
          <a:noFill/>
        </p:spPr>
        <p:txBody>
          <a:bodyPr wrap="square" anchor="ctr" lIns="45720" rIns="4572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191756" y="4934712"/>
            <a:ext cx="4027932" cy="1118616"/>
          </a:xfrm>
          <a:prstGeom prst="rect">
            <a:avLst/>
          </a:prstGeom>
          <a:noFill/>
        </p:spPr>
        <p:txBody>
          <a:bodyPr wrap="square" anchor="ctr" lIns="45720" rIns="45720">
            <a:spAutoFit/>
          </a:bodyPr>
          <a:lstStyle/>
          <a:p>
            <a:pPr algn="l">
              <a:spcAft>
                <a:spcPts val="300"/>
              </a:spcAft>
            </a:pPr>
            <a:r>
              <a:rPr sz="1550" b="1">
                <a:solidFill>
                  <a:srgbClr val="161B26"/>
                </a:solidFill>
                <a:latin typeface="Arial"/>
              </a:rPr>
              <a:t>Improve</a:t>
            </a:r>
          </a:p>
          <a:p>
            <a:pPr algn="l">
              <a:spcAft>
                <a:spcPts val="300"/>
              </a:spcAft>
            </a:pPr>
            <a:r>
              <a:rPr sz="1220" b="0">
                <a:solidFill>
                  <a:srgbClr val="5B6372"/>
                </a:solidFill>
                <a:latin typeface="Arial"/>
              </a:rPr>
              <a:t>Close CAPA and manage the 2026 transition.</a:t>
            </a:r>
          </a:p>
        </p:txBody>
      </p:sp>
      <p:sp>
        <p:nvSpPr>
          <p:cNvPr id="37" name="TextBox 3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8" name="TextBox 3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148</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REFERENCES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Primary and professional references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73152"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920240"/>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Course page - duration, outcomes, topics and assessment</a:t>
            </a:r>
          </a:p>
          <a:p>
            <a:pPr algn="l">
              <a:spcAft>
                <a:spcPts val="200"/>
              </a:spcAft>
            </a:pPr>
            <a:r>
              <a:rPr sz="1150" b="1">
                <a:solidFill>
                  <a:srgbClr val="1F6FEB"/>
                </a:solidFill>
                <a:latin typeface="Arial"/>
                <a:hlinkClick r:id="rId2"/>
              </a:rPr>
              <a:t>Open source →</a:t>
            </a:r>
          </a:p>
        </p:txBody>
      </p:sp>
      <p:sp>
        <p:nvSpPr>
          <p:cNvPr id="10" name="Rounded Rectangle 9"/>
          <p:cNvSpPr/>
          <p:nvPr/>
        </p:nvSpPr>
        <p:spPr>
          <a:xfrm>
            <a:off x="777240" y="2816352"/>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16352"/>
            <a:ext cx="73152" cy="84124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2907792"/>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ISO 14001:2026 standard status</a:t>
            </a:r>
          </a:p>
          <a:p>
            <a:pPr algn="l">
              <a:spcAft>
                <a:spcPts val="200"/>
              </a:spcAft>
            </a:pPr>
            <a:r>
              <a:rPr sz="1150" b="1">
                <a:solidFill>
                  <a:srgbClr val="1F6FEB"/>
                </a:solidFill>
                <a:latin typeface="Arial"/>
                <a:hlinkClick r:id="rId3"/>
              </a:rPr>
              <a:t>Open source →</a:t>
            </a:r>
          </a:p>
        </p:txBody>
      </p:sp>
      <p:sp>
        <p:nvSpPr>
          <p:cNvPr id="13" name="Rounded Rectangle 12"/>
          <p:cNvSpPr/>
          <p:nvPr/>
        </p:nvSpPr>
        <p:spPr>
          <a:xfrm>
            <a:off x="777240" y="3803904"/>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803904"/>
            <a:ext cx="73152"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3895344"/>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ISO 14001:2026 publication announcement</a:t>
            </a:r>
          </a:p>
          <a:p>
            <a:pPr algn="l">
              <a:spcAft>
                <a:spcPts val="200"/>
              </a:spcAft>
            </a:pPr>
            <a:r>
              <a:rPr sz="1150" b="1">
                <a:solidFill>
                  <a:srgbClr val="1F6FEB"/>
                </a:solidFill>
                <a:latin typeface="Arial"/>
                <a:hlinkClick r:id="rId4"/>
              </a:rPr>
              <a:t>Open source →</a:t>
            </a:r>
          </a:p>
        </p:txBody>
      </p:sp>
      <p:sp>
        <p:nvSpPr>
          <p:cNvPr id="16" name="Rounded Rectangle 15"/>
          <p:cNvSpPr/>
          <p:nvPr/>
        </p:nvSpPr>
        <p:spPr>
          <a:xfrm>
            <a:off x="777240" y="4791456"/>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791456"/>
            <a:ext cx="73152" cy="8412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882896"/>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ISO 14001:2026 changes explained</a:t>
            </a:r>
          </a:p>
          <a:p>
            <a:pPr algn="l">
              <a:spcAft>
                <a:spcPts val="200"/>
              </a:spcAft>
            </a:pPr>
            <a:r>
              <a:rPr sz="1150" b="1">
                <a:solidFill>
                  <a:srgbClr val="1F6FEB"/>
                </a:solidFill>
                <a:latin typeface="Arial"/>
                <a:hlinkClick r:id="rId5"/>
              </a:rPr>
              <a:t>Open source →</a:t>
            </a:r>
          </a:p>
        </p:txBody>
      </p:sp>
      <p:sp>
        <p:nvSpPr>
          <p:cNvPr id="19" name="TextBox 1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0" name="TextBox 1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1" name="TextBox 2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149</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REFERENCES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Sources and further reading</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73152"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920240"/>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BSI ISO 14001:2026 key changes and guidance</a:t>
            </a:r>
          </a:p>
          <a:p>
            <a:pPr algn="l">
              <a:spcAft>
                <a:spcPts val="200"/>
              </a:spcAft>
            </a:pPr>
            <a:r>
              <a:rPr sz="1150" b="1">
                <a:solidFill>
                  <a:srgbClr val="1F6FEB"/>
                </a:solidFill>
                <a:latin typeface="Arial"/>
                <a:hlinkClick r:id="rId2"/>
              </a:rPr>
              <a:t>Open source →</a:t>
            </a:r>
          </a:p>
        </p:txBody>
      </p:sp>
      <p:sp>
        <p:nvSpPr>
          <p:cNvPr id="10" name="Rounded Rectangle 9"/>
          <p:cNvSpPr/>
          <p:nvPr/>
        </p:nvSpPr>
        <p:spPr>
          <a:xfrm>
            <a:off x="777240" y="2816352"/>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16352"/>
            <a:ext cx="73152" cy="84124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2907792"/>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RRC certification, requirements and compliance guide</a:t>
            </a:r>
          </a:p>
          <a:p>
            <a:pPr algn="l">
              <a:spcAft>
                <a:spcPts val="200"/>
              </a:spcAft>
            </a:pPr>
            <a:r>
              <a:rPr sz="1150" b="1">
                <a:solidFill>
                  <a:srgbClr val="1F6FEB"/>
                </a:solidFill>
                <a:latin typeface="Arial"/>
                <a:hlinkClick r:id="rId3"/>
              </a:rPr>
              <a:t>Open source →</a:t>
            </a:r>
          </a:p>
        </p:txBody>
      </p:sp>
      <p:sp>
        <p:nvSpPr>
          <p:cNvPr id="13" name="Rounded Rectangle 12"/>
          <p:cNvSpPr/>
          <p:nvPr/>
        </p:nvSpPr>
        <p:spPr>
          <a:xfrm>
            <a:off x="777240" y="3803904"/>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803904"/>
            <a:ext cx="73152"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3895344"/>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TaxTMI ISO 14001 EMS overview</a:t>
            </a:r>
          </a:p>
          <a:p>
            <a:pPr algn="l">
              <a:spcAft>
                <a:spcPts val="200"/>
              </a:spcAft>
            </a:pPr>
            <a:r>
              <a:rPr sz="1150" b="1">
                <a:solidFill>
                  <a:srgbClr val="1F6FEB"/>
                </a:solidFill>
                <a:latin typeface="Arial"/>
                <a:hlinkClick r:id="rId4"/>
              </a:rPr>
              <a:t>Open source →</a:t>
            </a:r>
          </a:p>
        </p:txBody>
      </p:sp>
      <p:sp>
        <p:nvSpPr>
          <p:cNvPr id="16" name="Rounded Rectangle 15"/>
          <p:cNvSpPr/>
          <p:nvPr/>
        </p:nvSpPr>
        <p:spPr>
          <a:xfrm>
            <a:off x="777240" y="4791456"/>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791456"/>
            <a:ext cx="73152" cy="8412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882896"/>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Complaion ISO 14001 EMS guide</a:t>
            </a:r>
          </a:p>
          <a:p>
            <a:pPr algn="l">
              <a:spcAft>
                <a:spcPts val="200"/>
              </a:spcAft>
            </a:pPr>
            <a:r>
              <a:rPr sz="1150" b="1">
                <a:solidFill>
                  <a:srgbClr val="1F6FEB"/>
                </a:solidFill>
                <a:latin typeface="Arial"/>
                <a:hlinkClick r:id="rId5"/>
              </a:rPr>
              <a:t>Open source →</a:t>
            </a:r>
          </a:p>
        </p:txBody>
      </p:sp>
      <p:sp>
        <p:nvSpPr>
          <p:cNvPr id="19" name="TextBox 1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0" name="TextBox 1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1" name="TextBox 2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REFERENCES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Sources and further reading</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73152"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920240"/>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SCMEP ISO 14001 environmental management guide</a:t>
            </a:r>
          </a:p>
          <a:p>
            <a:pPr algn="l">
              <a:spcAft>
                <a:spcPts val="200"/>
              </a:spcAft>
            </a:pPr>
            <a:r>
              <a:rPr sz="1150" b="1">
                <a:solidFill>
                  <a:srgbClr val="1F6FEB"/>
                </a:solidFill>
                <a:latin typeface="Arial"/>
                <a:hlinkClick r:id="rId2"/>
              </a:rPr>
              <a:t>Open source →</a:t>
            </a:r>
          </a:p>
        </p:txBody>
      </p:sp>
      <p:sp>
        <p:nvSpPr>
          <p:cNvPr id="10" name="Rounded Rectangle 9"/>
          <p:cNvSpPr/>
          <p:nvPr/>
        </p:nvSpPr>
        <p:spPr>
          <a:xfrm>
            <a:off x="777240" y="2816352"/>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16352"/>
            <a:ext cx="73152" cy="84124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2907792"/>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ImpactBuying ISO 14001 guide</a:t>
            </a:r>
          </a:p>
          <a:p>
            <a:pPr algn="l">
              <a:spcAft>
                <a:spcPts val="200"/>
              </a:spcAft>
            </a:pPr>
            <a:r>
              <a:rPr sz="1150" b="1">
                <a:solidFill>
                  <a:srgbClr val="1F6FEB"/>
                </a:solidFill>
                <a:latin typeface="Arial"/>
                <a:hlinkClick r:id="rId3"/>
              </a:rPr>
              <a:t>Open source →</a:t>
            </a:r>
          </a:p>
        </p:txBody>
      </p:sp>
      <p:sp>
        <p:nvSpPr>
          <p:cNvPr id="13" name="Rounded Rectangle 12"/>
          <p:cNvSpPr/>
          <p:nvPr/>
        </p:nvSpPr>
        <p:spPr>
          <a:xfrm>
            <a:off x="777240" y="3803904"/>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803904"/>
            <a:ext cx="73152"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3895344"/>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CTO Framework ISO 14001 requirements map</a:t>
            </a:r>
          </a:p>
          <a:p>
            <a:pPr algn="l">
              <a:spcAft>
                <a:spcPts val="200"/>
              </a:spcAft>
            </a:pPr>
            <a:r>
              <a:rPr sz="1150" b="1">
                <a:solidFill>
                  <a:srgbClr val="1F6FEB"/>
                </a:solidFill>
                <a:latin typeface="Arial"/>
                <a:hlinkClick r:id="rId4"/>
              </a:rPr>
              <a:t>Open source →</a:t>
            </a:r>
          </a:p>
        </p:txBody>
      </p:sp>
      <p:sp>
        <p:nvSpPr>
          <p:cNvPr id="16" name="Rounded Rectangle 15"/>
          <p:cNvSpPr/>
          <p:nvPr/>
        </p:nvSpPr>
        <p:spPr>
          <a:xfrm>
            <a:off x="777240" y="4791456"/>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791456"/>
            <a:ext cx="73152" cy="8412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882896"/>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Presencis clause 6.1 guide</a:t>
            </a:r>
          </a:p>
          <a:p>
            <a:pPr algn="l">
              <a:spcAft>
                <a:spcPts val="200"/>
              </a:spcAft>
            </a:pPr>
            <a:r>
              <a:rPr sz="1150" b="1">
                <a:solidFill>
                  <a:srgbClr val="1F6FEB"/>
                </a:solidFill>
                <a:latin typeface="Arial"/>
                <a:hlinkClick r:id="rId5"/>
              </a:rPr>
              <a:t>Open source →</a:t>
            </a:r>
          </a:p>
        </p:txBody>
      </p:sp>
      <p:sp>
        <p:nvSpPr>
          <p:cNvPr id="19" name="TextBox 1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0" name="TextBox 1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1" name="TextBox 2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F6FEB"/>
                </a:solidFill>
                <a:latin typeface="Arial"/>
              </a:rPr>
              <a:t>REFERENCES</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Sources and further reading</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73152"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920240"/>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Sandland Packaging EMS implementation example</a:t>
            </a:r>
          </a:p>
          <a:p>
            <a:pPr algn="l">
              <a:spcAft>
                <a:spcPts val="200"/>
              </a:spcAft>
            </a:pPr>
            <a:r>
              <a:rPr sz="1150" b="1">
                <a:solidFill>
                  <a:srgbClr val="1F6FEB"/>
                </a:solidFill>
                <a:latin typeface="Arial"/>
                <a:hlinkClick r:id="rId2"/>
              </a:rPr>
              <a:t>Open source →</a:t>
            </a:r>
          </a:p>
        </p:txBody>
      </p:sp>
      <p:sp>
        <p:nvSpPr>
          <p:cNvPr id="10" name="Rounded Rectangle 9"/>
          <p:cNvSpPr/>
          <p:nvPr/>
        </p:nvSpPr>
        <p:spPr>
          <a:xfrm>
            <a:off x="777240" y="2816352"/>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16352"/>
            <a:ext cx="73152" cy="84124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2907792"/>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CIVAC EMS implementation roadmap</a:t>
            </a:r>
          </a:p>
          <a:p>
            <a:pPr algn="l">
              <a:spcAft>
                <a:spcPts val="200"/>
              </a:spcAft>
            </a:pPr>
            <a:r>
              <a:rPr sz="1150" b="1">
                <a:solidFill>
                  <a:srgbClr val="1F6FEB"/>
                </a:solidFill>
                <a:latin typeface="Arial"/>
                <a:hlinkClick r:id="rId3"/>
              </a:rPr>
              <a:t>Open source →</a:t>
            </a:r>
          </a:p>
        </p:txBody>
      </p:sp>
      <p:sp>
        <p:nvSpPr>
          <p:cNvPr id="13" name="Rounded Rectangle 12"/>
          <p:cNvSpPr/>
          <p:nvPr/>
        </p:nvSpPr>
        <p:spPr>
          <a:xfrm>
            <a:off x="777240" y="3803904"/>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803904"/>
            <a:ext cx="73152"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3895344"/>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Leadity ISO 14001 requirements guide</a:t>
            </a:r>
          </a:p>
          <a:p>
            <a:pPr algn="l">
              <a:spcAft>
                <a:spcPts val="200"/>
              </a:spcAft>
            </a:pPr>
            <a:r>
              <a:rPr sz="1150" b="1">
                <a:solidFill>
                  <a:srgbClr val="1F6FEB"/>
                </a:solidFill>
                <a:latin typeface="Arial"/>
                <a:hlinkClick r:id="rId4"/>
              </a:rPr>
              <a:t>Open source →</a:t>
            </a:r>
          </a:p>
        </p:txBody>
      </p:sp>
      <p:sp>
        <p:nvSpPr>
          <p:cNvPr id="16" name="Rounded Rectangle 15"/>
          <p:cNvSpPr/>
          <p:nvPr/>
        </p:nvSpPr>
        <p:spPr>
          <a:xfrm>
            <a:off x="777240" y="4791456"/>
            <a:ext cx="10652760" cy="841248"/>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791456"/>
            <a:ext cx="73152" cy="8412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882896"/>
            <a:ext cx="10012680" cy="640080"/>
          </a:xfrm>
          <a:prstGeom prst="rect">
            <a:avLst/>
          </a:prstGeom>
          <a:noFill/>
        </p:spPr>
        <p:txBody>
          <a:bodyPr wrap="square" anchor="ctr" lIns="45720" rIns="45720">
            <a:spAutoFit/>
          </a:bodyPr>
          <a:lstStyle/>
          <a:p>
            <a:pPr algn="l">
              <a:spcAft>
                <a:spcPts val="200"/>
              </a:spcAft>
            </a:pPr>
            <a:r>
              <a:rPr sz="1450" b="1">
                <a:solidFill>
                  <a:srgbClr val="161B26"/>
                </a:solidFill>
                <a:latin typeface="Arial"/>
              </a:rPr>
              <a:t>Singapore NEA environmental legislation portal</a:t>
            </a:r>
          </a:p>
          <a:p>
            <a:pPr algn="l">
              <a:spcAft>
                <a:spcPts val="200"/>
              </a:spcAft>
            </a:pPr>
            <a:r>
              <a:rPr sz="1150" b="1">
                <a:solidFill>
                  <a:srgbClr val="1F6FEB"/>
                </a:solidFill>
                <a:latin typeface="Arial"/>
                <a:hlinkClick r:id="rId5"/>
              </a:rPr>
              <a:t>Open source →</a:t>
            </a:r>
          </a:p>
        </p:txBody>
      </p:sp>
      <p:sp>
        <p:nvSpPr>
          <p:cNvPr id="19" name="TextBox 18"/>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0" name="TextBox 19"/>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1" name="TextBox 20"/>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152</a:t>
            </a:r>
          </a:p>
        </p:txBody>
      </p:sp>
    </p:spTree>
  </p:cSld>
  <p:clrMapOvr>
    <a:masterClrMapping/>
  </p:clrMapOvr>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16854A"/>
                </a:solidFill>
                <a:latin typeface="Arial"/>
              </a:rPr>
              <a:t>LMS | COURSE MATERIAL</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Download course material from the LMS</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Sign in to the Tertiary LMS</a:t>
            </a:r>
          </a:p>
        </p:txBody>
      </p:sp>
      <p:cxnSp>
        <p:nvCxnSpPr>
          <p:cNvPr id="12" name="Connector 11"/>
          <p:cNvCxnSpPr/>
          <p:nvPr/>
        </p:nvCxnSpPr>
        <p:spPr>
          <a:xfrm>
            <a:off x="2730398"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Open My Courses and this course</a:t>
            </a:r>
          </a:p>
        </p:txBody>
      </p:sp>
      <p:cxnSp>
        <p:nvCxnSpPr>
          <p:cNvPr id="18" name="Connector 17"/>
          <p:cNvCxnSpPr/>
          <p:nvPr/>
        </p:nvCxnSpPr>
        <p:spPr>
          <a:xfrm>
            <a:off x="4912156"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Download learner slides and Learner Guide</a:t>
            </a:r>
          </a:p>
        </p:txBody>
      </p:sp>
      <p:cxnSp>
        <p:nvCxnSpPr>
          <p:cNvPr id="24" name="Connector 23"/>
          <p:cNvCxnSpPr/>
          <p:nvPr/>
        </p:nvCxnSpPr>
        <p:spPr>
          <a:xfrm>
            <a:off x="7093914"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Open the linked Activities folder</a:t>
            </a:r>
          </a:p>
        </p:txBody>
      </p:sp>
      <p:cxnSp>
        <p:nvCxnSpPr>
          <p:cNvPr id="30" name="Connector 29"/>
          <p:cNvCxnSpPr/>
          <p:nvPr/>
        </p:nvCxnSpPr>
        <p:spPr>
          <a:xfrm>
            <a:off x="9275672" y="3675887"/>
            <a:ext cx="201168" cy="0"/>
          </a:xfrm>
          <a:prstGeom prst="line">
            <a:avLst/>
          </a:prstGeom>
          <a:ln w="27940">
            <a:solidFill>
              <a:srgbClr val="16854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Use only the current version</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153</a:t>
            </a:r>
          </a:p>
        </p:txBody>
      </p:sp>
    </p:spTree>
  </p:cSld>
  <p:clrMapOvr>
    <a:masterClrMapping/>
  </p:clrMapOvr>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C2413B"/>
                </a:solidFill>
                <a:latin typeface="Arial"/>
              </a:rPr>
              <a:t>FINAL ASSESSMENT</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Assessment reminder</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17395"/>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17395"/>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1828800"/>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Written Assessment (WA/SAQ) - 6 open-ended questions, 1 hour, open book.</a:t>
            </a:r>
          </a:p>
        </p:txBody>
      </p:sp>
      <p:sp>
        <p:nvSpPr>
          <p:cNvPr id="12" name="Rounded Rectangle 11"/>
          <p:cNvSpPr/>
          <p:nvPr/>
        </p:nvSpPr>
        <p:spPr>
          <a:xfrm>
            <a:off x="777240" y="2910078"/>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10078"/>
            <a:ext cx="82296" cy="96240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44393"/>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44393"/>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955798"/>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Case Study (CS) - 4 open-ended scenario questions, 1 hour, open book.</a:t>
            </a:r>
          </a:p>
        </p:txBody>
      </p:sp>
      <p:sp>
        <p:nvSpPr>
          <p:cNvPr id="17" name="Rounded Rectangle 16"/>
          <p:cNvSpPr/>
          <p:nvPr/>
        </p:nvSpPr>
        <p:spPr>
          <a:xfrm>
            <a:off x="777240" y="4037076"/>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1391"/>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1391"/>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4082796"/>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Complete Assessment digital attendance before starting.</a:t>
            </a:r>
          </a:p>
        </p:txBody>
      </p:sp>
      <p:sp>
        <p:nvSpPr>
          <p:cNvPr id="22" name="Rounded Rectangle 21"/>
          <p:cNvSpPr/>
          <p:nvPr/>
        </p:nvSpPr>
        <p:spPr>
          <a:xfrm>
            <a:off x="777240" y="5164074"/>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64074"/>
            <a:ext cx="82296" cy="96240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 y="5398389"/>
            <a:ext cx="493776" cy="49377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 y="5398389"/>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5209794"/>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Submit answers on the LMS and sign the Assessment Summary Record.</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154</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C2413B"/>
                </a:solidFill>
                <a:latin typeface="Arial"/>
              </a:rPr>
              <a:t>FINAL CHECK</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Assessment flow</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1925726" cy="9144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92631" y="2542032"/>
            <a:ext cx="694944" cy="694944"/>
          </a:xfrm>
          <a:prstGeom prst="ellipse">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92631"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1</a:t>
            </a:r>
          </a:p>
        </p:txBody>
      </p:sp>
      <p:sp>
        <p:nvSpPr>
          <p:cNvPr id="11" name="TextBox 10"/>
          <p:cNvSpPr txBox="1"/>
          <p:nvPr/>
        </p:nvSpPr>
        <p:spPr>
          <a:xfrm>
            <a:off x="896112"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TRAQOM digital attendance</a:t>
            </a:r>
          </a:p>
        </p:txBody>
      </p:sp>
      <p:cxnSp>
        <p:nvCxnSpPr>
          <p:cNvPr id="12" name="Connector 11"/>
          <p:cNvCxnSpPr/>
          <p:nvPr/>
        </p:nvCxnSpPr>
        <p:spPr>
          <a:xfrm>
            <a:off x="2730398" y="3675887"/>
            <a:ext cx="201168" cy="0"/>
          </a:xfrm>
          <a:prstGeom prst="line">
            <a:avLst/>
          </a:prstGeom>
          <a:ln w="27940">
            <a:solidFill>
              <a:srgbClr val="C2413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58998"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74389"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4389"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2</a:t>
            </a:r>
          </a:p>
        </p:txBody>
      </p:sp>
      <p:sp>
        <p:nvSpPr>
          <p:cNvPr id="17" name="TextBox 16"/>
          <p:cNvSpPr txBox="1"/>
          <p:nvPr/>
        </p:nvSpPr>
        <p:spPr>
          <a:xfrm>
            <a:off x="3077870"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Assessment digital attendance</a:t>
            </a:r>
          </a:p>
        </p:txBody>
      </p:sp>
      <p:cxnSp>
        <p:nvCxnSpPr>
          <p:cNvPr id="18" name="Connector 17"/>
          <p:cNvCxnSpPr/>
          <p:nvPr/>
        </p:nvCxnSpPr>
        <p:spPr>
          <a:xfrm>
            <a:off x="4912156" y="3675887"/>
            <a:ext cx="201168" cy="0"/>
          </a:xfrm>
          <a:prstGeom prst="line">
            <a:avLst/>
          </a:prstGeom>
          <a:ln w="27940">
            <a:solidFill>
              <a:srgbClr val="C2413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40756"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194560"/>
            <a:ext cx="1925726" cy="9144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56147" y="2542032"/>
            <a:ext cx="694944" cy="694944"/>
          </a:xfrm>
          <a:prstGeom prst="ellipse">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56147"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3</a:t>
            </a:r>
          </a:p>
        </p:txBody>
      </p:sp>
      <p:sp>
        <p:nvSpPr>
          <p:cNvPr id="23" name="TextBox 22"/>
          <p:cNvSpPr txBox="1"/>
          <p:nvPr/>
        </p:nvSpPr>
        <p:spPr>
          <a:xfrm>
            <a:off x="5259628"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Sit WA then Case Study</a:t>
            </a:r>
          </a:p>
        </p:txBody>
      </p:sp>
      <p:cxnSp>
        <p:nvCxnSpPr>
          <p:cNvPr id="24" name="Connector 23"/>
          <p:cNvCxnSpPr/>
          <p:nvPr/>
        </p:nvCxnSpPr>
        <p:spPr>
          <a:xfrm>
            <a:off x="7093914" y="3675887"/>
            <a:ext cx="201168" cy="0"/>
          </a:xfrm>
          <a:prstGeom prst="line">
            <a:avLst/>
          </a:prstGeom>
          <a:ln w="27940">
            <a:solidFill>
              <a:srgbClr val="C2413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22514"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194560"/>
            <a:ext cx="192572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7905" y="2542032"/>
            <a:ext cx="694944" cy="694944"/>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7905"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4</a:t>
            </a:r>
          </a:p>
        </p:txBody>
      </p:sp>
      <p:sp>
        <p:nvSpPr>
          <p:cNvPr id="29" name="TextBox 28"/>
          <p:cNvSpPr txBox="1"/>
          <p:nvPr/>
        </p:nvSpPr>
        <p:spPr>
          <a:xfrm>
            <a:off x="7441386"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Submit answers on the LMS</a:t>
            </a:r>
          </a:p>
        </p:txBody>
      </p:sp>
      <p:cxnSp>
        <p:nvCxnSpPr>
          <p:cNvPr id="30" name="Connector 29"/>
          <p:cNvCxnSpPr/>
          <p:nvPr/>
        </p:nvCxnSpPr>
        <p:spPr>
          <a:xfrm>
            <a:off x="9275672" y="3675887"/>
            <a:ext cx="201168" cy="0"/>
          </a:xfrm>
          <a:prstGeom prst="line">
            <a:avLst/>
          </a:prstGeom>
          <a:ln w="27940">
            <a:solidFill>
              <a:srgbClr val="C2413B"/>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4272" y="2194560"/>
            <a:ext cx="1925726" cy="2999232"/>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194560"/>
            <a:ext cx="1925726" cy="9144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19663" y="2542032"/>
            <a:ext cx="694944" cy="694944"/>
          </a:xfrm>
          <a:prstGeom prst="ellipse">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19663" y="2542032"/>
            <a:ext cx="694944" cy="694944"/>
          </a:xfrm>
          <a:prstGeom prst="rect">
            <a:avLst/>
          </a:prstGeom>
          <a:noFill/>
        </p:spPr>
        <p:txBody>
          <a:bodyPr wrap="square" anchor="ctr" lIns="45720" rIns="45720">
            <a:spAutoFit/>
          </a:bodyPr>
          <a:lstStyle/>
          <a:p>
            <a:pPr algn="ctr">
              <a:spcAft>
                <a:spcPts val="400"/>
              </a:spcAft>
            </a:pPr>
            <a:r>
              <a:rPr sz="2300" b="1">
                <a:solidFill>
                  <a:srgbClr val="FFFFFF"/>
                </a:solidFill>
                <a:latin typeface="Arial"/>
              </a:rPr>
              <a:t>5</a:t>
            </a:r>
          </a:p>
        </p:txBody>
      </p:sp>
      <p:sp>
        <p:nvSpPr>
          <p:cNvPr id="35" name="TextBox 34"/>
          <p:cNvSpPr txBox="1"/>
          <p:nvPr/>
        </p:nvSpPr>
        <p:spPr>
          <a:xfrm>
            <a:off x="9623144" y="3502152"/>
            <a:ext cx="1687982" cy="1325880"/>
          </a:xfrm>
          <a:prstGeom prst="rect">
            <a:avLst/>
          </a:prstGeom>
          <a:noFill/>
        </p:spPr>
        <p:txBody>
          <a:bodyPr wrap="square" anchor="ctr" lIns="45720" rIns="45720">
            <a:spAutoFit/>
          </a:bodyPr>
          <a:lstStyle/>
          <a:p>
            <a:pPr algn="ctr">
              <a:spcAft>
                <a:spcPts val="400"/>
              </a:spcAft>
            </a:pPr>
            <a:r>
              <a:rPr sz="1330" b="0">
                <a:solidFill>
                  <a:srgbClr val="161B26"/>
                </a:solidFill>
                <a:latin typeface="Arial"/>
              </a:rPr>
              <a:t>Sign Assessment Summary Record</a:t>
            </a:r>
          </a:p>
        </p:txBody>
      </p:sp>
      <p:sp>
        <p:nvSpPr>
          <p:cNvPr id="36" name="TextBox 35"/>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37" name="TextBox 36"/>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155</a:t>
            </a:r>
          </a:p>
        </p:txBody>
      </p:sp>
    </p:spTree>
  </p:cSld>
  <p:clrMapOvr>
    <a:masterClrMapping/>
  </p:clrMapOvr>
  <p:transition spd="fast"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C24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789920" cy="320040"/>
          </a:xfrm>
          <a:prstGeom prst="rect">
            <a:avLst/>
          </a:prstGeom>
          <a:noFill/>
        </p:spPr>
        <p:txBody>
          <a:bodyPr wrap="square" anchor="t" lIns="45720" rIns="45720">
            <a:spAutoFit/>
          </a:bodyPr>
          <a:lstStyle/>
          <a:p>
            <a:pPr algn="l">
              <a:spcAft>
                <a:spcPts val="400"/>
              </a:spcAft>
            </a:pPr>
            <a:r>
              <a:rPr sz="1200" b="1">
                <a:solidFill>
                  <a:srgbClr val="C2413B"/>
                </a:solidFill>
                <a:latin typeface="Arial"/>
              </a:rPr>
              <a:t>TRAQOM | SSG DIGITAL ATTENDANCE</a:t>
            </a:r>
          </a:p>
        </p:txBody>
      </p:sp>
      <p:sp>
        <p:nvSpPr>
          <p:cNvPr id="5" name="TextBox 4"/>
          <p:cNvSpPr txBox="1"/>
          <p:nvPr/>
        </p:nvSpPr>
        <p:spPr>
          <a:xfrm>
            <a:off x="749808" y="749808"/>
            <a:ext cx="10835640" cy="749808"/>
          </a:xfrm>
          <a:prstGeom prst="rect">
            <a:avLst/>
          </a:prstGeom>
          <a:noFill/>
        </p:spPr>
        <p:txBody>
          <a:bodyPr wrap="square" anchor="ctr" lIns="45720" rIns="45720">
            <a:spAutoFit/>
          </a:bodyPr>
          <a:lstStyle/>
          <a:p>
            <a:pPr algn="l">
              <a:spcAft>
                <a:spcPts val="400"/>
              </a:spcAft>
            </a:pPr>
            <a:r>
              <a:rPr sz="2800" b="1">
                <a:solidFill>
                  <a:srgbClr val="161B26"/>
                </a:solidFill>
                <a:latin typeface="Arial"/>
              </a:rPr>
              <a:t>Digital Attendance (Mandatory)</a:t>
            </a:r>
          </a:p>
        </p:txBody>
      </p:sp>
      <p:sp>
        <p:nvSpPr>
          <p:cNvPr id="6" name="Rectangle 5"/>
          <p:cNvSpPr/>
          <p:nvPr/>
        </p:nvSpPr>
        <p:spPr>
          <a:xfrm>
            <a:off x="749808" y="1545336"/>
            <a:ext cx="1074420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17395"/>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17395"/>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00784" y="1828800"/>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Complete the Assessment digital attendance using the SSG QR code.</a:t>
            </a:r>
          </a:p>
        </p:txBody>
      </p:sp>
      <p:sp>
        <p:nvSpPr>
          <p:cNvPr id="12" name="Rounded Rectangle 11"/>
          <p:cNvSpPr/>
          <p:nvPr/>
        </p:nvSpPr>
        <p:spPr>
          <a:xfrm>
            <a:off x="777240" y="2910078"/>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10078"/>
            <a:ext cx="82296" cy="96240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44393"/>
            <a:ext cx="493776" cy="493776"/>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44393"/>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00784" y="2955798"/>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Confirm your submission before starting the assessment.</a:t>
            </a:r>
          </a:p>
        </p:txBody>
      </p:sp>
      <p:sp>
        <p:nvSpPr>
          <p:cNvPr id="17" name="Rounded Rectangle 16"/>
          <p:cNvSpPr/>
          <p:nvPr/>
        </p:nvSpPr>
        <p:spPr>
          <a:xfrm>
            <a:off x="777240" y="4037076"/>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1391"/>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1391"/>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00784" y="4082796"/>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Attendance evidence is separate from assessment submission.</a:t>
            </a:r>
          </a:p>
        </p:txBody>
      </p:sp>
      <p:sp>
        <p:nvSpPr>
          <p:cNvPr id="22" name="Rounded Rectangle 21"/>
          <p:cNvSpPr/>
          <p:nvPr/>
        </p:nvSpPr>
        <p:spPr>
          <a:xfrm>
            <a:off x="777240" y="5164074"/>
            <a:ext cx="10652760" cy="962406"/>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64074"/>
            <a:ext cx="82296" cy="96240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 y="5398389"/>
            <a:ext cx="493776" cy="49377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 y="5398389"/>
            <a:ext cx="493776" cy="493776"/>
          </a:xfrm>
          <a:prstGeom prst="rect">
            <a:avLst/>
          </a:prstGeom>
          <a:noFill/>
        </p:spPr>
        <p:txBody>
          <a:bodyPr wrap="square" anchor="ctr" lIns="45720" rIns="45720">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00784" y="5209794"/>
            <a:ext cx="9372600" cy="870966"/>
          </a:xfrm>
          <a:prstGeom prst="rect">
            <a:avLst/>
          </a:prstGeom>
          <a:noFill/>
        </p:spPr>
        <p:txBody>
          <a:bodyPr wrap="square" anchor="ctr" lIns="45720" rIns="45720">
            <a:spAutoFit/>
          </a:bodyPr>
          <a:lstStyle/>
          <a:p>
            <a:pPr algn="l">
              <a:spcAft>
                <a:spcPts val="400"/>
              </a:spcAft>
            </a:pPr>
            <a:r>
              <a:rPr sz="1500" b="0">
                <a:solidFill>
                  <a:srgbClr val="161B26"/>
                </a:solidFill>
                <a:latin typeface="Arial"/>
              </a:rPr>
              <a:t>Ask the trainer immediately if confirmation does not appear.</a:t>
            </a:r>
          </a:p>
        </p:txBody>
      </p:sp>
      <p:sp>
        <p:nvSpPr>
          <p:cNvPr id="27" name="TextBox 2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28" name="TextBox 2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156</a:t>
            </a:r>
          </a:p>
        </p:txBody>
      </p:sp>
    </p:spTree>
  </p:cSld>
  <p:clrMapOvr>
    <a:masterClrMapping/>
  </p:clrMapOvr>
  <p:transition spd="fast"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68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828800"/>
            <a:ext cx="10241280" cy="365760"/>
          </a:xfrm>
          <a:prstGeom prst="rect">
            <a:avLst/>
          </a:prstGeom>
          <a:noFill/>
        </p:spPr>
        <p:txBody>
          <a:bodyPr wrap="square" anchor="t" lIns="45720" rIns="45720">
            <a:spAutoFit/>
          </a:bodyPr>
          <a:lstStyle/>
          <a:p>
            <a:pPr algn="l">
              <a:spcAft>
                <a:spcPts val="400"/>
              </a:spcAft>
            </a:pPr>
            <a:r>
              <a:rPr sz="1400" b="1">
                <a:solidFill>
                  <a:srgbClr val="16854A"/>
                </a:solidFill>
                <a:latin typeface="Arial"/>
              </a:rPr>
              <a:t>THANK YOU</a:t>
            </a:r>
          </a:p>
        </p:txBody>
      </p:sp>
      <p:sp>
        <p:nvSpPr>
          <p:cNvPr id="5" name="TextBox 4"/>
          <p:cNvSpPr txBox="1"/>
          <p:nvPr/>
        </p:nvSpPr>
        <p:spPr>
          <a:xfrm>
            <a:off x="960120" y="2359152"/>
            <a:ext cx="10241280" cy="1874519"/>
          </a:xfrm>
          <a:prstGeom prst="rect">
            <a:avLst/>
          </a:prstGeom>
          <a:noFill/>
        </p:spPr>
        <p:txBody>
          <a:bodyPr wrap="square" anchor="ctr" lIns="45720" rIns="45720">
            <a:spAutoFit/>
          </a:bodyPr>
          <a:lstStyle/>
          <a:p>
            <a:pPr algn="l">
              <a:spcAft>
                <a:spcPts val="400"/>
              </a:spcAft>
            </a:pPr>
            <a:r>
              <a:rPr sz="3700" b="1">
                <a:solidFill>
                  <a:srgbClr val="161B26"/>
                </a:solidFill>
                <a:latin typeface="Arial"/>
              </a:rPr>
              <a:t>Make environmental performance visible.</a:t>
            </a:r>
          </a:p>
        </p:txBody>
      </p:sp>
      <p:sp>
        <p:nvSpPr>
          <p:cNvPr id="6" name="TextBox 5"/>
          <p:cNvSpPr txBox="1"/>
          <p:nvPr/>
        </p:nvSpPr>
        <p:spPr>
          <a:xfrm>
            <a:off x="969264" y="4498848"/>
            <a:ext cx="10149840" cy="914400"/>
          </a:xfrm>
          <a:prstGeom prst="rect">
            <a:avLst/>
          </a:prstGeom>
          <a:noFill/>
        </p:spPr>
        <p:txBody>
          <a:bodyPr wrap="square" anchor="t" lIns="45720" rIns="45720">
            <a:spAutoFit/>
          </a:bodyPr>
          <a:lstStyle/>
          <a:p>
            <a:pPr algn="l">
              <a:spcAft>
                <a:spcPts val="400"/>
              </a:spcAft>
            </a:pPr>
            <a:r>
              <a:rPr sz="1800" b="0">
                <a:solidFill>
                  <a:srgbClr val="5B6372"/>
                </a:solidFill>
                <a:latin typeface="Arial"/>
              </a:rPr>
              <a:t>Use evidence, ownership and continual improvement to turn commitments into controlled, measurable results.</a:t>
            </a:r>
          </a:p>
        </p:txBody>
      </p:sp>
      <p:sp>
        <p:nvSpPr>
          <p:cNvPr id="7" name="TextBox 6"/>
          <p:cNvSpPr txBox="1"/>
          <p:nvPr/>
        </p:nvSpPr>
        <p:spPr>
          <a:xfrm>
            <a:off x="365760" y="6437376"/>
            <a:ext cx="6583680" cy="256032"/>
          </a:xfrm>
          <a:prstGeom prst="rect">
            <a:avLst/>
          </a:prstGeom>
          <a:noFill/>
        </p:spPr>
        <p:txBody>
          <a:bodyPr wrap="square" anchor="t" lIns="45720" rIns="45720">
            <a:spAutoFit/>
          </a:bodyPr>
          <a:lstStyle/>
          <a:p>
            <a:pPr algn="l">
              <a:spcAft>
                <a:spcPts val="400"/>
              </a:spcAft>
            </a:pPr>
            <a:r>
              <a:rPr sz="850" b="0">
                <a:solidFill>
                  <a:srgbClr val="5B6372"/>
                </a:solidFill>
                <a:latin typeface="Arial"/>
              </a:rPr>
              <a:t>Fundamentals of ISO 14001 Environmental Management System (EMS)  |  TGS-2023037592</a:t>
            </a:r>
          </a:p>
        </p:txBody>
      </p:sp>
      <p:sp>
        <p:nvSpPr>
          <p:cNvPr id="8" name="TextBox 7"/>
          <p:cNvSpPr txBox="1"/>
          <p:nvPr/>
        </p:nvSpPr>
        <p:spPr>
          <a:xfrm>
            <a:off x="4389120" y="6437376"/>
            <a:ext cx="3657600" cy="256032"/>
          </a:xfrm>
          <a:prstGeom prst="rect">
            <a:avLst/>
          </a:prstGeom>
          <a:noFill/>
        </p:spPr>
        <p:txBody>
          <a:bodyPr wrap="square" anchor="t" lIns="45720" rIns="45720">
            <a:spAutoFit/>
          </a:bodyPr>
          <a:lstStyle/>
          <a:p>
            <a:pPr algn="ctr">
              <a:spcAft>
                <a:spcPts val="400"/>
              </a:spcAft>
            </a:pPr>
            <a:r>
              <a:rPr sz="850" b="0">
                <a:solidFill>
                  <a:srgbClr val="5B6372"/>
                </a:solidFill>
                <a:latin typeface="Arial"/>
              </a:rPr>
              <a:t>© 2026 Tertiary Infotech Academy Pte Ltd</a:t>
            </a:r>
          </a:p>
        </p:txBody>
      </p:sp>
      <p:sp>
        <p:nvSpPr>
          <p:cNvPr id="9" name="TextBox 8"/>
          <p:cNvSpPr txBox="1"/>
          <p:nvPr/>
        </p:nvSpPr>
        <p:spPr>
          <a:xfrm>
            <a:off x="11292840" y="6437376"/>
            <a:ext cx="502920" cy="256032"/>
          </a:xfrm>
          <a:prstGeom prst="rect">
            <a:avLst/>
          </a:prstGeom>
          <a:noFill/>
        </p:spPr>
        <p:txBody>
          <a:bodyPr wrap="square" anchor="t" lIns="45720" rIns="45720">
            <a:spAutoFit/>
          </a:bodyPr>
          <a:lstStyle/>
          <a:p>
            <a:pPr algn="r">
              <a:spcAft>
                <a:spcPts val="400"/>
              </a:spcAft>
            </a:pPr>
            <a:r>
              <a:rPr sz="850" b="0">
                <a:solidFill>
                  <a:srgbClr val="5B6372"/>
                </a:solidFill>
                <a:latin typeface="Arial"/>
              </a:rPr>
              <a:t>157</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